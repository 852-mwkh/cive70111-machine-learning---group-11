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11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61336E-207F-45F0-9C57-169B66968ED6}">
  <a:tblStyle styleId="{2D61336E-207F-45F0-9C57-169B66968E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A1EDC03-FB68-49A9-9494-8201C51473B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ong, King Hung Michael" userId="69d968b6-5bbf-4d40-86b9-18aae09f13de" providerId="ADAL" clId="{12CF18AD-75AA-4E60-BF5C-A82D996D9EB1}"/>
    <pc:docChg chg="custSel delSld modSld">
      <pc:chgData name="Wong, King Hung Michael" userId="69d968b6-5bbf-4d40-86b9-18aae09f13de" providerId="ADAL" clId="{12CF18AD-75AA-4E60-BF5C-A82D996D9EB1}" dt="2025-12-12T03:54:06.488" v="9" actId="47"/>
      <pc:docMkLst>
        <pc:docMk/>
      </pc:docMkLst>
      <pc:sldChg chg="addSp delSp modSp mod">
        <pc:chgData name="Wong, King Hung Michael" userId="69d968b6-5bbf-4d40-86b9-18aae09f13de" providerId="ADAL" clId="{12CF18AD-75AA-4E60-BF5C-A82D996D9EB1}" dt="2025-12-12T03:40:31.243" v="4" actId="478"/>
        <pc:sldMkLst>
          <pc:docMk/>
          <pc:sldMk cId="0" sldId="257"/>
        </pc:sldMkLst>
        <pc:spChg chg="add del mod">
          <ac:chgData name="Wong, King Hung Michael" userId="69d968b6-5bbf-4d40-86b9-18aae09f13de" providerId="ADAL" clId="{12CF18AD-75AA-4E60-BF5C-A82D996D9EB1}" dt="2025-12-12T03:40:31.243" v="4" actId="478"/>
          <ac:spMkLst>
            <pc:docMk/>
            <pc:sldMk cId="0" sldId="257"/>
            <ac:spMk id="3" creationId="{EAAE2A77-3199-BF73-3CE9-808F2C7D6578}"/>
          </ac:spMkLst>
        </pc:spChg>
        <pc:spChg chg="del">
          <ac:chgData name="Wong, King Hung Michael" userId="69d968b6-5bbf-4d40-86b9-18aae09f13de" providerId="ADAL" clId="{12CF18AD-75AA-4E60-BF5C-A82D996D9EB1}" dt="2025-12-12T03:40:14.947" v="2" actId="478"/>
          <ac:spMkLst>
            <pc:docMk/>
            <pc:sldMk cId="0" sldId="257"/>
            <ac:spMk id="568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69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70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71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72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73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9.490" v="1" actId="478"/>
          <ac:spMkLst>
            <pc:docMk/>
            <pc:sldMk cId="0" sldId="257"/>
            <ac:spMk id="574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75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78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80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81" creationId="{00000000-0000-0000-0000-000000000000}"/>
          </ac:spMkLst>
        </pc:spChg>
        <pc:spChg chg="del">
          <ac:chgData name="Wong, King Hung Michael" userId="69d968b6-5bbf-4d40-86b9-18aae09f13de" providerId="ADAL" clId="{12CF18AD-75AA-4E60-BF5C-A82D996D9EB1}" dt="2025-12-12T03:40:06.542" v="0" actId="478"/>
          <ac:spMkLst>
            <pc:docMk/>
            <pc:sldMk cId="0" sldId="257"/>
            <ac:spMk id="582" creationId="{00000000-0000-0000-0000-000000000000}"/>
          </ac:spMkLst>
        </pc:spChg>
      </pc:sldChg>
      <pc:sldChg chg="modSp mod">
        <pc:chgData name="Wong, King Hung Michael" userId="69d968b6-5bbf-4d40-86b9-18aae09f13de" providerId="ADAL" clId="{12CF18AD-75AA-4E60-BF5C-A82D996D9EB1}" dt="2025-12-12T03:45:52.690" v="6" actId="1076"/>
        <pc:sldMkLst>
          <pc:docMk/>
          <pc:sldMk cId="0" sldId="260"/>
        </pc:sldMkLst>
        <pc:spChg chg="mod">
          <ac:chgData name="Wong, King Hung Michael" userId="69d968b6-5bbf-4d40-86b9-18aae09f13de" providerId="ADAL" clId="{12CF18AD-75AA-4E60-BF5C-A82D996D9EB1}" dt="2025-12-12T03:45:52.690" v="6" actId="1076"/>
          <ac:spMkLst>
            <pc:docMk/>
            <pc:sldMk cId="0" sldId="260"/>
            <ac:spMk id="632" creationId="{00000000-0000-0000-0000-000000000000}"/>
          </ac:spMkLst>
        </pc:spChg>
      </pc:sldChg>
      <pc:sldChg chg="modSp mod">
        <pc:chgData name="Wong, King Hung Michael" userId="69d968b6-5bbf-4d40-86b9-18aae09f13de" providerId="ADAL" clId="{12CF18AD-75AA-4E60-BF5C-A82D996D9EB1}" dt="2025-12-12T03:46:27.294" v="8" actId="14100"/>
        <pc:sldMkLst>
          <pc:docMk/>
          <pc:sldMk cId="0" sldId="262"/>
        </pc:sldMkLst>
        <pc:spChg chg="mod">
          <ac:chgData name="Wong, King Hung Michael" userId="69d968b6-5bbf-4d40-86b9-18aae09f13de" providerId="ADAL" clId="{12CF18AD-75AA-4E60-BF5C-A82D996D9EB1}" dt="2025-12-12T03:46:20.722" v="7" actId="14100"/>
          <ac:spMkLst>
            <pc:docMk/>
            <pc:sldMk cId="0" sldId="262"/>
            <ac:spMk id="665" creationId="{00000000-0000-0000-0000-000000000000}"/>
          </ac:spMkLst>
        </pc:spChg>
        <pc:cxnChg chg="mod">
          <ac:chgData name="Wong, King Hung Michael" userId="69d968b6-5bbf-4d40-86b9-18aae09f13de" providerId="ADAL" clId="{12CF18AD-75AA-4E60-BF5C-A82D996D9EB1}" dt="2025-12-12T03:46:27.294" v="8" actId="14100"/>
          <ac:cxnSpMkLst>
            <pc:docMk/>
            <pc:sldMk cId="0" sldId="262"/>
            <ac:cxnSpMk id="687" creationId="{00000000-0000-0000-0000-000000000000}"/>
          </ac:cxnSpMkLst>
        </pc:cxnChg>
      </pc:sldChg>
      <pc:sldChg chg="del">
        <pc:chgData name="Wong, King Hung Michael" userId="69d968b6-5bbf-4d40-86b9-18aae09f13de" providerId="ADAL" clId="{12CF18AD-75AA-4E60-BF5C-A82D996D9EB1}" dt="2025-12-12T03:54:06.488" v="9" actId="47"/>
        <pc:sldMkLst>
          <pc:docMk/>
          <pc:sldMk cId="0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af489deca4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4" name="Google Shape;564;g3af489deca4_5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g3af489deca4_5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af489deca4_5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3af489deca4_5_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g3af489deca4_5_7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af489deca4_5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af489deca4_5_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g3af489deca4_5_8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af489deca4_5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3af489deca4_5_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g3af489deca4_5_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af489deca4_5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3af489deca4_5_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g3af489deca4_5_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af489deca4_5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af489deca4_5_1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g3af489deca4_5_10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3af63fc80f2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3af63fc80f2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g3af63fc80f2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af63fc80f2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g3af63fc80f2_0_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g3af63fc80f2_0_6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f63fc80f2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f63fc80f2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g3af63fc80f2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3af63fc80f2_0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3af63fc80f2_0_2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g3af63fc80f2_0_2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af489deca4_5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3af489deca4_5_1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g3af489deca4_5_1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Smoke">
  <p:cSld name="Title Slide Smoke">
    <p:bg>
      <p:bgPr>
        <a:solidFill>
          <a:schemeClr val="lt2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2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8" name="Google Shape;18;p2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" name="Google Shape;26;p2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8" name="Google Shape;28;p2"/>
          <p:cNvSpPr txBox="1">
            <a:spLocks noGrp="1"/>
          </p:cNvSpPr>
          <p:nvPr>
            <p:ph type="body" idx="2"/>
          </p:nvPr>
        </p:nvSpPr>
        <p:spPr>
          <a:xfrm>
            <a:off x="330271" y="5789336"/>
            <a:ext cx="5579198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marL="1371600" lvl="2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11540763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" name="Google Shape;35;p3"/>
          <p:cNvSpPr txBox="1">
            <a:spLocks noGrp="1"/>
          </p:cNvSpPr>
          <p:nvPr>
            <p:ph type="subTitle" idx="2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ontent">
  <p:cSld name="Title, Text and Conte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ubTitle" idx="1"/>
          </p:nvPr>
        </p:nvSpPr>
        <p:spPr>
          <a:xfrm>
            <a:off x="325800" y="620196"/>
            <a:ext cx="558367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2"/>
          </p:nvPr>
        </p:nvSpPr>
        <p:spPr>
          <a:xfrm>
            <a:off x="325800" y="1394619"/>
            <a:ext cx="558367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4"/>
          <p:cNvSpPr txBox="1">
            <a:spLocks noGrp="1"/>
          </p:cNvSpPr>
          <p:nvPr>
            <p:ph type="body" idx="3"/>
          </p:nvPr>
        </p:nvSpPr>
        <p:spPr>
          <a:xfrm>
            <a:off x="6290831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5583238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body" idx="2"/>
          </p:nvPr>
        </p:nvSpPr>
        <p:spPr>
          <a:xfrm>
            <a:off x="6283325" y="1394619"/>
            <a:ext cx="5583238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subTitle" idx="3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genda Blue">
  <p:cSld name="Agenda Blue">
    <p:bg>
      <p:bgPr>
        <a:solidFill>
          <a:schemeClr val="accent1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Arial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6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7" name="Google Shape;57;p6"/>
          <p:cNvSpPr txBox="1">
            <a:spLocks noGrp="1"/>
          </p:cNvSpPr>
          <p:nvPr>
            <p:ph type="body" idx="1"/>
          </p:nvPr>
        </p:nvSpPr>
        <p:spPr>
          <a:xfrm>
            <a:off x="6096001" y="327819"/>
            <a:ext cx="5777508" cy="3101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lt1"/>
                </a:solidFill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6"/>
          <p:cNvSpPr txBox="1"/>
          <p:nvPr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Imperial College London</a:t>
            </a:r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Smoke">
  <p:cSld name="Title and Content Smoke">
    <p:bg>
      <p:bgPr>
        <a:solidFill>
          <a:schemeClr val="lt2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7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11540763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5" name="Google Shape;65;p7"/>
          <p:cNvSpPr txBox="1">
            <a:spLocks noGrp="1"/>
          </p:cNvSpPr>
          <p:nvPr>
            <p:ph type="subTitle" idx="2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Text Blue">
  <p:cSld name="Large Text Blue">
    <p:bg>
      <p:bgPr>
        <a:solidFill>
          <a:schemeClr val="accent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"/>
          <p:cNvSpPr txBox="1"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8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1" name="Google Shape;71;p8"/>
          <p:cNvSpPr txBox="1"/>
          <p:nvPr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Imperial College London</a:t>
            </a:r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Smoke">
  <p:cSld name="Section Header Smoke">
    <p:bg>
      <p:bgPr>
        <a:solidFill>
          <a:schemeClr val="lt2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750"/>
              <a:buNone/>
              <a:defRPr sz="475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 Slide Blue">
  <p:cSld name="Closing Slide Blue">
    <p:bg>
      <p:bgPr>
        <a:solidFill>
          <a:schemeClr val="accent1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 txBox="1"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Arial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body" idx="1"/>
          </p:nvPr>
        </p:nvSpPr>
        <p:spPr>
          <a:xfrm>
            <a:off x="330271" y="5878288"/>
            <a:ext cx="5606484" cy="65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81" name="Google Shape;81;p10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82" name="Google Shape;82;p10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10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10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0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0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0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10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10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bg>
      <p:bgPr>
        <a:solidFill>
          <a:schemeClr val="lt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11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92" name="Google Shape;92;p11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11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11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11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11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11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1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body" idx="2"/>
          </p:nvPr>
        </p:nvSpPr>
        <p:spPr>
          <a:xfrm>
            <a:off x="330271" y="5789336"/>
            <a:ext cx="5579198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marL="1371600" lvl="2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Khaki">
  <p:cSld name="Title Slide Khaki">
    <p:bg>
      <p:bgPr>
        <a:solidFill>
          <a:srgbClr val="FBF7DC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12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05" name="Google Shape;105;p12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12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12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12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12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2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2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2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15" name="Google Shape;115;p12"/>
          <p:cNvSpPr txBox="1">
            <a:spLocks noGrp="1"/>
          </p:cNvSpPr>
          <p:nvPr>
            <p:ph type="body" idx="2"/>
          </p:nvPr>
        </p:nvSpPr>
        <p:spPr>
          <a:xfrm>
            <a:off x="330271" y="5789336"/>
            <a:ext cx="5579198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marL="1371600" lvl="2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Blue">
  <p:cSld name="Title Slide Blue">
    <p:bg>
      <p:bgPr>
        <a:solidFill>
          <a:schemeClr val="accent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Arial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body" idx="2"/>
          </p:nvPr>
        </p:nvSpPr>
        <p:spPr>
          <a:xfrm>
            <a:off x="330271" y="5789336"/>
            <a:ext cx="5579198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marL="1371600" lvl="2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20" name="Google Shape;120;p13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21" name="Google Shape;121;p13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13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13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13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13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Image">
  <p:cSld name="Title Slide Image">
    <p:bg>
      <p:bgPr>
        <a:solidFill>
          <a:srgbClr val="D8D8D8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oogle Shape;130;p14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31" name="Google Shape;131;p14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4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4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4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4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4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4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9" name="Google Shape;139;p14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Arial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14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2"/>
          </p:nvPr>
        </p:nvSpPr>
        <p:spPr>
          <a:xfrm>
            <a:off x="330271" y="5789336"/>
            <a:ext cx="5579198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marL="1371600" lvl="2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683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200"/>
              <a:buChar char="•"/>
              <a:defRPr sz="2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"/>
          <p:cNvSpPr txBox="1"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5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5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5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6096001" y="327025"/>
            <a:ext cx="5777508" cy="3101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Smoke">
  <p:cSld name="Agenda Smoke">
    <p:bg>
      <p:bgPr>
        <a:solidFill>
          <a:schemeClr val="lt2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"/>
          <p:cNvSpPr txBox="1"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16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16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body" idx="1"/>
          </p:nvPr>
        </p:nvSpPr>
        <p:spPr>
          <a:xfrm>
            <a:off x="6096001" y="327025"/>
            <a:ext cx="5777508" cy="3101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Khaki">
  <p:cSld name="Agenda Khaki">
    <p:bg>
      <p:bgPr>
        <a:solidFill>
          <a:srgbClr val="FBF7DC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17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17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1"/>
          </p:nvPr>
        </p:nvSpPr>
        <p:spPr>
          <a:xfrm>
            <a:off x="6096001" y="327025"/>
            <a:ext cx="5777508" cy="3101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Khaki">
  <p:cSld name="Title and Content Khaki">
    <p:bg>
      <p:bgPr>
        <a:solidFill>
          <a:srgbClr val="FBF7DC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11540763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8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subTitle" idx="2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Smoke">
  <p:cSld name="Two Content Smoke">
    <p:bg>
      <p:bgPr>
        <a:solidFill>
          <a:schemeClr val="lt2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5583238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2"/>
          </p:nvPr>
        </p:nvSpPr>
        <p:spPr>
          <a:xfrm>
            <a:off x="6283325" y="1394619"/>
            <a:ext cx="5583238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9"/>
          <p:cNvSpPr txBox="1">
            <a:spLocks noGrp="1"/>
          </p:cNvSpPr>
          <p:nvPr>
            <p:ph type="subTitle" idx="3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Khaki">
  <p:cSld name="Two Content Khaki">
    <p:bg>
      <p:bgPr>
        <a:solidFill>
          <a:srgbClr val="FBF7DC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5583238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body" idx="2"/>
          </p:nvPr>
        </p:nvSpPr>
        <p:spPr>
          <a:xfrm>
            <a:off x="6283325" y="1394619"/>
            <a:ext cx="5583238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3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">
  <p:cSld name="Three Content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21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1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8" name="Google Shape;188;p21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2"/>
          </p:nvPr>
        </p:nvSpPr>
        <p:spPr>
          <a:xfrm>
            <a:off x="4296397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p21"/>
          <p:cNvSpPr txBox="1">
            <a:spLocks noGrp="1"/>
          </p:cNvSpPr>
          <p:nvPr>
            <p:ph type="body" idx="3"/>
          </p:nvPr>
        </p:nvSpPr>
        <p:spPr>
          <a:xfrm>
            <a:off x="8266562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1" name="Google Shape;191;p21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 Smoke">
  <p:cSld name="Three Content Smoke">
    <p:bg>
      <p:bgPr>
        <a:solidFill>
          <a:schemeClr val="lt2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2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7" name="Google Shape;197;p22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8" name="Google Shape;198;p22"/>
          <p:cNvSpPr txBox="1">
            <a:spLocks noGrp="1"/>
          </p:cNvSpPr>
          <p:nvPr>
            <p:ph type="body" idx="2"/>
          </p:nvPr>
        </p:nvSpPr>
        <p:spPr>
          <a:xfrm>
            <a:off x="4296397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body" idx="3"/>
          </p:nvPr>
        </p:nvSpPr>
        <p:spPr>
          <a:xfrm>
            <a:off x="8266562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0" name="Google Shape;200;p22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 Khaki">
  <p:cSld name="Three Content Khaki">
    <p:bg>
      <p:bgPr>
        <a:solidFill>
          <a:srgbClr val="FBF7DC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3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3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23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2"/>
          </p:nvPr>
        </p:nvSpPr>
        <p:spPr>
          <a:xfrm>
            <a:off x="4296397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3"/>
          </p:nvPr>
        </p:nvSpPr>
        <p:spPr>
          <a:xfrm>
            <a:off x="8266562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9" name="Google Shape;209;p23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mages and Captions">
  <p:cSld name="Three Images and Captions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4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24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4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body" idx="1"/>
          </p:nvPr>
        </p:nvSpPr>
        <p:spPr>
          <a:xfrm>
            <a:off x="318493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24"/>
          <p:cNvSpPr txBox="1">
            <a:spLocks noGrp="1"/>
          </p:cNvSpPr>
          <p:nvPr>
            <p:ph type="body" idx="2"/>
          </p:nvPr>
        </p:nvSpPr>
        <p:spPr>
          <a:xfrm>
            <a:off x="4276876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7" name="Google Shape;217;p24"/>
          <p:cNvSpPr txBox="1">
            <a:spLocks noGrp="1"/>
          </p:cNvSpPr>
          <p:nvPr>
            <p:ph type="body" idx="3"/>
          </p:nvPr>
        </p:nvSpPr>
        <p:spPr>
          <a:xfrm>
            <a:off x="8235258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8" name="Google Shape;218;p24"/>
          <p:cNvSpPr>
            <a:spLocks noGrp="1"/>
          </p:cNvSpPr>
          <p:nvPr>
            <p:ph type="pic" idx="4"/>
          </p:nvPr>
        </p:nvSpPr>
        <p:spPr>
          <a:xfrm>
            <a:off x="318490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9" name="Google Shape;219;p24"/>
          <p:cNvSpPr>
            <a:spLocks noGrp="1"/>
          </p:cNvSpPr>
          <p:nvPr>
            <p:ph type="pic" idx="5"/>
          </p:nvPr>
        </p:nvSpPr>
        <p:spPr>
          <a:xfrm>
            <a:off x="4276876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24"/>
          <p:cNvSpPr>
            <a:spLocks noGrp="1"/>
          </p:cNvSpPr>
          <p:nvPr>
            <p:ph type="pic" idx="6"/>
          </p:nvPr>
        </p:nvSpPr>
        <p:spPr>
          <a:xfrm>
            <a:off x="8235261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1" name="Google Shape;221;p24"/>
          <p:cNvSpPr txBox="1">
            <a:spLocks noGrp="1"/>
          </p:cNvSpPr>
          <p:nvPr>
            <p:ph type="subTitle" idx="7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mages and Captions Smoke">
  <p:cSld name="Three Images and Captions Smoke">
    <p:bg>
      <p:bgPr>
        <a:solidFill>
          <a:schemeClr val="lt2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5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5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7" name="Google Shape;227;p25"/>
          <p:cNvSpPr txBox="1">
            <a:spLocks noGrp="1"/>
          </p:cNvSpPr>
          <p:nvPr>
            <p:ph type="body" idx="1"/>
          </p:nvPr>
        </p:nvSpPr>
        <p:spPr>
          <a:xfrm>
            <a:off x="318493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25"/>
          <p:cNvSpPr txBox="1">
            <a:spLocks noGrp="1"/>
          </p:cNvSpPr>
          <p:nvPr>
            <p:ph type="body" idx="2"/>
          </p:nvPr>
        </p:nvSpPr>
        <p:spPr>
          <a:xfrm>
            <a:off x="4276876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5"/>
          <p:cNvSpPr txBox="1">
            <a:spLocks noGrp="1"/>
          </p:cNvSpPr>
          <p:nvPr>
            <p:ph type="body" idx="3"/>
          </p:nvPr>
        </p:nvSpPr>
        <p:spPr>
          <a:xfrm>
            <a:off x="8235258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25"/>
          <p:cNvSpPr>
            <a:spLocks noGrp="1"/>
          </p:cNvSpPr>
          <p:nvPr>
            <p:ph type="pic" idx="4"/>
          </p:nvPr>
        </p:nvSpPr>
        <p:spPr>
          <a:xfrm>
            <a:off x="318490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31" name="Google Shape;231;p25"/>
          <p:cNvSpPr>
            <a:spLocks noGrp="1"/>
          </p:cNvSpPr>
          <p:nvPr>
            <p:ph type="pic" idx="5"/>
          </p:nvPr>
        </p:nvSpPr>
        <p:spPr>
          <a:xfrm>
            <a:off x="4276876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32" name="Google Shape;232;p25"/>
          <p:cNvSpPr>
            <a:spLocks noGrp="1"/>
          </p:cNvSpPr>
          <p:nvPr>
            <p:ph type="pic" idx="6"/>
          </p:nvPr>
        </p:nvSpPr>
        <p:spPr>
          <a:xfrm>
            <a:off x="8235261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33" name="Google Shape;233;p25"/>
          <p:cNvSpPr txBox="1">
            <a:spLocks noGrp="1"/>
          </p:cNvSpPr>
          <p:nvPr>
            <p:ph type="subTitle" idx="7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mages and Captions Khaki">
  <p:cSld name="Three Images and Captions Khaki">
    <p:bg>
      <p:bgPr>
        <a:solidFill>
          <a:srgbClr val="FBF7DC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6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26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26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26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9" name="Google Shape;239;p26"/>
          <p:cNvSpPr txBox="1">
            <a:spLocks noGrp="1"/>
          </p:cNvSpPr>
          <p:nvPr>
            <p:ph type="body" idx="1"/>
          </p:nvPr>
        </p:nvSpPr>
        <p:spPr>
          <a:xfrm>
            <a:off x="318493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26"/>
          <p:cNvSpPr txBox="1">
            <a:spLocks noGrp="1"/>
          </p:cNvSpPr>
          <p:nvPr>
            <p:ph type="body" idx="2"/>
          </p:nvPr>
        </p:nvSpPr>
        <p:spPr>
          <a:xfrm>
            <a:off x="4276876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1" name="Google Shape;241;p26"/>
          <p:cNvSpPr txBox="1">
            <a:spLocks noGrp="1"/>
          </p:cNvSpPr>
          <p:nvPr>
            <p:ph type="body" idx="3"/>
          </p:nvPr>
        </p:nvSpPr>
        <p:spPr>
          <a:xfrm>
            <a:off x="8235258" y="3429000"/>
            <a:ext cx="3600000" cy="28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2" name="Google Shape;242;p26"/>
          <p:cNvSpPr>
            <a:spLocks noGrp="1"/>
          </p:cNvSpPr>
          <p:nvPr>
            <p:ph type="pic" idx="4"/>
          </p:nvPr>
        </p:nvSpPr>
        <p:spPr>
          <a:xfrm>
            <a:off x="318490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43" name="Google Shape;243;p26"/>
          <p:cNvSpPr>
            <a:spLocks noGrp="1"/>
          </p:cNvSpPr>
          <p:nvPr>
            <p:ph type="pic" idx="5"/>
          </p:nvPr>
        </p:nvSpPr>
        <p:spPr>
          <a:xfrm>
            <a:off x="4276876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44" name="Google Shape;244;p26"/>
          <p:cNvSpPr>
            <a:spLocks noGrp="1"/>
          </p:cNvSpPr>
          <p:nvPr>
            <p:ph type="pic" idx="6"/>
          </p:nvPr>
        </p:nvSpPr>
        <p:spPr>
          <a:xfrm>
            <a:off x="8235261" y="1394619"/>
            <a:ext cx="3600000" cy="183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45" name="Google Shape;245;p26"/>
          <p:cNvSpPr txBox="1">
            <a:spLocks noGrp="1"/>
          </p:cNvSpPr>
          <p:nvPr>
            <p:ph type="subTitle" idx="7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Text">
  <p:cSld name="Large Text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7"/>
          <p:cNvSpPr txBox="1"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7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27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27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Text Smoke">
  <p:cSld name="Large Text Smoke">
    <p:bg>
      <p:bgPr>
        <a:solidFill>
          <a:schemeClr val="lt2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8"/>
          <p:cNvSpPr txBox="1"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28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Text Khaki">
  <p:cSld name="Large Text Khaki">
    <p:bg>
      <p:bgPr>
        <a:solidFill>
          <a:srgbClr val="FBF7DC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9"/>
          <p:cNvSpPr txBox="1"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29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29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0" name="Google Shape;260;p2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bg>
      <p:bgPr>
        <a:solidFill>
          <a:schemeClr val="lt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0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0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30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5" name="Google Shape;265;p30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6" name="Google Shape;266;p30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750"/>
              <a:buNone/>
              <a:defRPr sz="475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Khaki">
  <p:cSld name="Section Header Khaki">
    <p:bg>
      <p:bgPr>
        <a:solidFill>
          <a:srgbClr val="FBF7DC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1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31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1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1" name="Google Shape;271;p31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31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750"/>
              <a:buNone/>
              <a:defRPr sz="475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Blue">
  <p:cSld name="Section Header Blue">
    <p:bg>
      <p:bgPr>
        <a:solidFill>
          <a:schemeClr val="accent1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2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85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7" name="Google Shape;277;p32"/>
          <p:cNvSpPr txBox="1"/>
          <p:nvPr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Imperial College London</a:t>
            </a:r>
            <a:endParaRPr/>
          </a:p>
        </p:txBody>
      </p:sp>
      <p:sp>
        <p:nvSpPr>
          <p:cNvPr id="278" name="Google Shape;278;p32"/>
          <p:cNvSpPr txBox="1"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Arial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2"/>
          <p:cNvSpPr txBox="1"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ontent Smoke">
  <p:cSld name="Title, Text and Content Smoke">
    <p:bg>
      <p:bgPr>
        <a:solidFill>
          <a:schemeClr val="lt2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3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subTitle" idx="1"/>
          </p:nvPr>
        </p:nvSpPr>
        <p:spPr>
          <a:xfrm>
            <a:off x="325800" y="620196"/>
            <a:ext cx="558367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body" idx="2"/>
          </p:nvPr>
        </p:nvSpPr>
        <p:spPr>
          <a:xfrm>
            <a:off x="325800" y="1394619"/>
            <a:ext cx="558367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body" idx="3"/>
          </p:nvPr>
        </p:nvSpPr>
        <p:spPr>
          <a:xfrm>
            <a:off x="6290831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ontent Khaki">
  <p:cSld name="Title, Text and Content Khaki">
    <p:bg>
      <p:bgPr>
        <a:solidFill>
          <a:srgbClr val="FBF7DC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4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34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ubTitle" idx="1"/>
          </p:nvPr>
        </p:nvSpPr>
        <p:spPr>
          <a:xfrm>
            <a:off x="325800" y="620196"/>
            <a:ext cx="558367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body" idx="2"/>
          </p:nvPr>
        </p:nvSpPr>
        <p:spPr>
          <a:xfrm>
            <a:off x="325800" y="1394619"/>
            <a:ext cx="558367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3"/>
          </p:nvPr>
        </p:nvSpPr>
        <p:spPr>
          <a:xfrm>
            <a:off x="6290831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and Four Images">
  <p:cSld name="Title, Content and Four Images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35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5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0" name="Google Shape;300;p35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1" name="Google Shape;301;p35"/>
          <p:cNvSpPr>
            <a:spLocks noGrp="1"/>
          </p:cNvSpPr>
          <p:nvPr>
            <p:ph type="pic" idx="2"/>
          </p:nvPr>
        </p:nvSpPr>
        <p:spPr>
          <a:xfrm>
            <a:off x="4275880" y="327819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02" name="Google Shape;302;p35"/>
          <p:cNvSpPr>
            <a:spLocks noGrp="1"/>
          </p:cNvSpPr>
          <p:nvPr>
            <p:ph type="pic" idx="3"/>
          </p:nvPr>
        </p:nvSpPr>
        <p:spPr>
          <a:xfrm>
            <a:off x="8122200" y="327819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03" name="Google Shape;303;p35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360000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04" name="Google Shape;304;p35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35"/>
          <p:cNvSpPr>
            <a:spLocks noGrp="1"/>
          </p:cNvSpPr>
          <p:nvPr>
            <p:ph type="pic" idx="5"/>
          </p:nvPr>
        </p:nvSpPr>
        <p:spPr>
          <a:xfrm>
            <a:off x="4275880" y="3336100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06" name="Google Shape;306;p35"/>
          <p:cNvSpPr>
            <a:spLocks noGrp="1"/>
          </p:cNvSpPr>
          <p:nvPr>
            <p:ph type="pic" idx="6"/>
          </p:nvPr>
        </p:nvSpPr>
        <p:spPr>
          <a:xfrm>
            <a:off x="8122200" y="3336100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and Four Images Smoke">
  <p:cSld name="Title, Content and Four Images Smoke">
    <p:bg>
      <p:bgPr>
        <a:solidFill>
          <a:schemeClr val="lt2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6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36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36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11" name="Google Shape;311;p36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2" name="Google Shape;312;p36"/>
          <p:cNvSpPr>
            <a:spLocks noGrp="1"/>
          </p:cNvSpPr>
          <p:nvPr>
            <p:ph type="pic" idx="2"/>
          </p:nvPr>
        </p:nvSpPr>
        <p:spPr>
          <a:xfrm>
            <a:off x="4275880" y="327819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13" name="Google Shape;313;p36"/>
          <p:cNvSpPr>
            <a:spLocks noGrp="1"/>
          </p:cNvSpPr>
          <p:nvPr>
            <p:ph type="pic" idx="3"/>
          </p:nvPr>
        </p:nvSpPr>
        <p:spPr>
          <a:xfrm>
            <a:off x="8122200" y="327819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14" name="Google Shape;314;p36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360000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15" name="Google Shape;315;p36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36"/>
          <p:cNvSpPr>
            <a:spLocks noGrp="1"/>
          </p:cNvSpPr>
          <p:nvPr>
            <p:ph type="pic" idx="5"/>
          </p:nvPr>
        </p:nvSpPr>
        <p:spPr>
          <a:xfrm>
            <a:off x="4275880" y="3336100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17" name="Google Shape;317;p36"/>
          <p:cNvSpPr>
            <a:spLocks noGrp="1"/>
          </p:cNvSpPr>
          <p:nvPr>
            <p:ph type="pic" idx="6"/>
          </p:nvPr>
        </p:nvSpPr>
        <p:spPr>
          <a:xfrm>
            <a:off x="8122200" y="3336100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and Four Images Khaki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7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p37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37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22" name="Google Shape;322;p37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3" name="Google Shape;323;p37"/>
          <p:cNvSpPr>
            <a:spLocks noGrp="1"/>
          </p:cNvSpPr>
          <p:nvPr>
            <p:ph type="pic" idx="2"/>
          </p:nvPr>
        </p:nvSpPr>
        <p:spPr>
          <a:xfrm>
            <a:off x="4275880" y="327819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24" name="Google Shape;324;p37"/>
          <p:cNvSpPr>
            <a:spLocks noGrp="1"/>
          </p:cNvSpPr>
          <p:nvPr>
            <p:ph type="pic" idx="3"/>
          </p:nvPr>
        </p:nvSpPr>
        <p:spPr>
          <a:xfrm>
            <a:off x="8122200" y="327819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25" name="Google Shape;325;p37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360000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26" name="Google Shape;326;p37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37"/>
          <p:cNvSpPr>
            <a:spLocks noGrp="1"/>
          </p:cNvSpPr>
          <p:nvPr>
            <p:ph type="pic" idx="5"/>
          </p:nvPr>
        </p:nvSpPr>
        <p:spPr>
          <a:xfrm>
            <a:off x="4275880" y="3336100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28" name="Google Shape;328;p37"/>
          <p:cNvSpPr>
            <a:spLocks noGrp="1"/>
          </p:cNvSpPr>
          <p:nvPr>
            <p:ph type="pic" idx="6"/>
          </p:nvPr>
        </p:nvSpPr>
        <p:spPr>
          <a:xfrm>
            <a:off x="8122200" y="3336100"/>
            <a:ext cx="3744000" cy="292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and Nine Images">
  <p:cSld name="Title, Content and Nine Images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8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38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8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38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38"/>
          <p:cNvSpPr>
            <a:spLocks noGrp="1"/>
          </p:cNvSpPr>
          <p:nvPr>
            <p:ph type="pic" idx="2"/>
          </p:nvPr>
        </p:nvSpPr>
        <p:spPr>
          <a:xfrm>
            <a:off x="427588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35" name="Google Shape;335;p38"/>
          <p:cNvSpPr>
            <a:spLocks noGrp="1"/>
          </p:cNvSpPr>
          <p:nvPr>
            <p:ph type="pic" idx="3"/>
          </p:nvPr>
        </p:nvSpPr>
        <p:spPr>
          <a:xfrm>
            <a:off x="683804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36" name="Google Shape;336;p38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360000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37" name="Google Shape;337;p38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38"/>
          <p:cNvSpPr>
            <a:spLocks noGrp="1"/>
          </p:cNvSpPr>
          <p:nvPr>
            <p:ph type="pic" idx="5"/>
          </p:nvPr>
        </p:nvSpPr>
        <p:spPr>
          <a:xfrm>
            <a:off x="940020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39" name="Google Shape;339;p38"/>
          <p:cNvSpPr>
            <a:spLocks noGrp="1"/>
          </p:cNvSpPr>
          <p:nvPr>
            <p:ph type="pic" idx="6"/>
          </p:nvPr>
        </p:nvSpPr>
        <p:spPr>
          <a:xfrm>
            <a:off x="4275880" y="2331064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0" name="Google Shape;340;p38"/>
          <p:cNvSpPr>
            <a:spLocks noGrp="1"/>
          </p:cNvSpPr>
          <p:nvPr>
            <p:ph type="pic" idx="7"/>
          </p:nvPr>
        </p:nvSpPr>
        <p:spPr>
          <a:xfrm>
            <a:off x="6838040" y="23310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1" name="Google Shape;341;p38"/>
          <p:cNvSpPr>
            <a:spLocks noGrp="1"/>
          </p:cNvSpPr>
          <p:nvPr>
            <p:ph type="pic" idx="8"/>
          </p:nvPr>
        </p:nvSpPr>
        <p:spPr>
          <a:xfrm>
            <a:off x="9400200" y="23310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2" name="Google Shape;342;p38"/>
          <p:cNvSpPr>
            <a:spLocks noGrp="1"/>
          </p:cNvSpPr>
          <p:nvPr>
            <p:ph type="pic" idx="9"/>
          </p:nvPr>
        </p:nvSpPr>
        <p:spPr>
          <a:xfrm>
            <a:off x="427588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3" name="Google Shape;343;p38"/>
          <p:cNvSpPr>
            <a:spLocks noGrp="1"/>
          </p:cNvSpPr>
          <p:nvPr>
            <p:ph type="pic" idx="13"/>
          </p:nvPr>
        </p:nvSpPr>
        <p:spPr>
          <a:xfrm>
            <a:off x="683804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4" name="Google Shape;344;p38"/>
          <p:cNvSpPr>
            <a:spLocks noGrp="1"/>
          </p:cNvSpPr>
          <p:nvPr>
            <p:ph type="pic" idx="14"/>
          </p:nvPr>
        </p:nvSpPr>
        <p:spPr>
          <a:xfrm>
            <a:off x="940020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and Nine Images Smoke">
  <p:cSld name="Title, Content and Nine Images Smoke">
    <p:bg>
      <p:bgPr>
        <a:solidFill>
          <a:schemeClr val="lt2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9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39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3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9" name="Google Shape;349;p39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0" name="Google Shape;350;p39"/>
          <p:cNvSpPr>
            <a:spLocks noGrp="1"/>
          </p:cNvSpPr>
          <p:nvPr>
            <p:ph type="pic" idx="2"/>
          </p:nvPr>
        </p:nvSpPr>
        <p:spPr>
          <a:xfrm>
            <a:off x="427588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1" name="Google Shape;351;p39"/>
          <p:cNvSpPr>
            <a:spLocks noGrp="1"/>
          </p:cNvSpPr>
          <p:nvPr>
            <p:ph type="pic" idx="3"/>
          </p:nvPr>
        </p:nvSpPr>
        <p:spPr>
          <a:xfrm>
            <a:off x="683804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2" name="Google Shape;352;p39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360000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53" name="Google Shape;353;p39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39"/>
          <p:cNvSpPr>
            <a:spLocks noGrp="1"/>
          </p:cNvSpPr>
          <p:nvPr>
            <p:ph type="pic" idx="5"/>
          </p:nvPr>
        </p:nvSpPr>
        <p:spPr>
          <a:xfrm>
            <a:off x="940020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5" name="Google Shape;355;p39"/>
          <p:cNvSpPr>
            <a:spLocks noGrp="1"/>
          </p:cNvSpPr>
          <p:nvPr>
            <p:ph type="pic" idx="6"/>
          </p:nvPr>
        </p:nvSpPr>
        <p:spPr>
          <a:xfrm>
            <a:off x="4275880" y="2331064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6" name="Google Shape;356;p39"/>
          <p:cNvSpPr>
            <a:spLocks noGrp="1"/>
          </p:cNvSpPr>
          <p:nvPr>
            <p:ph type="pic" idx="7"/>
          </p:nvPr>
        </p:nvSpPr>
        <p:spPr>
          <a:xfrm>
            <a:off x="6838040" y="23310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7" name="Google Shape;357;p39"/>
          <p:cNvSpPr>
            <a:spLocks noGrp="1"/>
          </p:cNvSpPr>
          <p:nvPr>
            <p:ph type="pic" idx="8"/>
          </p:nvPr>
        </p:nvSpPr>
        <p:spPr>
          <a:xfrm>
            <a:off x="9400200" y="23310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8" name="Google Shape;358;p39"/>
          <p:cNvSpPr>
            <a:spLocks noGrp="1"/>
          </p:cNvSpPr>
          <p:nvPr>
            <p:ph type="pic" idx="9"/>
          </p:nvPr>
        </p:nvSpPr>
        <p:spPr>
          <a:xfrm>
            <a:off x="427588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59" name="Google Shape;359;p39"/>
          <p:cNvSpPr>
            <a:spLocks noGrp="1"/>
          </p:cNvSpPr>
          <p:nvPr>
            <p:ph type="pic" idx="13"/>
          </p:nvPr>
        </p:nvSpPr>
        <p:spPr>
          <a:xfrm>
            <a:off x="683804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60" name="Google Shape;360;p39"/>
          <p:cNvSpPr>
            <a:spLocks noGrp="1"/>
          </p:cNvSpPr>
          <p:nvPr>
            <p:ph type="pic" idx="14"/>
          </p:nvPr>
        </p:nvSpPr>
        <p:spPr>
          <a:xfrm>
            <a:off x="940020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and Nine Images Khaki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0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40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4" name="Google Shape;364;p40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65" name="Google Shape;365;p40"/>
          <p:cNvSpPr txBox="1">
            <a:spLocks noGrp="1"/>
          </p:cNvSpPr>
          <p:nvPr>
            <p:ph type="body" idx="1"/>
          </p:nvPr>
        </p:nvSpPr>
        <p:spPr>
          <a:xfrm>
            <a:off x="325800" y="1394619"/>
            <a:ext cx="3600000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p40"/>
          <p:cNvSpPr>
            <a:spLocks noGrp="1"/>
          </p:cNvSpPr>
          <p:nvPr>
            <p:ph type="pic" idx="2"/>
          </p:nvPr>
        </p:nvSpPr>
        <p:spPr>
          <a:xfrm>
            <a:off x="427588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67" name="Google Shape;367;p40"/>
          <p:cNvSpPr>
            <a:spLocks noGrp="1"/>
          </p:cNvSpPr>
          <p:nvPr>
            <p:ph type="pic" idx="3"/>
          </p:nvPr>
        </p:nvSpPr>
        <p:spPr>
          <a:xfrm>
            <a:off x="683804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68" name="Google Shape;368;p40"/>
          <p:cNvSpPr txBox="1">
            <a:spLocks noGrp="1"/>
          </p:cNvSpPr>
          <p:nvPr>
            <p:ph type="subTitle" idx="4"/>
          </p:nvPr>
        </p:nvSpPr>
        <p:spPr>
          <a:xfrm>
            <a:off x="325800" y="620196"/>
            <a:ext cx="3600000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369" name="Google Shape;369;p40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0" name="Google Shape;370;p40"/>
          <p:cNvSpPr>
            <a:spLocks noGrp="1"/>
          </p:cNvSpPr>
          <p:nvPr>
            <p:ph type="pic" idx="5"/>
          </p:nvPr>
        </p:nvSpPr>
        <p:spPr>
          <a:xfrm>
            <a:off x="9400200" y="327028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1" name="Google Shape;371;p40"/>
          <p:cNvSpPr>
            <a:spLocks noGrp="1"/>
          </p:cNvSpPr>
          <p:nvPr>
            <p:ph type="pic" idx="6"/>
          </p:nvPr>
        </p:nvSpPr>
        <p:spPr>
          <a:xfrm>
            <a:off x="4275880" y="2331064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2" name="Google Shape;372;p40"/>
          <p:cNvSpPr>
            <a:spLocks noGrp="1"/>
          </p:cNvSpPr>
          <p:nvPr>
            <p:ph type="pic" idx="7"/>
          </p:nvPr>
        </p:nvSpPr>
        <p:spPr>
          <a:xfrm>
            <a:off x="6838040" y="23310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3" name="Google Shape;373;p40"/>
          <p:cNvSpPr>
            <a:spLocks noGrp="1"/>
          </p:cNvSpPr>
          <p:nvPr>
            <p:ph type="pic" idx="8"/>
          </p:nvPr>
        </p:nvSpPr>
        <p:spPr>
          <a:xfrm>
            <a:off x="9400200" y="23310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4" name="Google Shape;374;p40"/>
          <p:cNvSpPr>
            <a:spLocks noGrp="1"/>
          </p:cNvSpPr>
          <p:nvPr>
            <p:ph type="pic" idx="9"/>
          </p:nvPr>
        </p:nvSpPr>
        <p:spPr>
          <a:xfrm>
            <a:off x="427588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5" name="Google Shape;375;p40"/>
          <p:cNvSpPr>
            <a:spLocks noGrp="1"/>
          </p:cNvSpPr>
          <p:nvPr>
            <p:ph type="pic" idx="13"/>
          </p:nvPr>
        </p:nvSpPr>
        <p:spPr>
          <a:xfrm>
            <a:off x="683804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6" name="Google Shape;376;p40"/>
          <p:cNvSpPr>
            <a:spLocks noGrp="1"/>
          </p:cNvSpPr>
          <p:nvPr>
            <p:ph type="pic" idx="14"/>
          </p:nvPr>
        </p:nvSpPr>
        <p:spPr>
          <a:xfrm>
            <a:off x="9400200" y="4335100"/>
            <a:ext cx="2466000" cy="192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and Content">
  <p:cSld name="Text and Content"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1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p41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body" idx="1"/>
          </p:nvPr>
        </p:nvSpPr>
        <p:spPr>
          <a:xfrm>
            <a:off x="326232" y="327819"/>
            <a:ext cx="5583238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2" name="Google Shape;382;p41"/>
          <p:cNvSpPr txBox="1">
            <a:spLocks noGrp="1"/>
          </p:cNvSpPr>
          <p:nvPr>
            <p:ph type="body" idx="2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3" name="Google Shape;383;p41"/>
          <p:cNvSpPr txBox="1">
            <a:spLocks noGrp="1"/>
          </p:cNvSpPr>
          <p:nvPr>
            <p:ph type="body" idx="3"/>
          </p:nvPr>
        </p:nvSpPr>
        <p:spPr>
          <a:xfrm>
            <a:off x="6290831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and Content Smoke">
  <p:cSld name="Text and Content Smoke">
    <p:bg>
      <p:bgPr>
        <a:solidFill>
          <a:schemeClr val="lt2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2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42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7" name="Google Shape;387;p42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26232" y="327819"/>
            <a:ext cx="5583238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body" idx="2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body" idx="3"/>
          </p:nvPr>
        </p:nvSpPr>
        <p:spPr>
          <a:xfrm>
            <a:off x="6290831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and Content Khaki">
  <p:cSld name="Text and Content Khaki">
    <p:bg>
      <p:bgPr>
        <a:solidFill>
          <a:srgbClr val="FBF7DC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3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43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4" name="Google Shape;394;p43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5" name="Google Shape;395;p43"/>
          <p:cNvSpPr txBox="1">
            <a:spLocks noGrp="1"/>
          </p:cNvSpPr>
          <p:nvPr>
            <p:ph type="body" idx="1"/>
          </p:nvPr>
        </p:nvSpPr>
        <p:spPr>
          <a:xfrm>
            <a:off x="326232" y="327819"/>
            <a:ext cx="5583238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6" name="Google Shape;396;p43"/>
          <p:cNvSpPr txBox="1">
            <a:spLocks noGrp="1"/>
          </p:cNvSpPr>
          <p:nvPr>
            <p:ph type="body" idx="2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body" idx="3"/>
          </p:nvPr>
        </p:nvSpPr>
        <p:spPr>
          <a:xfrm>
            <a:off x="6290831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Text">
  <p:cSld name="Content and Text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4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44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1" name="Google Shape;401;p44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2" name="Google Shape;402;p44"/>
          <p:cNvSpPr txBox="1">
            <a:spLocks noGrp="1"/>
          </p:cNvSpPr>
          <p:nvPr>
            <p:ph type="body" idx="1"/>
          </p:nvPr>
        </p:nvSpPr>
        <p:spPr>
          <a:xfrm>
            <a:off x="6291761" y="327819"/>
            <a:ext cx="5574008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3" name="Google Shape;403;p44"/>
          <p:cNvSpPr txBox="1">
            <a:spLocks noGrp="1"/>
          </p:cNvSpPr>
          <p:nvPr>
            <p:ph type="body" idx="2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body" idx="3"/>
          </p:nvPr>
        </p:nvSpPr>
        <p:spPr>
          <a:xfrm>
            <a:off x="326593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Text Smoke">
  <p:cSld name="Content and Text Smoke">
    <p:bg>
      <p:bgPr>
        <a:solidFill>
          <a:schemeClr val="lt2"/>
        </a:solidFill>
        <a:effectLst/>
      </p:bgPr>
    </p:bg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5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45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8" name="Google Shape;408;p45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9" name="Google Shape;409;p45"/>
          <p:cNvSpPr txBox="1">
            <a:spLocks noGrp="1"/>
          </p:cNvSpPr>
          <p:nvPr>
            <p:ph type="body" idx="1"/>
          </p:nvPr>
        </p:nvSpPr>
        <p:spPr>
          <a:xfrm>
            <a:off x="6291761" y="327819"/>
            <a:ext cx="5574008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body" idx="2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p45"/>
          <p:cNvSpPr txBox="1">
            <a:spLocks noGrp="1"/>
          </p:cNvSpPr>
          <p:nvPr>
            <p:ph type="body" idx="3"/>
          </p:nvPr>
        </p:nvSpPr>
        <p:spPr>
          <a:xfrm>
            <a:off x="326593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Text Khaki">
  <p:cSld name="Content and Text Khaki">
    <p:bg>
      <p:bgPr>
        <a:solidFill>
          <a:srgbClr val="FBF7DC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6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4" name="Google Shape;414;p46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5" name="Google Shape;415;p46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16" name="Google Shape;416;p46"/>
          <p:cNvSpPr txBox="1">
            <a:spLocks noGrp="1"/>
          </p:cNvSpPr>
          <p:nvPr>
            <p:ph type="body" idx="1"/>
          </p:nvPr>
        </p:nvSpPr>
        <p:spPr>
          <a:xfrm>
            <a:off x="6291761" y="327819"/>
            <a:ext cx="5574008" cy="593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7" name="Google Shape;417;p46"/>
          <p:cNvSpPr txBox="1">
            <a:spLocks noGrp="1"/>
          </p:cNvSpPr>
          <p:nvPr>
            <p:ph type="body" idx="2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8" name="Google Shape;418;p46"/>
          <p:cNvSpPr txBox="1">
            <a:spLocks noGrp="1"/>
          </p:cNvSpPr>
          <p:nvPr>
            <p:ph type="body" idx="3"/>
          </p:nvPr>
        </p:nvSpPr>
        <p:spPr>
          <a:xfrm>
            <a:off x="326593" y="328613"/>
            <a:ext cx="5583670" cy="59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 marL="1371600" lvl="2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Image">
  <p:cSld name="Large Image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7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1" name="Google Shape;421;p47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47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3" name="Google Shape;423;p47"/>
          <p:cNvSpPr>
            <a:spLocks noGrp="1"/>
          </p:cNvSpPr>
          <p:nvPr>
            <p:ph type="pic" idx="2"/>
          </p:nvPr>
        </p:nvSpPr>
        <p:spPr>
          <a:xfrm>
            <a:off x="326232" y="327819"/>
            <a:ext cx="11541025" cy="5933281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4" name="Google Shape;424;p47"/>
          <p:cNvSpPr txBox="1">
            <a:spLocks noGrp="1"/>
          </p:cNvSpPr>
          <p:nvPr>
            <p:ph type="body" idx="1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Image Smoke">
  <p:cSld name="Large Image Smoke">
    <p:bg>
      <p:bgPr>
        <a:solidFill>
          <a:schemeClr val="lt2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8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48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8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9" name="Google Shape;429;p48"/>
          <p:cNvSpPr>
            <a:spLocks noGrp="1"/>
          </p:cNvSpPr>
          <p:nvPr>
            <p:ph type="pic" idx="2"/>
          </p:nvPr>
        </p:nvSpPr>
        <p:spPr>
          <a:xfrm>
            <a:off x="326232" y="327819"/>
            <a:ext cx="11541025" cy="5933281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30" name="Google Shape;430;p48"/>
          <p:cNvSpPr txBox="1">
            <a:spLocks noGrp="1"/>
          </p:cNvSpPr>
          <p:nvPr>
            <p:ph type="body" idx="1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rge Image Khaki">
  <p:cSld name="Large Image Khaki">
    <p:bg>
      <p:bgPr>
        <a:solidFill>
          <a:srgbClr val="FBF7DC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9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3" name="Google Shape;433;p49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4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5" name="Google Shape;435;p49"/>
          <p:cNvSpPr>
            <a:spLocks noGrp="1"/>
          </p:cNvSpPr>
          <p:nvPr>
            <p:ph type="pic" idx="2"/>
          </p:nvPr>
        </p:nvSpPr>
        <p:spPr>
          <a:xfrm>
            <a:off x="326232" y="327819"/>
            <a:ext cx="11541025" cy="5933281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36" name="Google Shape;436;p49"/>
          <p:cNvSpPr txBox="1">
            <a:spLocks noGrp="1"/>
          </p:cNvSpPr>
          <p:nvPr>
            <p:ph type="body" idx="1"/>
          </p:nvPr>
        </p:nvSpPr>
        <p:spPr>
          <a:xfrm>
            <a:off x="6292057" y="6393657"/>
            <a:ext cx="2743200" cy="13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50"/>
              <a:buNone/>
              <a:defRPr sz="850">
                <a:solidFill>
                  <a:schemeClr val="accent1"/>
                </a:solidFill>
              </a:defRPr>
            </a:lvl2pPr>
            <a:lvl3pPr marL="1371600" lvl="2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3pPr>
            <a:lvl4pPr marL="1828800" lvl="3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4pPr>
            <a:lvl5pPr marL="2286000" lvl="4" indent="-2825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0"/>
              <a:buChar char="•"/>
              <a:defRPr sz="85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Bleed Image">
  <p:cSld name="Full Bleed Image"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50"/>
          <p:cNvSpPr>
            <a:spLocks noGrp="1"/>
          </p:cNvSpPr>
          <p:nvPr>
            <p:ph type="pic" idx="2"/>
          </p:nvPr>
        </p:nvSpPr>
        <p:spPr>
          <a:xfrm>
            <a:off x="1" y="3"/>
            <a:ext cx="12193489" cy="6857999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</p:spTree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d Slide">
  <p:cSld name="End Slide">
    <p:bg>
      <p:bgPr>
        <a:solidFill>
          <a:schemeClr val="lt1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0" name="Google Shape;440;p51"/>
          <p:cNvGrpSpPr/>
          <p:nvPr/>
        </p:nvGrpSpPr>
        <p:grpSpPr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441" name="Google Shape;441;p51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51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51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51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51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51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51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51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d Slide Smoke">
  <p:cSld name="End Slide Smoke">
    <p:bg>
      <p:bgPr>
        <a:solidFill>
          <a:schemeClr val="l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0" name="Google Shape;450;p52"/>
          <p:cNvGrpSpPr/>
          <p:nvPr/>
        </p:nvGrpSpPr>
        <p:grpSpPr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451" name="Google Shape;451;p52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52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52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52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52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52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52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52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d Slide Khaki">
  <p:cSld name="End Slide Khaki">
    <p:bg>
      <p:bgPr>
        <a:solidFill>
          <a:srgbClr val="FBF7DC"/>
        </a:solidFill>
        <a:effectLst/>
      </p:bgPr>
    </p:bg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0" name="Google Shape;460;p53"/>
          <p:cNvGrpSpPr/>
          <p:nvPr/>
        </p:nvGrpSpPr>
        <p:grpSpPr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461" name="Google Shape;461;p53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53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53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53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53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53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53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53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d Slide Blue">
  <p:cSld name="End Slide Blue">
    <p:bg>
      <p:bgPr>
        <a:solidFill>
          <a:schemeClr val="accent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54"/>
          <p:cNvGrpSpPr/>
          <p:nvPr/>
        </p:nvGrpSpPr>
        <p:grpSpPr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471" name="Google Shape;471;p54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54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54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54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54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54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54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54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d Slide Image">
  <p:cSld name="End Slide Image">
    <p:bg>
      <p:bgPr>
        <a:solidFill>
          <a:srgbClr val="D8D8D8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0" name="Google Shape;480;p55"/>
          <p:cNvGrpSpPr/>
          <p:nvPr/>
        </p:nvGrpSpPr>
        <p:grpSpPr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481" name="Google Shape;481;p55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55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55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55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55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55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55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55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 Slide">
  <p:cSld name="Closing Slide">
    <p:bg>
      <p:bgPr>
        <a:solidFill>
          <a:schemeClr val="lt1"/>
        </a:soli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56"/>
          <p:cNvSpPr txBox="1"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1" name="Google Shape;491;p56"/>
          <p:cNvSpPr txBox="1">
            <a:spLocks noGrp="1"/>
          </p:cNvSpPr>
          <p:nvPr>
            <p:ph type="body" idx="1"/>
          </p:nvPr>
        </p:nvSpPr>
        <p:spPr>
          <a:xfrm>
            <a:off x="330271" y="5790130"/>
            <a:ext cx="5606484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492" name="Google Shape;492;p56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93" name="Google Shape;493;p56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56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56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56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56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56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56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56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 Slide Smoke">
  <p:cSld name="Closing Slide Smoke">
    <p:bg>
      <p:bgPr>
        <a:solidFill>
          <a:schemeClr val="lt2"/>
        </a:solidFill>
        <a:effectLst/>
      </p:bgPr>
    </p:bg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57"/>
          <p:cNvSpPr txBox="1"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3" name="Google Shape;503;p57"/>
          <p:cNvSpPr txBox="1">
            <a:spLocks noGrp="1"/>
          </p:cNvSpPr>
          <p:nvPr>
            <p:ph type="body" idx="1"/>
          </p:nvPr>
        </p:nvSpPr>
        <p:spPr>
          <a:xfrm>
            <a:off x="330271" y="5790130"/>
            <a:ext cx="5606484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504" name="Google Shape;504;p57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05" name="Google Shape;505;p57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57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57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57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57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57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57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57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 Slide Khaki">
  <p:cSld name="Closing Slide Khaki">
    <p:bg>
      <p:bgPr>
        <a:solidFill>
          <a:srgbClr val="FBF7DC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8"/>
          <p:cNvSpPr txBox="1"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  <a:defRPr sz="6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58"/>
          <p:cNvSpPr txBox="1">
            <a:spLocks noGrp="1"/>
          </p:cNvSpPr>
          <p:nvPr>
            <p:ph type="body" idx="1"/>
          </p:nvPr>
        </p:nvSpPr>
        <p:spPr>
          <a:xfrm>
            <a:off x="330271" y="5790130"/>
            <a:ext cx="5606484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marL="1371600" lvl="2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1828800" lvl="3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2286000" lvl="4" indent="-355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516" name="Google Shape;516;p58"/>
          <p:cNvGrpSpPr/>
          <p:nvPr/>
        </p:nvGrpSpPr>
        <p:grpSpPr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17" name="Google Shape;517;p58"/>
            <p:cNvSpPr/>
            <p:nvPr/>
          </p:nvSpPr>
          <p:spPr>
            <a:xfrm>
              <a:off x="14261" y="3473"/>
              <a:ext cx="1099" cy="1694"/>
            </a:xfrm>
            <a:custGeom>
              <a:avLst/>
              <a:gdLst/>
              <a:ahLst/>
              <a:cxnLst/>
              <a:rect l="l" t="t" r="r" b="b"/>
              <a:pathLst>
                <a:path w="1099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58"/>
            <p:cNvSpPr/>
            <p:nvPr/>
          </p:nvSpPr>
          <p:spPr>
            <a:xfrm>
              <a:off x="12002" y="3473"/>
              <a:ext cx="1535" cy="1694"/>
            </a:xfrm>
            <a:custGeom>
              <a:avLst/>
              <a:gdLst/>
              <a:ahLst/>
              <a:cxnLst/>
              <a:rect l="l" t="t" r="r" b="b"/>
              <a:pathLst>
                <a:path w="1535" h="1694" extrusionOk="0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58"/>
            <p:cNvSpPr/>
            <p:nvPr/>
          </p:nvSpPr>
          <p:spPr>
            <a:xfrm>
              <a:off x="1025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58"/>
            <p:cNvSpPr/>
            <p:nvPr/>
          </p:nvSpPr>
          <p:spPr>
            <a:xfrm>
              <a:off x="8263" y="3473"/>
              <a:ext cx="1317" cy="1694"/>
            </a:xfrm>
            <a:custGeom>
              <a:avLst/>
              <a:gdLst/>
              <a:ahLst/>
              <a:cxnLst/>
              <a:rect l="l" t="t" r="r" b="b"/>
              <a:pathLst>
                <a:path w="932" h="1199" extrusionOk="0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58"/>
            <p:cNvSpPr/>
            <p:nvPr/>
          </p:nvSpPr>
          <p:spPr>
            <a:xfrm>
              <a:off x="6369" y="3473"/>
              <a:ext cx="1098" cy="1694"/>
            </a:xfrm>
            <a:custGeom>
              <a:avLst/>
              <a:gdLst/>
              <a:ahLst/>
              <a:cxnLst/>
              <a:rect l="l" t="t" r="r" b="b"/>
              <a:pathLst>
                <a:path w="1098" h="1694" extrusionOk="0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58"/>
            <p:cNvSpPr/>
            <p:nvPr/>
          </p:nvSpPr>
          <p:spPr>
            <a:xfrm>
              <a:off x="4481" y="3473"/>
              <a:ext cx="1215" cy="1694"/>
            </a:xfrm>
            <a:custGeom>
              <a:avLst/>
              <a:gdLst/>
              <a:ahLst/>
              <a:cxnLst/>
              <a:rect l="l" t="t" r="r" b="b"/>
              <a:pathLst>
                <a:path w="860" h="1199" extrusionOk="0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58"/>
            <p:cNvSpPr/>
            <p:nvPr/>
          </p:nvSpPr>
          <p:spPr>
            <a:xfrm>
              <a:off x="1945" y="3473"/>
              <a:ext cx="1720" cy="1694"/>
            </a:xfrm>
            <a:custGeom>
              <a:avLst/>
              <a:gdLst/>
              <a:ahLst/>
              <a:cxnLst/>
              <a:rect l="l" t="t" r="r" b="b"/>
              <a:pathLst>
                <a:path w="1720" h="1694" extrusionOk="0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58"/>
            <p:cNvSpPr/>
            <p:nvPr/>
          </p:nvSpPr>
          <p:spPr>
            <a:xfrm>
              <a:off x="0" y="3473"/>
              <a:ext cx="1113" cy="1694"/>
            </a:xfrm>
            <a:custGeom>
              <a:avLst/>
              <a:gdLst/>
              <a:ahLst/>
              <a:cxnLst/>
              <a:rect l="l" t="t" r="r" b="b"/>
              <a:pathLst>
                <a:path w="1113" h="1694" extrusionOk="0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9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7" name="Google Shape;527;p59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8" name="Google Shape;528;p59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5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30" name="Google Shape;530;p59"/>
          <p:cNvSpPr txBox="1">
            <a:spLocks noGrp="1"/>
          </p:cNvSpPr>
          <p:nvPr>
            <p:ph type="subTitle" idx="1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Smoke">
  <p:cSld name="Title Only Smoke">
    <p:bg>
      <p:bgPr>
        <a:solidFill>
          <a:schemeClr val="lt2"/>
        </a:solidFill>
        <a:effectLst/>
      </p:bgPr>
    </p:bg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60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60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4" name="Google Shape;534;p60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5" name="Google Shape;535;p60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36" name="Google Shape;536;p60"/>
          <p:cNvSpPr txBox="1">
            <a:spLocks noGrp="1"/>
          </p:cNvSpPr>
          <p:nvPr>
            <p:ph type="subTitle" idx="1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Khaki">
  <p:cSld name="Title Only Khaki">
    <p:bg>
      <p:bgPr>
        <a:solidFill>
          <a:srgbClr val="FBF7DC"/>
        </a:solidFill>
        <a:effectLst/>
      </p:bgPr>
    </p:bg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61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9" name="Google Shape;539;p61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0" name="Google Shape;540;p61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61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42" name="Google Shape;542;p61"/>
          <p:cNvSpPr txBox="1">
            <a:spLocks noGrp="1"/>
          </p:cNvSpPr>
          <p:nvPr>
            <p:ph type="subTitle" idx="1"/>
          </p:nvPr>
        </p:nvSpPr>
        <p:spPr>
          <a:xfrm>
            <a:off x="325800" y="620196"/>
            <a:ext cx="11540763" cy="37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600"/>
              <a:buNone/>
              <a:defRPr sz="26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2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62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6" name="Google Shape;546;p62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moke">
  <p:cSld name="Blank Smoke">
    <p:bg>
      <p:bgPr>
        <a:solidFill>
          <a:schemeClr val="lt2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63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9" name="Google Shape;549;p63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0" name="Google Shape;550;p63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Khaki">
  <p:cSld name="Blank Khaki">
    <p:bg>
      <p:bgPr>
        <a:solidFill>
          <a:srgbClr val="FBF7DC"/>
        </a:solidFill>
        <a:effectLst/>
      </p:bgPr>
    </p:bg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64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3" name="Google Shape;553;p64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4" name="Google Shape;554;p64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00"/>
              <a:buFont typeface="Arial"/>
              <a:buNone/>
              <a:defRPr sz="26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85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" name="Google Shape;15;p1"/>
          <p:cNvSpPr txBox="1"/>
          <p:nvPr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Imperial College London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206">
          <p15:clr>
            <a:srgbClr val="F26B43"/>
          </p15:clr>
        </p15:guide>
        <p15:guide id="4" pos="7475">
          <p15:clr>
            <a:srgbClr val="F26B43"/>
          </p15:clr>
        </p15:guide>
        <p15:guide id="5" orient="horz" pos="207">
          <p15:clr>
            <a:srgbClr val="F26B43"/>
          </p15:clr>
        </p15:guide>
        <p15:guide id="6" orient="horz" pos="4114">
          <p15:clr>
            <a:srgbClr val="F26B43"/>
          </p15:clr>
        </p15:guide>
        <p15:guide id="7" orient="horz" pos="3944">
          <p15:clr>
            <a:srgbClr val="F26B43"/>
          </p15:clr>
        </p15:guide>
        <p15:guide id="8" orient="horz" pos="879">
          <p15:clr>
            <a:srgbClr val="F26B43"/>
          </p15:clr>
        </p15:guide>
        <p15:guide id="9" pos="3723">
          <p15:clr>
            <a:srgbClr val="F26B43"/>
          </p15:clr>
        </p15:guide>
        <p15:guide id="10" pos="395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5"/>
          <p:cNvSpPr txBox="1">
            <a:spLocks noGrp="1"/>
          </p:cNvSpPr>
          <p:nvPr>
            <p:ph type="ctrTitle"/>
          </p:nvPr>
        </p:nvSpPr>
        <p:spPr>
          <a:xfrm>
            <a:off x="317250" y="1070975"/>
            <a:ext cx="11650800" cy="35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400"/>
              <a:buFont typeface="Arial"/>
              <a:buNone/>
            </a:pPr>
            <a:r>
              <a:rPr lang="en-GB"/>
              <a:t>Data-Driven Optimization and Fault Detection in Solar Power Plants</a:t>
            </a:r>
            <a:endParaRPr/>
          </a:p>
        </p:txBody>
      </p:sp>
      <p:sp>
        <p:nvSpPr>
          <p:cNvPr id="560" name="Google Shape;560;p65"/>
          <p:cNvSpPr txBox="1">
            <a:spLocks noGrp="1"/>
          </p:cNvSpPr>
          <p:nvPr>
            <p:ph type="subTitle" idx="1"/>
          </p:nvPr>
        </p:nvSpPr>
        <p:spPr>
          <a:xfrm>
            <a:off x="317250" y="4938700"/>
            <a:ext cx="9260400" cy="13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</a:pPr>
            <a:r>
              <a:rPr lang="en-GB" sz="3000"/>
              <a:t>CIVE70111 - Machine Learning</a:t>
            </a:r>
            <a:endParaRPr sz="3000"/>
          </a:p>
        </p:txBody>
      </p:sp>
      <p:sp>
        <p:nvSpPr>
          <p:cNvPr id="561" name="Google Shape;561;p65"/>
          <p:cNvSpPr txBox="1">
            <a:spLocks noGrp="1"/>
          </p:cNvSpPr>
          <p:nvPr>
            <p:ph type="body" idx="2"/>
          </p:nvPr>
        </p:nvSpPr>
        <p:spPr>
          <a:xfrm>
            <a:off x="330271" y="5789336"/>
            <a:ext cx="5579198" cy="740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</a:pPr>
            <a:r>
              <a:rPr lang="en-GB"/>
              <a:t>Group 11</a:t>
            </a:r>
            <a:endParaRPr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</a:pPr>
            <a:r>
              <a:rPr lang="en-GB"/>
              <a:t>12/12/2025</a:t>
            </a:r>
            <a:endParaRPr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6"/>
          <p:cNvSpPr txBox="1">
            <a:spLocks noGrp="1"/>
          </p:cNvSpPr>
          <p:nvPr>
            <p:ph type="title"/>
          </p:nvPr>
        </p:nvSpPr>
        <p:spPr>
          <a:xfrm>
            <a:off x="325800" y="218311"/>
            <a:ext cx="11037600" cy="11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Task 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/>
              <a:t>Scope and Objectives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3D85C6"/>
                </a:solidFill>
              </a:rPr>
              <a:t>  Using machine learning to predict the performance of power plants and conduct fault detection</a:t>
            </a:r>
            <a:endParaRPr dirty="0"/>
          </a:p>
        </p:txBody>
      </p:sp>
      <p:cxnSp>
        <p:nvCxnSpPr>
          <p:cNvPr id="584" name="Google Shape;584;p66"/>
          <p:cNvCxnSpPr/>
          <p:nvPr/>
        </p:nvCxnSpPr>
        <p:spPr>
          <a:xfrm>
            <a:off x="327025" y="1352747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graphicFrame>
        <p:nvGraphicFramePr>
          <p:cNvPr id="585" name="Google Shape;585;p66"/>
          <p:cNvGraphicFramePr/>
          <p:nvPr/>
        </p:nvGraphicFramePr>
        <p:xfrm>
          <a:off x="622062" y="2575511"/>
          <a:ext cx="10287000" cy="2865000"/>
        </p:xfrm>
        <a:graphic>
          <a:graphicData uri="http://schemas.openxmlformats.org/drawingml/2006/table">
            <a:tbl>
              <a:tblPr>
                <a:noFill/>
                <a:tableStyleId>{2D61336E-207F-45F0-9C57-169B66968ED6}</a:tableStyleId>
              </a:tblPr>
              <a:tblGrid>
                <a:gridCol w="142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4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5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chemeClr val="lt1"/>
                          </a:solidFill>
                        </a:rPr>
                        <a:t>Task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chemeClr val="lt1"/>
                          </a:solidFill>
                        </a:rPr>
                        <a:t>Performance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chemeClr val="lt1"/>
                          </a:solidFill>
                        </a:rPr>
                        <a:t>Data &amp; Setup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Power Forecasting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(Task 3)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Predict DC/AC of each inverter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Random Forest Regression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RMSE  MAE  R²</a:t>
                      </a:r>
                      <a:endParaRPr b="1" i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Generation Data (DC/AC Power)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Weather Sensor Data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Condition Classification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 (Task 4 &amp; 5)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Classification of inverter operating conditions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F1 score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Confusion matrices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Generation Data (DC/AC Power)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Weather Sensor Data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Temporal Foresting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(Task 6)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Predict next hour AC/DC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RMSE 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MAE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Baseline models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2"/>
                          </a:solidFill>
                        </a:rPr>
                        <a:t>24 hours lookback window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86" name="Google Shape;586;p66"/>
          <p:cNvSpPr txBox="1"/>
          <p:nvPr/>
        </p:nvSpPr>
        <p:spPr>
          <a:xfrm>
            <a:off x="391500" y="1560050"/>
            <a:ext cx="107481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3D85C6"/>
                </a:solidFill>
              </a:rPr>
              <a:t>This project investigates two solar photovoltaic (PV) plants using machine-learning methods to analyse inverter-level power generation and operational conditions.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7"/>
          <p:cNvSpPr/>
          <p:nvPr/>
        </p:nvSpPr>
        <p:spPr>
          <a:xfrm>
            <a:off x="762025" y="3562138"/>
            <a:ext cx="11054700" cy="1253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67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 to Task 2</a:t>
            </a:r>
            <a:endParaRPr/>
          </a:p>
        </p:txBody>
      </p:sp>
      <p:sp>
        <p:nvSpPr>
          <p:cNvPr id="594" name="Google Shape;594;p67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  <p:sp>
        <p:nvSpPr>
          <p:cNvPr id="595" name="Google Shape;595;p67"/>
          <p:cNvSpPr/>
          <p:nvPr/>
        </p:nvSpPr>
        <p:spPr>
          <a:xfrm>
            <a:off x="1251663" y="2954678"/>
            <a:ext cx="18918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Data Ingestion </a:t>
            </a:r>
            <a:endParaRPr sz="11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GB" sz="1200">
                <a:solidFill>
                  <a:schemeClr val="dk1"/>
                </a:solidFill>
              </a:rPr>
              <a:t>Loaded raw CSV files</a:t>
            </a:r>
            <a:endParaRPr sz="12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GB" sz="1200">
                <a:solidFill>
                  <a:schemeClr val="dk1"/>
                </a:solidFill>
              </a:rPr>
              <a:t>Fix timestamp formats, remove invalid rows utlier Detection</a:t>
            </a:r>
            <a:endParaRPr sz="120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  <p:sp>
        <p:nvSpPr>
          <p:cNvPr id="596" name="Google Shape;596;p67"/>
          <p:cNvSpPr/>
          <p:nvPr/>
        </p:nvSpPr>
        <p:spPr>
          <a:xfrm>
            <a:off x="3678098" y="2954678"/>
            <a:ext cx="18936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Clean Data &amp; Outlier Detection</a:t>
            </a:r>
            <a:endParaRPr sz="11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GB" sz="1100">
                <a:solidFill>
                  <a:schemeClr val="dk1"/>
                </a:solidFill>
              </a:rPr>
              <a:t>Check for missing values and duplicates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Remove high‑residual (z &gt; 3) points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 b="1">
              <a:solidFill>
                <a:srgbClr val="FFFFFF"/>
              </a:solidFill>
            </a:endParaRPr>
          </a:p>
          <a:p>
            <a:pPr marL="45720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67"/>
          <p:cNvSpPr/>
          <p:nvPr/>
        </p:nvSpPr>
        <p:spPr>
          <a:xfrm>
            <a:off x="6166548" y="2954678"/>
            <a:ext cx="18918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Aggregate &amp; Merge</a:t>
            </a:r>
            <a:endParaRPr sz="11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GB" sz="1100">
                <a:solidFill>
                  <a:schemeClr val="dk1"/>
                </a:solidFill>
              </a:rPr>
              <a:t>Combine inverter readings with weather by timestamp</a:t>
            </a:r>
            <a:endParaRPr sz="1100">
              <a:solidFill>
                <a:schemeClr val="dk1"/>
              </a:solidFill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Links  specific power output to the exact weather conditions</a:t>
            </a:r>
            <a:endParaRPr sz="110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598" name="Google Shape;598;p67"/>
          <p:cNvSpPr/>
          <p:nvPr/>
        </p:nvSpPr>
        <p:spPr>
          <a:xfrm>
            <a:off x="8675298" y="2954678"/>
            <a:ext cx="18936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EDA &amp; Visualization</a:t>
            </a:r>
            <a:endParaRPr sz="11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GB" sz="1100">
                <a:solidFill>
                  <a:schemeClr val="dk1"/>
                </a:solidFill>
              </a:rPr>
              <a:t>Calculated Correlation Matrices and visualized Time-Series Plots.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Visualized the "Bell Curve" of daily production</a:t>
            </a:r>
            <a:endParaRPr sz="11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FFFFFF"/>
              </a:solidFill>
            </a:endParaRPr>
          </a:p>
          <a:p>
            <a:pPr marL="45720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99" name="Google Shape;599;p67"/>
          <p:cNvCxnSpPr/>
          <p:nvPr/>
        </p:nvCxnSpPr>
        <p:spPr>
          <a:xfrm>
            <a:off x="327025" y="1729675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600" name="Google Shape;600;p67"/>
          <p:cNvSpPr txBox="1"/>
          <p:nvPr/>
        </p:nvSpPr>
        <p:spPr>
          <a:xfrm>
            <a:off x="239350" y="533775"/>
            <a:ext cx="11540700" cy="10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000" b="1">
                <a:solidFill>
                  <a:schemeClr val="accent1"/>
                </a:solidFill>
              </a:rPr>
              <a:t>Objective</a:t>
            </a:r>
            <a:endParaRPr sz="2400">
              <a:solidFill>
                <a:schemeClr val="accent3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800" b="1">
                <a:solidFill>
                  <a:srgbClr val="3D85C6"/>
                </a:solidFill>
              </a:rPr>
              <a:t>Conduct a exploratory analysis of the power generation and sensor data, derive insights to inform modeling decisions, and prepare  for machine learning.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601" name="Google Shape;601;p67"/>
          <p:cNvSpPr txBox="1">
            <a:spLocks noGrp="1"/>
          </p:cNvSpPr>
          <p:nvPr>
            <p:ph type="body" idx="1"/>
          </p:nvPr>
        </p:nvSpPr>
        <p:spPr>
          <a:xfrm>
            <a:off x="294900" y="1890875"/>
            <a:ext cx="11602200" cy="52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Workflow Overview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rgbClr val="3D85C6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68"/>
          <p:cNvSpPr txBox="1">
            <a:spLocks noGrp="1"/>
          </p:cNvSpPr>
          <p:nvPr>
            <p:ph type="title"/>
          </p:nvPr>
        </p:nvSpPr>
        <p:spPr>
          <a:xfrm>
            <a:off x="325800" y="369593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Task 2 Results </a:t>
            </a:r>
            <a:endParaRPr/>
          </a:p>
        </p:txBody>
      </p:sp>
      <p:sp>
        <p:nvSpPr>
          <p:cNvPr id="608" name="Google Shape;608;p68"/>
          <p:cNvSpPr txBox="1">
            <a:spLocks noGrp="1"/>
          </p:cNvSpPr>
          <p:nvPr>
            <p:ph type="body" idx="1"/>
          </p:nvPr>
        </p:nvSpPr>
        <p:spPr>
          <a:xfrm>
            <a:off x="581425" y="1356143"/>
            <a:ext cx="6019500" cy="210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302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Times New Roman"/>
              <a:buAutoNum type="arabicPeriod"/>
            </a:pPr>
            <a:r>
              <a:rPr lang="en-GB" sz="16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Irradiation is the main driver.</a:t>
            </a:r>
            <a:endParaRPr sz="1900"/>
          </a:p>
          <a:p>
            <a:pPr marL="45720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/>
              <a:t>Correlation Matrix confirms a positive correlation (</a:t>
            </a:r>
            <a:r>
              <a:rPr lang="en-GB" sz="1300" b="1"/>
              <a:t>0.98</a:t>
            </a:r>
            <a:r>
              <a:rPr lang="en-GB" sz="1300"/>
              <a:t>) between Irradiation and DC Power.  </a:t>
            </a:r>
            <a:endParaRPr sz="1300"/>
          </a:p>
          <a:p>
            <a:pPr marL="45720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  <a:p>
            <a:pPr marL="457200" marR="0" lvl="0" indent="-3302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-GB" sz="16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Module_Temperature is the secondary factor</a:t>
            </a:r>
            <a:endParaRPr sz="16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/>
              <a:t>Shows a strong correlation with power (0.95),  higher than Ambient_Temperature, indicating that the panel's internal temperature is a more relevant feature than the surrounding air temperature.</a:t>
            </a:r>
            <a:endParaRPr sz="13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/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45720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  <a:p>
            <a:pPr marL="45720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</p:txBody>
      </p:sp>
      <p:sp>
        <p:nvSpPr>
          <p:cNvPr id="609" name="Google Shape;609;p68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sp>
        <p:nvSpPr>
          <p:cNvPr id="610" name="Google Shape;610;p68"/>
          <p:cNvSpPr txBox="1">
            <a:spLocks noGrp="1"/>
          </p:cNvSpPr>
          <p:nvPr>
            <p:ph type="subTitle" idx="2"/>
          </p:nvPr>
        </p:nvSpPr>
        <p:spPr>
          <a:xfrm>
            <a:off x="325800" y="737789"/>
            <a:ext cx="11540700" cy="371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accent1"/>
                </a:solidFill>
              </a:rPr>
              <a:t>Key insights from Data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50">
              <a:solidFill>
                <a:srgbClr val="2A2B2E"/>
              </a:solidFill>
              <a:highlight>
                <a:srgbClr val="FFFFFF"/>
              </a:highlight>
            </a:endParaRPr>
          </a:p>
        </p:txBody>
      </p:sp>
      <p:pic>
        <p:nvPicPr>
          <p:cNvPr id="611" name="Google Shape;611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525" y="3540765"/>
            <a:ext cx="3298324" cy="2193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9850" y="3484038"/>
            <a:ext cx="3541637" cy="1990375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68"/>
          <p:cNvSpPr txBox="1"/>
          <p:nvPr/>
        </p:nvSpPr>
        <p:spPr>
          <a:xfrm>
            <a:off x="7165325" y="1233005"/>
            <a:ext cx="4539000" cy="24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   Linearity</a:t>
            </a:r>
            <a:endParaRPr sz="1200">
              <a:solidFill>
                <a:schemeClr val="dk1"/>
              </a:solidFill>
            </a:endParaRPr>
          </a:p>
          <a:p>
            <a:pPr marL="36000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</a:rPr>
              <a:t>The data points form a tight, linear cluster extending  from the origin, confirming the strong physical relationship identified in the heatmap  </a:t>
            </a:r>
            <a:endParaRPr sz="1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  </a:t>
            </a:r>
            <a:r>
              <a:rPr lang="en-GB" sz="16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GB" sz="16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Daily cyclical pattern</a:t>
            </a:r>
            <a:endParaRPr sz="1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600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</a:rPr>
              <a:t>Shows a daily cyclical pattern in power generation.</a:t>
            </a:r>
            <a:r>
              <a:rPr lang="en-GB" sz="1200">
                <a:solidFill>
                  <a:schemeClr val="dk1"/>
                </a:solidFill>
              </a:rPr>
              <a:t>This observation justifies the feature engineering step where </a:t>
            </a:r>
            <a:endParaRPr sz="1200">
              <a:solidFill>
                <a:schemeClr val="dk1"/>
              </a:solidFill>
            </a:endParaRPr>
          </a:p>
          <a:p>
            <a:pPr marL="3600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</a:rPr>
              <a:t>we extracted the 'Hour' component from the timestamp</a:t>
            </a:r>
            <a:endParaRPr sz="17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</a:t>
            </a:r>
            <a:endParaRPr sz="1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4" name="Google Shape;614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03275" y="3602182"/>
            <a:ext cx="3094675" cy="1589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5" name="Google Shape;615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76350" y="4283557"/>
            <a:ext cx="2607926" cy="1328350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68"/>
          <p:cNvSpPr txBox="1"/>
          <p:nvPr/>
        </p:nvSpPr>
        <p:spPr>
          <a:xfrm>
            <a:off x="7840750" y="5747982"/>
            <a:ext cx="3743400" cy="6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>
                <a:solidFill>
                  <a:schemeClr val="accent1"/>
                </a:solidFill>
              </a:rPr>
              <a:t>Temporal Dynamics: Verification of Daily Solar Cycles</a:t>
            </a:r>
            <a:endParaRPr sz="1300" b="1">
              <a:solidFill>
                <a:schemeClr val="accent1"/>
              </a:solidFill>
            </a:endParaRPr>
          </a:p>
        </p:txBody>
      </p:sp>
      <p:sp>
        <p:nvSpPr>
          <p:cNvPr id="617" name="Google Shape;617;p68"/>
          <p:cNvSpPr txBox="1"/>
          <p:nvPr/>
        </p:nvSpPr>
        <p:spPr>
          <a:xfrm>
            <a:off x="523288" y="5728588"/>
            <a:ext cx="3094800" cy="3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>
                <a:solidFill>
                  <a:schemeClr val="accent1"/>
                </a:solidFill>
              </a:rPr>
              <a:t>Key Predictors Correlation Heatmap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618" name="Google Shape;618;p68"/>
          <p:cNvSpPr txBox="1"/>
          <p:nvPr/>
        </p:nvSpPr>
        <p:spPr>
          <a:xfrm>
            <a:off x="4082150" y="5740946"/>
            <a:ext cx="300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1">
                <a:solidFill>
                  <a:schemeClr val="accent1"/>
                </a:solidFill>
              </a:rPr>
              <a:t>Scatter Plot: Irradiation vs. DC Power</a:t>
            </a:r>
            <a:endParaRPr/>
          </a:p>
        </p:txBody>
      </p:sp>
      <p:cxnSp>
        <p:nvCxnSpPr>
          <p:cNvPr id="619" name="Google Shape;619;p68"/>
          <p:cNvCxnSpPr/>
          <p:nvPr/>
        </p:nvCxnSpPr>
        <p:spPr>
          <a:xfrm>
            <a:off x="378600" y="3432425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69"/>
          <p:cNvSpPr/>
          <p:nvPr/>
        </p:nvSpPr>
        <p:spPr>
          <a:xfrm>
            <a:off x="762025" y="3562138"/>
            <a:ext cx="11054700" cy="1253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69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 to Task 3</a:t>
            </a:r>
            <a:endParaRPr/>
          </a:p>
        </p:txBody>
      </p:sp>
      <p:sp>
        <p:nvSpPr>
          <p:cNvPr id="627" name="Google Shape;627;p69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  <p:sp>
        <p:nvSpPr>
          <p:cNvPr id="628" name="Google Shape;628;p69"/>
          <p:cNvSpPr txBox="1">
            <a:spLocks noGrp="1"/>
          </p:cNvSpPr>
          <p:nvPr>
            <p:ph type="subTitle" idx="2"/>
          </p:nvPr>
        </p:nvSpPr>
        <p:spPr>
          <a:xfrm>
            <a:off x="325800" y="620199"/>
            <a:ext cx="11540700" cy="1057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Objectives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3D85C6"/>
                </a:solidFill>
              </a:rPr>
              <a:t>Develop models to forecast the power output using environmental conditions to anticipate power production capabilities and optimize.</a:t>
            </a:r>
            <a:endParaRPr sz="1800" b="1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1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69"/>
          <p:cNvSpPr/>
          <p:nvPr/>
        </p:nvSpPr>
        <p:spPr>
          <a:xfrm>
            <a:off x="1427063" y="3013878"/>
            <a:ext cx="18918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Feature Selection &amp; Data Splitting </a:t>
            </a:r>
            <a:endParaRPr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Selected Irradiation, Ambient Temperature, Module Temperature as predictors. 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Split each inverter into one CSV per day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630" name="Google Shape;630;p69"/>
          <p:cNvSpPr/>
          <p:nvPr/>
        </p:nvSpPr>
        <p:spPr>
          <a:xfrm>
            <a:off x="6322366" y="3013878"/>
            <a:ext cx="18918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Evaluation</a:t>
            </a:r>
            <a:endParaRPr sz="1100">
              <a:solidFill>
                <a:schemeClr val="dk1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Calculated RMSE, MAE and R² for  DC &amp; AC power.</a:t>
            </a:r>
            <a:endParaRPr sz="1100">
              <a:solidFill>
                <a:schemeClr val="dk1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Compare model Bias–variance, performance &amp; stability 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1200">
              <a:solidFill>
                <a:srgbClr val="FFFFFF"/>
              </a:solidFill>
            </a:endParaRPr>
          </a:p>
        </p:txBody>
      </p:sp>
      <p:sp>
        <p:nvSpPr>
          <p:cNvPr id="631" name="Google Shape;631;p69"/>
          <p:cNvSpPr/>
          <p:nvPr/>
        </p:nvSpPr>
        <p:spPr>
          <a:xfrm>
            <a:off x="3823250" y="3013875"/>
            <a:ext cx="1922100" cy="22326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101600" marR="0" lvl="0" indent="-1016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Modeling Training</a:t>
            </a:r>
            <a:endParaRPr sz="1200" b="1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GB" sz="1300">
                <a:solidFill>
                  <a:schemeClr val="dk1"/>
                </a:solidFill>
              </a:rPr>
              <a:t>Linear Regression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GB" sz="1300">
                <a:solidFill>
                  <a:schemeClr val="dk1"/>
                </a:solidFill>
              </a:rPr>
              <a:t>Neural Network  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GB" sz="1300">
                <a:solidFill>
                  <a:schemeClr val="dk1"/>
                </a:solidFill>
              </a:rPr>
              <a:t>Lasso Regression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GB" sz="1300">
                <a:solidFill>
                  <a:schemeClr val="dk1"/>
                </a:solidFill>
              </a:rPr>
              <a:t>Ridge Regression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GB" sz="1300">
                <a:solidFill>
                  <a:schemeClr val="dk1"/>
                </a:solidFill>
              </a:rPr>
              <a:t>Random Forest 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FFFFFF"/>
              </a:solidFill>
            </a:endParaRPr>
          </a:p>
          <a:p>
            <a:pPr marL="45720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p69"/>
          <p:cNvSpPr/>
          <p:nvPr/>
        </p:nvSpPr>
        <p:spPr>
          <a:xfrm>
            <a:off x="8873139" y="2865326"/>
            <a:ext cx="1891800" cy="2529697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rgbClr val="CCCCC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Neural Network Analysis and Operational Visualisation</a:t>
            </a:r>
            <a:endParaRPr sz="1100" b="1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lang="en-GB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Visualise DC &amp; AC loss curves</a:t>
            </a: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lang="en-GB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Compute </a:t>
            </a:r>
            <a:r>
              <a:rPr lang="en-GB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convergence speed, </a:t>
            </a:r>
            <a:r>
              <a:rPr lang="en-GB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iterations, </a:t>
            </a:r>
            <a:r>
              <a:rPr lang="en-GB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training time</a:t>
            </a:r>
            <a:endParaRPr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lang="en-GB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Time‑of‑day performance plots</a:t>
            </a: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33" name="Google Shape;633;p69"/>
          <p:cNvCxnSpPr/>
          <p:nvPr/>
        </p:nvCxnSpPr>
        <p:spPr>
          <a:xfrm>
            <a:off x="327025" y="1729675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634" name="Google Shape;634;p69"/>
          <p:cNvSpPr txBox="1">
            <a:spLocks noGrp="1"/>
          </p:cNvSpPr>
          <p:nvPr>
            <p:ph type="body" idx="1"/>
          </p:nvPr>
        </p:nvSpPr>
        <p:spPr>
          <a:xfrm>
            <a:off x="294900" y="1890875"/>
            <a:ext cx="11602200" cy="52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Workflow Overview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rgbClr val="3D85C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0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Task 3 Results </a:t>
            </a:r>
            <a:endParaRPr/>
          </a:p>
        </p:txBody>
      </p:sp>
      <p:sp>
        <p:nvSpPr>
          <p:cNvPr id="641" name="Google Shape;641;p70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  <p:sp>
        <p:nvSpPr>
          <p:cNvPr id="642" name="Google Shape;642;p70"/>
          <p:cNvSpPr txBox="1">
            <a:spLocks noGrp="1"/>
          </p:cNvSpPr>
          <p:nvPr>
            <p:ph type="subTitle" idx="2"/>
          </p:nvPr>
        </p:nvSpPr>
        <p:spPr>
          <a:xfrm>
            <a:off x="325800" y="620196"/>
            <a:ext cx="11540700" cy="371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accent1"/>
                </a:solidFill>
              </a:rPr>
              <a:t>Performance &amp; Insights</a:t>
            </a:r>
            <a:endParaRPr b="1">
              <a:solidFill>
                <a:schemeClr val="accent1"/>
              </a:solidFill>
            </a:endParaRPr>
          </a:p>
        </p:txBody>
      </p:sp>
      <p:pic>
        <p:nvPicPr>
          <p:cNvPr id="643" name="Google Shape;643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2253" y="2872700"/>
            <a:ext cx="3571876" cy="1770249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p70"/>
          <p:cNvSpPr txBox="1"/>
          <p:nvPr/>
        </p:nvSpPr>
        <p:spPr>
          <a:xfrm>
            <a:off x="982254" y="5019025"/>
            <a:ext cx="3941400" cy="3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0000FF"/>
                </a:solidFill>
              </a:rPr>
              <a:t>Bias-Variance  Analysis using RMSE Proxies</a:t>
            </a:r>
            <a:endParaRPr sz="1200" b="1">
              <a:solidFill>
                <a:srgbClr val="0000FF"/>
              </a:solidFill>
            </a:endParaRPr>
          </a:p>
        </p:txBody>
      </p:sp>
      <p:pic>
        <p:nvPicPr>
          <p:cNvPr id="645" name="Google Shape;645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8325" y="2978137"/>
            <a:ext cx="3401800" cy="1559374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70"/>
          <p:cNvSpPr txBox="1"/>
          <p:nvPr/>
        </p:nvSpPr>
        <p:spPr>
          <a:xfrm>
            <a:off x="6821775" y="5015875"/>
            <a:ext cx="3401700" cy="3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0000FF"/>
                </a:solidFill>
              </a:rPr>
              <a:t>Distribution of RMSE across 22 Inverters</a:t>
            </a:r>
            <a:endParaRPr sz="1200" b="1">
              <a:solidFill>
                <a:srgbClr val="0000FF"/>
              </a:solidFill>
            </a:endParaRPr>
          </a:p>
        </p:txBody>
      </p:sp>
      <p:pic>
        <p:nvPicPr>
          <p:cNvPr id="647" name="Google Shape;647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31346" y="3564515"/>
            <a:ext cx="2883748" cy="142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7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74125" y="3433605"/>
            <a:ext cx="2964726" cy="1467882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49" name="Google Shape;649;p70"/>
          <p:cNvSpPr/>
          <p:nvPr/>
        </p:nvSpPr>
        <p:spPr>
          <a:xfrm>
            <a:off x="4563875" y="4236025"/>
            <a:ext cx="593700" cy="724200"/>
          </a:xfrm>
          <a:prstGeom prst="ellipse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</a:endParaRPr>
          </a:p>
        </p:txBody>
      </p:sp>
      <p:sp>
        <p:nvSpPr>
          <p:cNvPr id="650" name="Google Shape;650;p70"/>
          <p:cNvSpPr/>
          <p:nvPr/>
        </p:nvSpPr>
        <p:spPr>
          <a:xfrm>
            <a:off x="11078875" y="3564525"/>
            <a:ext cx="452700" cy="626100"/>
          </a:xfrm>
          <a:prstGeom prst="ellipse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</a:endParaRPr>
          </a:p>
        </p:txBody>
      </p:sp>
      <p:cxnSp>
        <p:nvCxnSpPr>
          <p:cNvPr id="651" name="Google Shape;651;p70"/>
          <p:cNvCxnSpPr/>
          <p:nvPr/>
        </p:nvCxnSpPr>
        <p:spPr>
          <a:xfrm>
            <a:off x="325800" y="1194925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graphicFrame>
        <p:nvGraphicFramePr>
          <p:cNvPr id="652" name="Google Shape;652;p70"/>
          <p:cNvGraphicFramePr/>
          <p:nvPr/>
        </p:nvGraphicFramePr>
        <p:xfrm>
          <a:off x="1025600" y="1418063"/>
          <a:ext cx="4713250" cy="1249590"/>
        </p:xfrm>
        <a:graphic>
          <a:graphicData uri="http://schemas.openxmlformats.org/drawingml/2006/table">
            <a:tbl>
              <a:tblPr>
                <a:noFill/>
                <a:tableStyleId>{2D61336E-207F-45F0-9C57-169B66968ED6}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lt1"/>
                          </a:solidFill>
                        </a:rPr>
                        <a:t>Deviation &amp; Variance</a:t>
                      </a:r>
                      <a:endParaRPr sz="18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accent1"/>
                          </a:solidFill>
                        </a:rPr>
                        <a:t>Random Forest shows the smallest value</a:t>
                      </a:r>
                      <a:endParaRPr>
                        <a:solidFill>
                          <a:schemeClr val="accen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accent1"/>
                          </a:solidFill>
                        </a:rPr>
                        <a:t>Random Forest has the best accuracy and stability</a:t>
                      </a:r>
                      <a:endParaRPr>
                        <a:solidFill>
                          <a:schemeClr val="accen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53" name="Google Shape;653;p70"/>
          <p:cNvGraphicFramePr/>
          <p:nvPr/>
        </p:nvGraphicFramePr>
        <p:xfrm>
          <a:off x="6818325" y="1418063"/>
          <a:ext cx="4713250" cy="1462950"/>
        </p:xfrm>
        <a:graphic>
          <a:graphicData uri="http://schemas.openxmlformats.org/drawingml/2006/table">
            <a:tbl>
              <a:tblPr>
                <a:noFill/>
                <a:tableStyleId>{2D61336E-207F-45F0-9C57-169B66968ED6}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lt1"/>
                          </a:solidFill>
                        </a:rPr>
                        <a:t>RMSE in all inverters</a:t>
                      </a:r>
                      <a:endParaRPr sz="18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accent1"/>
                          </a:solidFill>
                        </a:rPr>
                        <a:t>Random Forest shows the  narrowest distribution</a:t>
                      </a:r>
                      <a:endParaRPr>
                        <a:solidFill>
                          <a:schemeClr val="accen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accent1"/>
                          </a:solidFill>
                        </a:rPr>
                        <a:t>Random Forest model performs consistently well across different hardware</a:t>
                      </a:r>
                      <a:endParaRPr>
                        <a:solidFill>
                          <a:schemeClr val="accent1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654" name="Google Shape;654;p70"/>
          <p:cNvCxnSpPr/>
          <p:nvPr/>
        </p:nvCxnSpPr>
        <p:spPr>
          <a:xfrm rot="10800000">
            <a:off x="6388875" y="1235175"/>
            <a:ext cx="0" cy="41235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71"/>
          <p:cNvSpPr/>
          <p:nvPr/>
        </p:nvSpPr>
        <p:spPr>
          <a:xfrm>
            <a:off x="5612600" y="1716800"/>
            <a:ext cx="5773800" cy="1521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71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 to Task 4</a:t>
            </a:r>
            <a:endParaRPr/>
          </a:p>
        </p:txBody>
      </p:sp>
      <p:sp>
        <p:nvSpPr>
          <p:cNvPr id="662" name="Google Shape;662;p71"/>
          <p:cNvSpPr txBox="1">
            <a:spLocks noGrp="1"/>
          </p:cNvSpPr>
          <p:nvPr>
            <p:ph type="body" idx="1"/>
          </p:nvPr>
        </p:nvSpPr>
        <p:spPr>
          <a:xfrm>
            <a:off x="265525" y="620200"/>
            <a:ext cx="11828100" cy="1200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Objective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3D85C6"/>
                </a:solidFill>
              </a:rPr>
              <a:t>Detect suboptimal inverter operating conditions in solar plants using interpretable, data‑driven machine learning models.</a:t>
            </a:r>
            <a:endParaRPr sz="1600" b="1">
              <a:solidFill>
                <a:srgbClr val="3D85C6"/>
              </a:solidFill>
            </a:endParaRPr>
          </a:p>
        </p:txBody>
      </p:sp>
      <p:sp>
        <p:nvSpPr>
          <p:cNvPr id="663" name="Google Shape;663;p71"/>
          <p:cNvSpPr txBox="1">
            <a:spLocks noGrp="1"/>
          </p:cNvSpPr>
          <p:nvPr>
            <p:ph type="sldNum" idx="12"/>
          </p:nvPr>
        </p:nvSpPr>
        <p:spPr>
          <a:xfrm>
            <a:off x="48728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cxnSp>
        <p:nvCxnSpPr>
          <p:cNvPr id="664" name="Google Shape;664;p71"/>
          <p:cNvCxnSpPr/>
          <p:nvPr/>
        </p:nvCxnSpPr>
        <p:spPr>
          <a:xfrm>
            <a:off x="327025" y="1462100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665" name="Google Shape;665;p71"/>
          <p:cNvSpPr/>
          <p:nvPr/>
        </p:nvSpPr>
        <p:spPr>
          <a:xfrm>
            <a:off x="325800" y="2182299"/>
            <a:ext cx="4366200" cy="1207225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 dirty="0">
                <a:solidFill>
                  <a:schemeClr val="dk2"/>
                </a:solidFill>
              </a:rPr>
              <a:t>Data Loading &amp; Cleaning</a:t>
            </a:r>
            <a:endParaRPr dirty="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 dirty="0">
                <a:solidFill>
                  <a:schemeClr val="dk2"/>
                </a:solidFill>
              </a:rPr>
              <a:t>Import inverter + weather data (Plant 1 &amp; 2).</a:t>
            </a:r>
            <a:endParaRPr sz="1100" dirty="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 dirty="0">
                <a:solidFill>
                  <a:schemeClr val="dk2"/>
                </a:solidFill>
              </a:rPr>
              <a:t>Fix timestamps, clean AC/DC power, yields, and irradiation.</a:t>
            </a:r>
            <a:endParaRPr sz="1100" dirty="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 dirty="0">
                <a:solidFill>
                  <a:schemeClr val="dk2"/>
                </a:solidFill>
              </a:rPr>
              <a:t>Remove outliers via regression residual analysis.</a:t>
            </a:r>
            <a:endParaRPr sz="1200" dirty="0">
              <a:solidFill>
                <a:schemeClr val="dk2"/>
              </a:solidFill>
            </a:endParaRPr>
          </a:p>
        </p:txBody>
      </p:sp>
      <p:sp>
        <p:nvSpPr>
          <p:cNvPr id="666" name="Google Shape;666;p71"/>
          <p:cNvSpPr/>
          <p:nvPr/>
        </p:nvSpPr>
        <p:spPr>
          <a:xfrm>
            <a:off x="2754100" y="3737800"/>
            <a:ext cx="1891800" cy="23463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</a:rPr>
              <a:t>Time‑Based Splitting</a:t>
            </a:r>
            <a:endParaRPr sz="1100" b="1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Chronological train / </a:t>
            </a:r>
            <a:endParaRPr sz="1100">
              <a:solidFill>
                <a:schemeClr val="dk2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</a:rPr>
              <a:t>validation / test split </a:t>
            </a:r>
            <a:endParaRPr sz="1100">
              <a:solidFill>
                <a:schemeClr val="dk2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chemeClr val="dk2"/>
                </a:solidFill>
              </a:rPr>
              <a:t>→ prevent leakage.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67" name="Google Shape;667;p71"/>
          <p:cNvSpPr/>
          <p:nvPr/>
        </p:nvSpPr>
        <p:spPr>
          <a:xfrm>
            <a:off x="325800" y="3737800"/>
            <a:ext cx="1893600" cy="23463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</a:rPr>
              <a:t>Feature Engineering</a:t>
            </a:r>
            <a:endParaRPr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Compute ratios: AC/IRRA, DC/IRRA.</a:t>
            </a:r>
            <a:endParaRPr sz="1100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Add temperature + yield features.</a:t>
            </a:r>
            <a:endParaRPr sz="1100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Label target: Optimal (0) / Suboptimal (1).</a:t>
            </a:r>
            <a:endParaRPr sz="11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68" name="Google Shape;668;p71"/>
          <p:cNvSpPr/>
          <p:nvPr/>
        </p:nvSpPr>
        <p:spPr>
          <a:xfrm>
            <a:off x="7609800" y="3737800"/>
            <a:ext cx="1891800" cy="23463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</a:rPr>
              <a:t>Interpretability</a:t>
            </a:r>
            <a:endParaRPr sz="1100" b="1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ALE plots → feature impact direction.</a:t>
            </a:r>
            <a:endParaRPr sz="110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Drop‑Column Importance → quantify feature contribution.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69" name="Google Shape;669;p71"/>
          <p:cNvSpPr/>
          <p:nvPr/>
        </p:nvSpPr>
        <p:spPr>
          <a:xfrm>
            <a:off x="5181500" y="3737750"/>
            <a:ext cx="1891800" cy="23463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</a:rPr>
              <a:t>Model Training</a:t>
            </a:r>
            <a:endParaRPr sz="1100" b="1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Models: Logistic Regression &amp; Linear SVC 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</a:rPr>
              <a:t>(with &amp; without scaling).</a:t>
            </a:r>
            <a:endParaRPr sz="110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Balanced class weights; F1‑optimised thresholds for suboptimal detection.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670" name="Google Shape;670;p71"/>
          <p:cNvSpPr txBox="1">
            <a:spLocks noGrp="1"/>
          </p:cNvSpPr>
          <p:nvPr>
            <p:ph type="body" idx="1"/>
          </p:nvPr>
        </p:nvSpPr>
        <p:spPr>
          <a:xfrm>
            <a:off x="265525" y="1626675"/>
            <a:ext cx="11602200" cy="52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Workflow Overview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rgbClr val="3D85C6"/>
              </a:solidFill>
            </a:endParaRPr>
          </a:p>
        </p:txBody>
      </p:sp>
      <p:sp>
        <p:nvSpPr>
          <p:cNvPr id="671" name="Google Shape;671;p71"/>
          <p:cNvSpPr/>
          <p:nvPr/>
        </p:nvSpPr>
        <p:spPr>
          <a:xfrm>
            <a:off x="10138625" y="3737800"/>
            <a:ext cx="1891800" cy="23463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2"/>
                </a:solidFill>
              </a:rPr>
              <a:t>Experiments</a:t>
            </a:r>
            <a:endParaRPr sz="1100" b="1">
              <a:solidFill>
                <a:schemeClr val="dk1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With / without outlier removal.</a:t>
            </a:r>
            <a:endParaRPr sz="110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Before / after feature selection.</a:t>
            </a:r>
            <a:endParaRPr sz="1100">
              <a:solidFill>
                <a:schemeClr val="dk2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Compare Plant 1 vs Plant 2.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72" name="Google Shape;672;p71"/>
          <p:cNvSpPr txBox="1">
            <a:spLocks noGrp="1"/>
          </p:cNvSpPr>
          <p:nvPr>
            <p:ph type="body" idx="1"/>
          </p:nvPr>
        </p:nvSpPr>
        <p:spPr>
          <a:xfrm>
            <a:off x="5830225" y="1933650"/>
            <a:ext cx="2439000" cy="52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accent1"/>
                </a:solidFill>
              </a:rPr>
              <a:t>Key Takeaway</a:t>
            </a:r>
            <a:endParaRPr sz="18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rgbClr val="3D85C6"/>
              </a:solidFill>
            </a:endParaRPr>
          </a:p>
        </p:txBody>
      </p:sp>
      <p:sp>
        <p:nvSpPr>
          <p:cNvPr id="673" name="Google Shape;673;p71"/>
          <p:cNvSpPr txBox="1"/>
          <p:nvPr/>
        </p:nvSpPr>
        <p:spPr>
          <a:xfrm>
            <a:off x="5841225" y="2315950"/>
            <a:ext cx="5706900" cy="7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Feature Scaling improves all models.</a:t>
            </a:r>
            <a:endParaRPr sz="1100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Feature Selection (Drop‑Column) enhances stability &amp; interpretability.</a:t>
            </a:r>
            <a:endParaRPr sz="1100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-GB" sz="1100">
                <a:solidFill>
                  <a:schemeClr val="dk2"/>
                </a:solidFill>
              </a:rPr>
              <a:t>Outlier Removal did not improve performance — some were valid points.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674" name="Google Shape;674;p71"/>
          <p:cNvSpPr/>
          <p:nvPr/>
        </p:nvSpPr>
        <p:spPr>
          <a:xfrm rot="10800000" flipH="1">
            <a:off x="-725304" y="-35461003"/>
            <a:ext cx="725200" cy="995686"/>
          </a:xfrm>
          <a:custGeom>
            <a:avLst/>
            <a:gdLst/>
            <a:ahLst/>
            <a:cxnLst/>
            <a:rect l="l" t="t" r="r" b="b"/>
            <a:pathLst>
              <a:path w="817" h="921" extrusionOk="0">
                <a:moveTo>
                  <a:pt x="0" y="0"/>
                </a:moveTo>
                <a:lnTo>
                  <a:pt x="697" y="0"/>
                </a:lnTo>
                <a:lnTo>
                  <a:pt x="816" y="555"/>
                </a:lnTo>
                <a:lnTo>
                  <a:pt x="745" y="817"/>
                </a:lnTo>
                <a:lnTo>
                  <a:pt x="626" y="817"/>
                </a:lnTo>
                <a:lnTo>
                  <a:pt x="562" y="920"/>
                </a:lnTo>
                <a:lnTo>
                  <a:pt x="491" y="817"/>
                </a:lnTo>
                <a:lnTo>
                  <a:pt x="71" y="817"/>
                </a:lnTo>
                <a:lnTo>
                  <a:pt x="111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71"/>
          <p:cNvSpPr/>
          <p:nvPr/>
        </p:nvSpPr>
        <p:spPr>
          <a:xfrm rot="10800000" flipH="1">
            <a:off x="-3494310" y="-35665618"/>
            <a:ext cx="732301" cy="1200301"/>
          </a:xfrm>
          <a:custGeom>
            <a:avLst/>
            <a:gdLst/>
            <a:ahLst/>
            <a:cxnLst/>
            <a:rect l="l" t="t" r="r" b="b"/>
            <a:pathLst>
              <a:path w="825" h="1113" extrusionOk="0">
                <a:moveTo>
                  <a:pt x="0" y="0"/>
                </a:moveTo>
                <a:lnTo>
                  <a:pt x="697" y="0"/>
                </a:lnTo>
                <a:lnTo>
                  <a:pt x="824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71"/>
          <p:cNvSpPr/>
          <p:nvPr/>
        </p:nvSpPr>
        <p:spPr>
          <a:xfrm rot="10800000" flipH="1">
            <a:off x="-2799126" y="-35665618"/>
            <a:ext cx="725200" cy="1200301"/>
          </a:xfrm>
          <a:custGeom>
            <a:avLst/>
            <a:gdLst/>
            <a:ahLst/>
            <a:cxnLst/>
            <a:rect l="l" t="t" r="r" b="b"/>
            <a:pathLst>
              <a:path w="817" h="1113" extrusionOk="0">
                <a:moveTo>
                  <a:pt x="0" y="0"/>
                </a:moveTo>
                <a:lnTo>
                  <a:pt x="697" y="0"/>
                </a:lnTo>
                <a:lnTo>
                  <a:pt x="816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71"/>
          <p:cNvSpPr/>
          <p:nvPr/>
        </p:nvSpPr>
        <p:spPr>
          <a:xfrm rot="10800000" flipH="1">
            <a:off x="-2116737" y="-35665618"/>
            <a:ext cx="739402" cy="1200301"/>
          </a:xfrm>
          <a:custGeom>
            <a:avLst/>
            <a:gdLst/>
            <a:ahLst/>
            <a:cxnLst/>
            <a:rect l="l" t="t" r="r" b="b"/>
            <a:pathLst>
              <a:path w="833" h="1113" extrusionOk="0">
                <a:moveTo>
                  <a:pt x="0" y="0"/>
                </a:moveTo>
                <a:lnTo>
                  <a:pt x="713" y="0"/>
                </a:lnTo>
                <a:lnTo>
                  <a:pt x="832" y="556"/>
                </a:lnTo>
                <a:lnTo>
                  <a:pt x="713" y="1112"/>
                </a:lnTo>
                <a:lnTo>
                  <a:pt x="0" y="1112"/>
                </a:lnTo>
                <a:lnTo>
                  <a:pt x="127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71"/>
          <p:cNvSpPr/>
          <p:nvPr/>
        </p:nvSpPr>
        <p:spPr>
          <a:xfrm rot="10800000" flipH="1">
            <a:off x="-1422620" y="-35346401"/>
            <a:ext cx="734502" cy="881083"/>
          </a:xfrm>
          <a:custGeom>
            <a:avLst/>
            <a:gdLst/>
            <a:ahLst/>
            <a:cxnLst/>
            <a:rect l="l" t="t" r="r" b="b"/>
            <a:pathLst>
              <a:path w="825" h="817" extrusionOk="0">
                <a:moveTo>
                  <a:pt x="0" y="0"/>
                </a:moveTo>
                <a:lnTo>
                  <a:pt x="705" y="0"/>
                </a:lnTo>
                <a:lnTo>
                  <a:pt x="824" y="555"/>
                </a:lnTo>
                <a:lnTo>
                  <a:pt x="761" y="816"/>
                </a:lnTo>
                <a:lnTo>
                  <a:pt x="341" y="816"/>
                </a:lnTo>
                <a:lnTo>
                  <a:pt x="269" y="713"/>
                </a:lnTo>
                <a:lnTo>
                  <a:pt x="198" y="816"/>
                </a:lnTo>
                <a:lnTo>
                  <a:pt x="63" y="816"/>
                </a:lnTo>
                <a:lnTo>
                  <a:pt x="119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71"/>
          <p:cNvSpPr/>
          <p:nvPr/>
        </p:nvSpPr>
        <p:spPr>
          <a:xfrm>
            <a:off x="156149" y="153840"/>
            <a:ext cx="680" cy="937"/>
          </a:xfrm>
          <a:custGeom>
            <a:avLst/>
            <a:gdLst/>
            <a:ahLst/>
            <a:cxnLst/>
            <a:rect l="l" t="t" r="r" b="b"/>
            <a:pathLst>
              <a:path w="817" h="921" extrusionOk="0">
                <a:moveTo>
                  <a:pt x="0" y="0"/>
                </a:moveTo>
                <a:lnTo>
                  <a:pt x="697" y="0"/>
                </a:lnTo>
                <a:lnTo>
                  <a:pt x="816" y="555"/>
                </a:lnTo>
                <a:lnTo>
                  <a:pt x="745" y="817"/>
                </a:lnTo>
                <a:lnTo>
                  <a:pt x="626" y="817"/>
                </a:lnTo>
                <a:lnTo>
                  <a:pt x="562" y="920"/>
                </a:lnTo>
                <a:lnTo>
                  <a:pt x="491" y="817"/>
                </a:lnTo>
                <a:lnTo>
                  <a:pt x="71" y="817"/>
                </a:lnTo>
                <a:lnTo>
                  <a:pt x="111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71"/>
          <p:cNvSpPr/>
          <p:nvPr/>
        </p:nvSpPr>
        <p:spPr>
          <a:xfrm>
            <a:off x="153552" y="153840"/>
            <a:ext cx="687" cy="1130"/>
          </a:xfrm>
          <a:custGeom>
            <a:avLst/>
            <a:gdLst/>
            <a:ahLst/>
            <a:cxnLst/>
            <a:rect l="l" t="t" r="r" b="b"/>
            <a:pathLst>
              <a:path w="825" h="1113" extrusionOk="0">
                <a:moveTo>
                  <a:pt x="0" y="0"/>
                </a:moveTo>
                <a:lnTo>
                  <a:pt x="697" y="0"/>
                </a:lnTo>
                <a:lnTo>
                  <a:pt x="824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71"/>
          <p:cNvSpPr/>
          <p:nvPr/>
        </p:nvSpPr>
        <p:spPr>
          <a:xfrm>
            <a:off x="154204" y="153840"/>
            <a:ext cx="680" cy="1130"/>
          </a:xfrm>
          <a:custGeom>
            <a:avLst/>
            <a:gdLst/>
            <a:ahLst/>
            <a:cxnLst/>
            <a:rect l="l" t="t" r="r" b="b"/>
            <a:pathLst>
              <a:path w="817" h="1113" extrusionOk="0">
                <a:moveTo>
                  <a:pt x="0" y="0"/>
                </a:moveTo>
                <a:lnTo>
                  <a:pt x="697" y="0"/>
                </a:lnTo>
                <a:lnTo>
                  <a:pt x="816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71"/>
          <p:cNvSpPr/>
          <p:nvPr/>
        </p:nvSpPr>
        <p:spPr>
          <a:xfrm>
            <a:off x="154844" y="153840"/>
            <a:ext cx="693" cy="1130"/>
          </a:xfrm>
          <a:custGeom>
            <a:avLst/>
            <a:gdLst/>
            <a:ahLst/>
            <a:cxnLst/>
            <a:rect l="l" t="t" r="r" b="b"/>
            <a:pathLst>
              <a:path w="833" h="1113" extrusionOk="0">
                <a:moveTo>
                  <a:pt x="0" y="0"/>
                </a:moveTo>
                <a:lnTo>
                  <a:pt x="713" y="0"/>
                </a:lnTo>
                <a:lnTo>
                  <a:pt x="832" y="556"/>
                </a:lnTo>
                <a:lnTo>
                  <a:pt x="713" y="1112"/>
                </a:lnTo>
                <a:lnTo>
                  <a:pt x="0" y="1112"/>
                </a:lnTo>
                <a:lnTo>
                  <a:pt x="127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71"/>
          <p:cNvSpPr/>
          <p:nvPr/>
        </p:nvSpPr>
        <p:spPr>
          <a:xfrm>
            <a:off x="155495" y="153840"/>
            <a:ext cx="689" cy="829"/>
          </a:xfrm>
          <a:custGeom>
            <a:avLst/>
            <a:gdLst/>
            <a:ahLst/>
            <a:cxnLst/>
            <a:rect l="l" t="t" r="r" b="b"/>
            <a:pathLst>
              <a:path w="825" h="817" extrusionOk="0">
                <a:moveTo>
                  <a:pt x="0" y="0"/>
                </a:moveTo>
                <a:lnTo>
                  <a:pt x="705" y="0"/>
                </a:lnTo>
                <a:lnTo>
                  <a:pt x="824" y="555"/>
                </a:lnTo>
                <a:lnTo>
                  <a:pt x="761" y="816"/>
                </a:lnTo>
                <a:lnTo>
                  <a:pt x="341" y="816"/>
                </a:lnTo>
                <a:lnTo>
                  <a:pt x="269" y="713"/>
                </a:lnTo>
                <a:lnTo>
                  <a:pt x="198" y="816"/>
                </a:lnTo>
                <a:lnTo>
                  <a:pt x="63" y="816"/>
                </a:lnTo>
                <a:lnTo>
                  <a:pt x="119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4" name="Google Shape;684;p71"/>
          <p:cNvGrpSpPr/>
          <p:nvPr/>
        </p:nvGrpSpPr>
        <p:grpSpPr>
          <a:xfrm>
            <a:off x="10654934" y="1820506"/>
            <a:ext cx="623691" cy="936685"/>
            <a:chOff x="7312025" y="1441450"/>
            <a:chExt cx="863599" cy="1296989"/>
          </a:xfrm>
        </p:grpSpPr>
        <p:sp>
          <p:nvSpPr>
            <p:cNvPr id="685" name="Google Shape;685;p71"/>
            <p:cNvSpPr/>
            <p:nvPr/>
          </p:nvSpPr>
          <p:spPr>
            <a:xfrm>
              <a:off x="7312025" y="1441450"/>
              <a:ext cx="863599" cy="1296989"/>
            </a:xfrm>
            <a:custGeom>
              <a:avLst/>
              <a:gdLst/>
              <a:ahLst/>
              <a:cxnLst/>
              <a:rect l="l" t="t" r="r" b="b"/>
              <a:pathLst>
                <a:path w="517" h="776" extrusionOk="0">
                  <a:moveTo>
                    <a:pt x="509" y="217"/>
                  </a:moveTo>
                  <a:cubicBezTo>
                    <a:pt x="505" y="192"/>
                    <a:pt x="498" y="167"/>
                    <a:pt x="486" y="145"/>
                  </a:cubicBezTo>
                  <a:cubicBezTo>
                    <a:pt x="438" y="52"/>
                    <a:pt x="360" y="5"/>
                    <a:pt x="256" y="0"/>
                  </a:cubicBezTo>
                  <a:cubicBezTo>
                    <a:pt x="238" y="0"/>
                    <a:pt x="221" y="2"/>
                    <a:pt x="203" y="6"/>
                  </a:cubicBezTo>
                  <a:cubicBezTo>
                    <a:pt x="91" y="30"/>
                    <a:pt x="12" y="124"/>
                    <a:pt x="2" y="229"/>
                  </a:cubicBezTo>
                  <a:cubicBezTo>
                    <a:pt x="0" y="248"/>
                    <a:pt x="0" y="266"/>
                    <a:pt x="2" y="285"/>
                  </a:cubicBezTo>
                  <a:cubicBezTo>
                    <a:pt x="6" y="324"/>
                    <a:pt x="20" y="361"/>
                    <a:pt x="41" y="394"/>
                  </a:cubicBezTo>
                  <a:cubicBezTo>
                    <a:pt x="59" y="422"/>
                    <a:pt x="81" y="446"/>
                    <a:pt x="109" y="466"/>
                  </a:cubicBezTo>
                  <a:cubicBezTo>
                    <a:pt x="110" y="467"/>
                    <a:pt x="112" y="469"/>
                    <a:pt x="112" y="471"/>
                  </a:cubicBezTo>
                  <a:cubicBezTo>
                    <a:pt x="116" y="493"/>
                    <a:pt x="118" y="516"/>
                    <a:pt x="122" y="538"/>
                  </a:cubicBezTo>
                  <a:cubicBezTo>
                    <a:pt x="123" y="546"/>
                    <a:pt x="125" y="554"/>
                    <a:pt x="127" y="563"/>
                  </a:cubicBezTo>
                  <a:cubicBezTo>
                    <a:pt x="127" y="564"/>
                    <a:pt x="127" y="567"/>
                    <a:pt x="126" y="568"/>
                  </a:cubicBezTo>
                  <a:cubicBezTo>
                    <a:pt x="122" y="580"/>
                    <a:pt x="122" y="591"/>
                    <a:pt x="125" y="603"/>
                  </a:cubicBezTo>
                  <a:cubicBezTo>
                    <a:pt x="126" y="604"/>
                    <a:pt x="126" y="606"/>
                    <a:pt x="125" y="608"/>
                  </a:cubicBezTo>
                  <a:cubicBezTo>
                    <a:pt x="122" y="619"/>
                    <a:pt x="122" y="629"/>
                    <a:pt x="125" y="640"/>
                  </a:cubicBezTo>
                  <a:cubicBezTo>
                    <a:pt x="126" y="641"/>
                    <a:pt x="126" y="643"/>
                    <a:pt x="125" y="645"/>
                  </a:cubicBezTo>
                  <a:cubicBezTo>
                    <a:pt x="116" y="673"/>
                    <a:pt x="132" y="702"/>
                    <a:pt x="162" y="710"/>
                  </a:cubicBezTo>
                  <a:cubicBezTo>
                    <a:pt x="164" y="710"/>
                    <a:pt x="165" y="711"/>
                    <a:pt x="165" y="714"/>
                  </a:cubicBezTo>
                  <a:cubicBezTo>
                    <a:pt x="167" y="725"/>
                    <a:pt x="173" y="735"/>
                    <a:pt x="182" y="743"/>
                  </a:cubicBezTo>
                  <a:cubicBezTo>
                    <a:pt x="224" y="776"/>
                    <a:pt x="289" y="776"/>
                    <a:pt x="330" y="743"/>
                  </a:cubicBezTo>
                  <a:cubicBezTo>
                    <a:pt x="340" y="735"/>
                    <a:pt x="346" y="725"/>
                    <a:pt x="347" y="713"/>
                  </a:cubicBezTo>
                  <a:cubicBezTo>
                    <a:pt x="348" y="711"/>
                    <a:pt x="348" y="710"/>
                    <a:pt x="351" y="710"/>
                  </a:cubicBezTo>
                  <a:cubicBezTo>
                    <a:pt x="380" y="702"/>
                    <a:pt x="396" y="674"/>
                    <a:pt x="387" y="645"/>
                  </a:cubicBezTo>
                  <a:cubicBezTo>
                    <a:pt x="387" y="643"/>
                    <a:pt x="387" y="641"/>
                    <a:pt x="387" y="639"/>
                  </a:cubicBezTo>
                  <a:cubicBezTo>
                    <a:pt x="390" y="629"/>
                    <a:pt x="390" y="619"/>
                    <a:pt x="387" y="608"/>
                  </a:cubicBezTo>
                  <a:cubicBezTo>
                    <a:pt x="387" y="606"/>
                    <a:pt x="387" y="604"/>
                    <a:pt x="387" y="603"/>
                  </a:cubicBezTo>
                  <a:cubicBezTo>
                    <a:pt x="389" y="596"/>
                    <a:pt x="390" y="588"/>
                    <a:pt x="389" y="581"/>
                  </a:cubicBezTo>
                  <a:cubicBezTo>
                    <a:pt x="388" y="576"/>
                    <a:pt x="385" y="571"/>
                    <a:pt x="385" y="565"/>
                  </a:cubicBezTo>
                  <a:cubicBezTo>
                    <a:pt x="385" y="560"/>
                    <a:pt x="388" y="555"/>
                    <a:pt x="389" y="550"/>
                  </a:cubicBezTo>
                  <a:cubicBezTo>
                    <a:pt x="393" y="524"/>
                    <a:pt x="396" y="498"/>
                    <a:pt x="400" y="472"/>
                  </a:cubicBezTo>
                  <a:cubicBezTo>
                    <a:pt x="400" y="469"/>
                    <a:pt x="402" y="467"/>
                    <a:pt x="404" y="465"/>
                  </a:cubicBezTo>
                  <a:cubicBezTo>
                    <a:pt x="439" y="440"/>
                    <a:pt x="467" y="408"/>
                    <a:pt x="486" y="369"/>
                  </a:cubicBezTo>
                  <a:cubicBezTo>
                    <a:pt x="509" y="321"/>
                    <a:pt x="517" y="270"/>
                    <a:pt x="509" y="217"/>
                  </a:cubicBezTo>
                  <a:close/>
                  <a:moveTo>
                    <a:pt x="170" y="611"/>
                  </a:moveTo>
                  <a:cubicBezTo>
                    <a:pt x="184" y="607"/>
                    <a:pt x="198" y="604"/>
                    <a:pt x="212" y="601"/>
                  </a:cubicBezTo>
                  <a:cubicBezTo>
                    <a:pt x="253" y="592"/>
                    <a:pt x="294" y="583"/>
                    <a:pt x="334" y="574"/>
                  </a:cubicBezTo>
                  <a:cubicBezTo>
                    <a:pt x="341" y="573"/>
                    <a:pt x="346" y="573"/>
                    <a:pt x="350" y="579"/>
                  </a:cubicBezTo>
                  <a:cubicBezTo>
                    <a:pt x="353" y="584"/>
                    <a:pt x="354" y="589"/>
                    <a:pt x="351" y="594"/>
                  </a:cubicBezTo>
                  <a:cubicBezTo>
                    <a:pt x="349" y="598"/>
                    <a:pt x="345" y="600"/>
                    <a:pt x="341" y="601"/>
                  </a:cubicBezTo>
                  <a:cubicBezTo>
                    <a:pt x="288" y="612"/>
                    <a:pt x="236" y="624"/>
                    <a:pt x="183" y="636"/>
                  </a:cubicBezTo>
                  <a:cubicBezTo>
                    <a:pt x="180" y="636"/>
                    <a:pt x="177" y="637"/>
                    <a:pt x="175" y="637"/>
                  </a:cubicBezTo>
                  <a:cubicBezTo>
                    <a:pt x="166" y="637"/>
                    <a:pt x="161" y="633"/>
                    <a:pt x="160" y="625"/>
                  </a:cubicBezTo>
                  <a:cubicBezTo>
                    <a:pt x="159" y="619"/>
                    <a:pt x="163" y="612"/>
                    <a:pt x="170" y="611"/>
                  </a:cubicBezTo>
                  <a:close/>
                  <a:moveTo>
                    <a:pt x="171" y="573"/>
                  </a:moveTo>
                  <a:cubicBezTo>
                    <a:pt x="172" y="573"/>
                    <a:pt x="173" y="573"/>
                    <a:pt x="174" y="573"/>
                  </a:cubicBezTo>
                  <a:cubicBezTo>
                    <a:pt x="213" y="573"/>
                    <a:pt x="251" y="573"/>
                    <a:pt x="289" y="573"/>
                  </a:cubicBezTo>
                  <a:cubicBezTo>
                    <a:pt x="290" y="573"/>
                    <a:pt x="290" y="573"/>
                    <a:pt x="291" y="573"/>
                  </a:cubicBezTo>
                  <a:cubicBezTo>
                    <a:pt x="291" y="574"/>
                    <a:pt x="291" y="574"/>
                    <a:pt x="291" y="574"/>
                  </a:cubicBezTo>
                  <a:cubicBezTo>
                    <a:pt x="265" y="580"/>
                    <a:pt x="239" y="586"/>
                    <a:pt x="214" y="591"/>
                  </a:cubicBezTo>
                  <a:cubicBezTo>
                    <a:pt x="201" y="594"/>
                    <a:pt x="188" y="597"/>
                    <a:pt x="176" y="600"/>
                  </a:cubicBezTo>
                  <a:cubicBezTo>
                    <a:pt x="168" y="602"/>
                    <a:pt x="161" y="596"/>
                    <a:pt x="160" y="589"/>
                  </a:cubicBezTo>
                  <a:cubicBezTo>
                    <a:pt x="159" y="582"/>
                    <a:pt x="164" y="574"/>
                    <a:pt x="171" y="573"/>
                  </a:cubicBezTo>
                  <a:close/>
                  <a:moveTo>
                    <a:pt x="177" y="674"/>
                  </a:moveTo>
                  <a:cubicBezTo>
                    <a:pt x="176" y="674"/>
                    <a:pt x="175" y="674"/>
                    <a:pt x="174" y="674"/>
                  </a:cubicBezTo>
                  <a:cubicBezTo>
                    <a:pt x="166" y="674"/>
                    <a:pt x="160" y="669"/>
                    <a:pt x="160" y="662"/>
                  </a:cubicBezTo>
                  <a:cubicBezTo>
                    <a:pt x="159" y="655"/>
                    <a:pt x="164" y="649"/>
                    <a:pt x="171" y="647"/>
                  </a:cubicBezTo>
                  <a:cubicBezTo>
                    <a:pt x="181" y="645"/>
                    <a:pt x="192" y="642"/>
                    <a:pt x="202" y="640"/>
                  </a:cubicBezTo>
                  <a:cubicBezTo>
                    <a:pt x="247" y="630"/>
                    <a:pt x="291" y="620"/>
                    <a:pt x="336" y="610"/>
                  </a:cubicBezTo>
                  <a:cubicBezTo>
                    <a:pt x="344" y="609"/>
                    <a:pt x="351" y="613"/>
                    <a:pt x="352" y="621"/>
                  </a:cubicBezTo>
                  <a:cubicBezTo>
                    <a:pt x="354" y="628"/>
                    <a:pt x="350" y="635"/>
                    <a:pt x="342" y="637"/>
                  </a:cubicBezTo>
                  <a:cubicBezTo>
                    <a:pt x="329" y="640"/>
                    <a:pt x="316" y="643"/>
                    <a:pt x="303" y="646"/>
                  </a:cubicBezTo>
                  <a:cubicBezTo>
                    <a:pt x="261" y="655"/>
                    <a:pt x="219" y="664"/>
                    <a:pt x="177" y="674"/>
                  </a:cubicBezTo>
                  <a:close/>
                  <a:moveTo>
                    <a:pt x="307" y="714"/>
                  </a:moveTo>
                  <a:cubicBezTo>
                    <a:pt x="292" y="725"/>
                    <a:pt x="275" y="731"/>
                    <a:pt x="256" y="731"/>
                  </a:cubicBezTo>
                  <a:cubicBezTo>
                    <a:pt x="237" y="731"/>
                    <a:pt x="220" y="725"/>
                    <a:pt x="205" y="714"/>
                  </a:cubicBezTo>
                  <a:cubicBezTo>
                    <a:pt x="201" y="711"/>
                    <a:pt x="200" y="705"/>
                    <a:pt x="203" y="701"/>
                  </a:cubicBezTo>
                  <a:cubicBezTo>
                    <a:pt x="205" y="697"/>
                    <a:pt x="211" y="696"/>
                    <a:pt x="215" y="699"/>
                  </a:cubicBezTo>
                  <a:cubicBezTo>
                    <a:pt x="222" y="702"/>
                    <a:pt x="229" y="707"/>
                    <a:pt x="237" y="709"/>
                  </a:cubicBezTo>
                  <a:cubicBezTo>
                    <a:pt x="255" y="715"/>
                    <a:pt x="272" y="713"/>
                    <a:pt x="288" y="704"/>
                  </a:cubicBezTo>
                  <a:cubicBezTo>
                    <a:pt x="291" y="703"/>
                    <a:pt x="294" y="701"/>
                    <a:pt x="297" y="699"/>
                  </a:cubicBezTo>
                  <a:cubicBezTo>
                    <a:pt x="302" y="696"/>
                    <a:pt x="307" y="697"/>
                    <a:pt x="310" y="702"/>
                  </a:cubicBezTo>
                  <a:cubicBezTo>
                    <a:pt x="313" y="706"/>
                    <a:pt x="311" y="712"/>
                    <a:pt x="307" y="714"/>
                  </a:cubicBezTo>
                  <a:close/>
                  <a:moveTo>
                    <a:pt x="350" y="669"/>
                  </a:moveTo>
                  <a:cubicBezTo>
                    <a:pt x="347" y="671"/>
                    <a:pt x="343" y="674"/>
                    <a:pt x="340" y="674"/>
                  </a:cubicBezTo>
                  <a:cubicBezTo>
                    <a:pt x="300" y="674"/>
                    <a:pt x="260" y="674"/>
                    <a:pt x="221" y="674"/>
                  </a:cubicBezTo>
                  <a:cubicBezTo>
                    <a:pt x="221" y="674"/>
                    <a:pt x="221" y="674"/>
                    <a:pt x="221" y="674"/>
                  </a:cubicBezTo>
                  <a:cubicBezTo>
                    <a:pt x="230" y="672"/>
                    <a:pt x="239" y="670"/>
                    <a:pt x="248" y="668"/>
                  </a:cubicBezTo>
                  <a:cubicBezTo>
                    <a:pt x="278" y="661"/>
                    <a:pt x="307" y="654"/>
                    <a:pt x="337" y="648"/>
                  </a:cubicBezTo>
                  <a:cubicBezTo>
                    <a:pt x="343" y="646"/>
                    <a:pt x="348" y="648"/>
                    <a:pt x="351" y="653"/>
                  </a:cubicBezTo>
                  <a:cubicBezTo>
                    <a:pt x="354" y="658"/>
                    <a:pt x="354" y="665"/>
                    <a:pt x="350" y="669"/>
                  </a:cubicBezTo>
                  <a:close/>
                  <a:moveTo>
                    <a:pt x="461" y="273"/>
                  </a:moveTo>
                  <a:cubicBezTo>
                    <a:pt x="454" y="344"/>
                    <a:pt x="419" y="398"/>
                    <a:pt x="358" y="435"/>
                  </a:cubicBezTo>
                  <a:cubicBezTo>
                    <a:pt x="355" y="437"/>
                    <a:pt x="354" y="439"/>
                    <a:pt x="353" y="442"/>
                  </a:cubicBezTo>
                  <a:cubicBezTo>
                    <a:pt x="349" y="472"/>
                    <a:pt x="345" y="503"/>
                    <a:pt x="340" y="533"/>
                  </a:cubicBezTo>
                  <a:cubicBezTo>
                    <a:pt x="340" y="537"/>
                    <a:pt x="339" y="540"/>
                    <a:pt x="339" y="544"/>
                  </a:cubicBezTo>
                  <a:cubicBezTo>
                    <a:pt x="326" y="544"/>
                    <a:pt x="313" y="544"/>
                    <a:pt x="300" y="544"/>
                  </a:cubicBezTo>
                  <a:cubicBezTo>
                    <a:pt x="300" y="544"/>
                    <a:pt x="300" y="543"/>
                    <a:pt x="300" y="543"/>
                  </a:cubicBezTo>
                  <a:cubicBezTo>
                    <a:pt x="277" y="543"/>
                    <a:pt x="277" y="543"/>
                    <a:pt x="277" y="543"/>
                  </a:cubicBezTo>
                  <a:cubicBezTo>
                    <a:pt x="277" y="543"/>
                    <a:pt x="277" y="543"/>
                    <a:pt x="277" y="543"/>
                  </a:cubicBezTo>
                  <a:cubicBezTo>
                    <a:pt x="263" y="543"/>
                    <a:pt x="250" y="543"/>
                    <a:pt x="235" y="543"/>
                  </a:cubicBezTo>
                  <a:cubicBezTo>
                    <a:pt x="235" y="543"/>
                    <a:pt x="235" y="543"/>
                    <a:pt x="235" y="543"/>
                  </a:cubicBezTo>
                  <a:cubicBezTo>
                    <a:pt x="213" y="543"/>
                    <a:pt x="213" y="543"/>
                    <a:pt x="213" y="543"/>
                  </a:cubicBezTo>
                  <a:cubicBezTo>
                    <a:pt x="206" y="543"/>
                    <a:pt x="200" y="543"/>
                    <a:pt x="194" y="543"/>
                  </a:cubicBezTo>
                  <a:cubicBezTo>
                    <a:pt x="187" y="543"/>
                    <a:pt x="180" y="543"/>
                    <a:pt x="173" y="543"/>
                  </a:cubicBezTo>
                  <a:cubicBezTo>
                    <a:pt x="172" y="531"/>
                    <a:pt x="170" y="519"/>
                    <a:pt x="168" y="507"/>
                  </a:cubicBezTo>
                  <a:cubicBezTo>
                    <a:pt x="165" y="485"/>
                    <a:pt x="162" y="463"/>
                    <a:pt x="159" y="440"/>
                  </a:cubicBezTo>
                  <a:cubicBezTo>
                    <a:pt x="159" y="438"/>
                    <a:pt x="158" y="437"/>
                    <a:pt x="156" y="435"/>
                  </a:cubicBezTo>
                  <a:cubicBezTo>
                    <a:pt x="102" y="404"/>
                    <a:pt x="67" y="358"/>
                    <a:pt x="55" y="297"/>
                  </a:cubicBezTo>
                  <a:cubicBezTo>
                    <a:pt x="42" y="230"/>
                    <a:pt x="59" y="170"/>
                    <a:pt x="104" y="119"/>
                  </a:cubicBezTo>
                  <a:cubicBezTo>
                    <a:pt x="126" y="94"/>
                    <a:pt x="153" y="76"/>
                    <a:pt x="184" y="64"/>
                  </a:cubicBezTo>
                  <a:cubicBezTo>
                    <a:pt x="203" y="57"/>
                    <a:pt x="223" y="53"/>
                    <a:pt x="243" y="51"/>
                  </a:cubicBezTo>
                  <a:cubicBezTo>
                    <a:pt x="266" y="50"/>
                    <a:pt x="289" y="52"/>
                    <a:pt x="311" y="58"/>
                  </a:cubicBezTo>
                  <a:cubicBezTo>
                    <a:pt x="369" y="75"/>
                    <a:pt x="413" y="111"/>
                    <a:pt x="440" y="165"/>
                  </a:cubicBezTo>
                  <a:cubicBezTo>
                    <a:pt x="457" y="199"/>
                    <a:pt x="465" y="235"/>
                    <a:pt x="461" y="273"/>
                  </a:cubicBezTo>
                  <a:close/>
                </a:path>
              </a:pathLst>
            </a:custGeom>
            <a:solidFill>
              <a:srgbClr val="80808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71"/>
            <p:cNvSpPr/>
            <p:nvPr/>
          </p:nvSpPr>
          <p:spPr>
            <a:xfrm>
              <a:off x="7570788" y="1887538"/>
              <a:ext cx="338138" cy="461963"/>
            </a:xfrm>
            <a:custGeom>
              <a:avLst/>
              <a:gdLst/>
              <a:ahLst/>
              <a:cxnLst/>
              <a:rect l="l" t="t" r="r" b="b"/>
              <a:pathLst>
                <a:path w="202" h="276" extrusionOk="0">
                  <a:moveTo>
                    <a:pt x="150" y="156"/>
                  </a:moveTo>
                  <a:cubicBezTo>
                    <a:pt x="150" y="152"/>
                    <a:pt x="151" y="147"/>
                    <a:pt x="153" y="142"/>
                  </a:cubicBezTo>
                  <a:cubicBezTo>
                    <a:pt x="168" y="100"/>
                    <a:pt x="184" y="59"/>
                    <a:pt x="199" y="17"/>
                  </a:cubicBezTo>
                  <a:cubicBezTo>
                    <a:pt x="202" y="11"/>
                    <a:pt x="199" y="4"/>
                    <a:pt x="193" y="2"/>
                  </a:cubicBezTo>
                  <a:cubicBezTo>
                    <a:pt x="187" y="0"/>
                    <a:pt x="180" y="2"/>
                    <a:pt x="178" y="9"/>
                  </a:cubicBezTo>
                  <a:cubicBezTo>
                    <a:pt x="175" y="16"/>
                    <a:pt x="172" y="24"/>
                    <a:pt x="169" y="31"/>
                  </a:cubicBezTo>
                  <a:cubicBezTo>
                    <a:pt x="166" y="31"/>
                    <a:pt x="164" y="29"/>
                    <a:pt x="163" y="25"/>
                  </a:cubicBezTo>
                  <a:cubicBezTo>
                    <a:pt x="163" y="20"/>
                    <a:pt x="160" y="18"/>
                    <a:pt x="156" y="18"/>
                  </a:cubicBezTo>
                  <a:cubicBezTo>
                    <a:pt x="153" y="18"/>
                    <a:pt x="150" y="20"/>
                    <a:pt x="150" y="25"/>
                  </a:cubicBezTo>
                  <a:cubicBezTo>
                    <a:pt x="149" y="29"/>
                    <a:pt x="146" y="31"/>
                    <a:pt x="143" y="32"/>
                  </a:cubicBezTo>
                  <a:cubicBezTo>
                    <a:pt x="139" y="32"/>
                    <a:pt x="137" y="29"/>
                    <a:pt x="136" y="25"/>
                  </a:cubicBezTo>
                  <a:cubicBezTo>
                    <a:pt x="135" y="20"/>
                    <a:pt x="132" y="18"/>
                    <a:pt x="129" y="18"/>
                  </a:cubicBezTo>
                  <a:cubicBezTo>
                    <a:pt x="125" y="18"/>
                    <a:pt x="123" y="20"/>
                    <a:pt x="122" y="24"/>
                  </a:cubicBezTo>
                  <a:cubicBezTo>
                    <a:pt x="121" y="29"/>
                    <a:pt x="119" y="31"/>
                    <a:pt x="115" y="32"/>
                  </a:cubicBezTo>
                  <a:cubicBezTo>
                    <a:pt x="111" y="32"/>
                    <a:pt x="109" y="29"/>
                    <a:pt x="108" y="25"/>
                  </a:cubicBezTo>
                  <a:cubicBezTo>
                    <a:pt x="107" y="20"/>
                    <a:pt x="105" y="18"/>
                    <a:pt x="101" y="18"/>
                  </a:cubicBezTo>
                  <a:cubicBezTo>
                    <a:pt x="98" y="18"/>
                    <a:pt x="95" y="20"/>
                    <a:pt x="94" y="25"/>
                  </a:cubicBezTo>
                  <a:cubicBezTo>
                    <a:pt x="93" y="29"/>
                    <a:pt x="91" y="32"/>
                    <a:pt x="87" y="32"/>
                  </a:cubicBezTo>
                  <a:cubicBezTo>
                    <a:pt x="84" y="31"/>
                    <a:pt x="81" y="29"/>
                    <a:pt x="80" y="25"/>
                  </a:cubicBezTo>
                  <a:cubicBezTo>
                    <a:pt x="80" y="20"/>
                    <a:pt x="77" y="18"/>
                    <a:pt x="74" y="18"/>
                  </a:cubicBezTo>
                  <a:cubicBezTo>
                    <a:pt x="70" y="18"/>
                    <a:pt x="67" y="20"/>
                    <a:pt x="67" y="25"/>
                  </a:cubicBezTo>
                  <a:cubicBezTo>
                    <a:pt x="66" y="29"/>
                    <a:pt x="64" y="31"/>
                    <a:pt x="60" y="32"/>
                  </a:cubicBezTo>
                  <a:cubicBezTo>
                    <a:pt x="56" y="32"/>
                    <a:pt x="54" y="29"/>
                    <a:pt x="53" y="25"/>
                  </a:cubicBezTo>
                  <a:cubicBezTo>
                    <a:pt x="52" y="20"/>
                    <a:pt x="50" y="18"/>
                    <a:pt x="46" y="18"/>
                  </a:cubicBezTo>
                  <a:cubicBezTo>
                    <a:pt x="42" y="18"/>
                    <a:pt x="40" y="20"/>
                    <a:pt x="39" y="25"/>
                  </a:cubicBezTo>
                  <a:cubicBezTo>
                    <a:pt x="39" y="28"/>
                    <a:pt x="37" y="30"/>
                    <a:pt x="33" y="31"/>
                  </a:cubicBezTo>
                  <a:cubicBezTo>
                    <a:pt x="31" y="24"/>
                    <a:pt x="28" y="17"/>
                    <a:pt x="25" y="10"/>
                  </a:cubicBezTo>
                  <a:cubicBezTo>
                    <a:pt x="24" y="6"/>
                    <a:pt x="21" y="2"/>
                    <a:pt x="16" y="1"/>
                  </a:cubicBezTo>
                  <a:cubicBezTo>
                    <a:pt x="7" y="0"/>
                    <a:pt x="0" y="8"/>
                    <a:pt x="3" y="17"/>
                  </a:cubicBezTo>
                  <a:cubicBezTo>
                    <a:pt x="15" y="47"/>
                    <a:pt x="26" y="78"/>
                    <a:pt x="38" y="109"/>
                  </a:cubicBezTo>
                  <a:cubicBezTo>
                    <a:pt x="43" y="122"/>
                    <a:pt x="48" y="134"/>
                    <a:pt x="52" y="147"/>
                  </a:cubicBezTo>
                  <a:cubicBezTo>
                    <a:pt x="54" y="153"/>
                    <a:pt x="53" y="160"/>
                    <a:pt x="53" y="166"/>
                  </a:cubicBezTo>
                  <a:cubicBezTo>
                    <a:pt x="54" y="201"/>
                    <a:pt x="56" y="235"/>
                    <a:pt x="57" y="270"/>
                  </a:cubicBezTo>
                  <a:cubicBezTo>
                    <a:pt x="57" y="272"/>
                    <a:pt x="57" y="274"/>
                    <a:pt x="58" y="276"/>
                  </a:cubicBezTo>
                  <a:cubicBezTo>
                    <a:pt x="80" y="276"/>
                    <a:pt x="80" y="276"/>
                    <a:pt x="80" y="276"/>
                  </a:cubicBezTo>
                  <a:cubicBezTo>
                    <a:pt x="80" y="263"/>
                    <a:pt x="79" y="250"/>
                    <a:pt x="79" y="237"/>
                  </a:cubicBezTo>
                  <a:cubicBezTo>
                    <a:pt x="78" y="207"/>
                    <a:pt x="77" y="177"/>
                    <a:pt x="75" y="147"/>
                  </a:cubicBezTo>
                  <a:cubicBezTo>
                    <a:pt x="75" y="140"/>
                    <a:pt x="71" y="133"/>
                    <a:pt x="69" y="127"/>
                  </a:cubicBezTo>
                  <a:cubicBezTo>
                    <a:pt x="61" y="105"/>
                    <a:pt x="53" y="84"/>
                    <a:pt x="45" y="62"/>
                  </a:cubicBezTo>
                  <a:cubicBezTo>
                    <a:pt x="43" y="57"/>
                    <a:pt x="40" y="51"/>
                    <a:pt x="38" y="45"/>
                  </a:cubicBezTo>
                  <a:cubicBezTo>
                    <a:pt x="41" y="43"/>
                    <a:pt x="43" y="42"/>
                    <a:pt x="46" y="40"/>
                  </a:cubicBezTo>
                  <a:cubicBezTo>
                    <a:pt x="55" y="47"/>
                    <a:pt x="64" y="47"/>
                    <a:pt x="74" y="40"/>
                  </a:cubicBezTo>
                  <a:cubicBezTo>
                    <a:pt x="84" y="47"/>
                    <a:pt x="90" y="47"/>
                    <a:pt x="101" y="40"/>
                  </a:cubicBezTo>
                  <a:cubicBezTo>
                    <a:pt x="110" y="47"/>
                    <a:pt x="120" y="47"/>
                    <a:pt x="129" y="40"/>
                  </a:cubicBezTo>
                  <a:cubicBezTo>
                    <a:pt x="138" y="47"/>
                    <a:pt x="147" y="47"/>
                    <a:pt x="156" y="40"/>
                  </a:cubicBezTo>
                  <a:cubicBezTo>
                    <a:pt x="159" y="42"/>
                    <a:pt x="161" y="43"/>
                    <a:pt x="164" y="45"/>
                  </a:cubicBezTo>
                  <a:cubicBezTo>
                    <a:pt x="161" y="52"/>
                    <a:pt x="159" y="60"/>
                    <a:pt x="156" y="68"/>
                  </a:cubicBezTo>
                  <a:cubicBezTo>
                    <a:pt x="147" y="92"/>
                    <a:pt x="137" y="115"/>
                    <a:pt x="129" y="140"/>
                  </a:cubicBezTo>
                  <a:cubicBezTo>
                    <a:pt x="127" y="147"/>
                    <a:pt x="127" y="155"/>
                    <a:pt x="126" y="163"/>
                  </a:cubicBezTo>
                  <a:cubicBezTo>
                    <a:pt x="125" y="200"/>
                    <a:pt x="124" y="237"/>
                    <a:pt x="122" y="274"/>
                  </a:cubicBezTo>
                  <a:cubicBezTo>
                    <a:pt x="122" y="275"/>
                    <a:pt x="122" y="276"/>
                    <a:pt x="122" y="276"/>
                  </a:cubicBezTo>
                  <a:cubicBezTo>
                    <a:pt x="145" y="276"/>
                    <a:pt x="145" y="276"/>
                    <a:pt x="145" y="276"/>
                  </a:cubicBezTo>
                  <a:cubicBezTo>
                    <a:pt x="146" y="262"/>
                    <a:pt x="146" y="248"/>
                    <a:pt x="147" y="234"/>
                  </a:cubicBezTo>
                  <a:cubicBezTo>
                    <a:pt x="148" y="208"/>
                    <a:pt x="149" y="182"/>
                    <a:pt x="150" y="156"/>
                  </a:cubicBezTo>
                  <a:close/>
                </a:path>
              </a:pathLst>
            </a:custGeom>
            <a:solidFill>
              <a:srgbClr val="FFD40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687" name="Google Shape;687;p71"/>
          <p:cNvCxnSpPr>
            <a:cxnSpLocks/>
            <a:stCxn id="667" idx="0"/>
          </p:cNvCxnSpPr>
          <p:nvPr/>
        </p:nvCxnSpPr>
        <p:spPr>
          <a:xfrm flipV="1">
            <a:off x="1272600" y="3429000"/>
            <a:ext cx="0" cy="308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ash"/>
            <a:round/>
            <a:headEnd type="stealth" w="med" len="med"/>
            <a:tailEnd type="oval" w="med" len="med"/>
          </a:ln>
        </p:spPr>
      </p:cxnSp>
      <p:cxnSp>
        <p:nvCxnSpPr>
          <p:cNvPr id="688" name="Google Shape;688;p71"/>
          <p:cNvCxnSpPr>
            <a:stCxn id="666" idx="1"/>
            <a:endCxn id="667" idx="3"/>
          </p:cNvCxnSpPr>
          <p:nvPr/>
        </p:nvCxnSpPr>
        <p:spPr>
          <a:xfrm rot="10800000">
            <a:off x="2219500" y="4910950"/>
            <a:ext cx="534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ash"/>
            <a:round/>
            <a:headEnd type="stealth" w="med" len="med"/>
            <a:tailEnd type="oval" w="med" len="med"/>
          </a:ln>
        </p:spPr>
      </p:cxnSp>
      <p:cxnSp>
        <p:nvCxnSpPr>
          <p:cNvPr id="689" name="Google Shape;689;p71"/>
          <p:cNvCxnSpPr/>
          <p:nvPr/>
        </p:nvCxnSpPr>
        <p:spPr>
          <a:xfrm rot="10800000">
            <a:off x="4647300" y="4910900"/>
            <a:ext cx="534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ash"/>
            <a:round/>
            <a:headEnd type="stealth" w="med" len="med"/>
            <a:tailEnd type="oval" w="med" len="med"/>
          </a:ln>
        </p:spPr>
      </p:cxnSp>
      <p:cxnSp>
        <p:nvCxnSpPr>
          <p:cNvPr id="690" name="Google Shape;690;p71"/>
          <p:cNvCxnSpPr/>
          <p:nvPr/>
        </p:nvCxnSpPr>
        <p:spPr>
          <a:xfrm rot="10800000">
            <a:off x="7073300" y="4910900"/>
            <a:ext cx="534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ash"/>
            <a:round/>
            <a:headEnd type="stealth" w="med" len="med"/>
            <a:tailEnd type="oval" w="med" len="med"/>
          </a:ln>
        </p:spPr>
      </p:cxnSp>
      <p:cxnSp>
        <p:nvCxnSpPr>
          <p:cNvPr id="691" name="Google Shape;691;p71"/>
          <p:cNvCxnSpPr>
            <a:stCxn id="671" idx="1"/>
            <a:endCxn id="668" idx="3"/>
          </p:cNvCxnSpPr>
          <p:nvPr/>
        </p:nvCxnSpPr>
        <p:spPr>
          <a:xfrm rot="10800000">
            <a:off x="9501725" y="4910950"/>
            <a:ext cx="6369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ash"/>
            <a:round/>
            <a:headEnd type="stealth" w="med" len="med"/>
            <a:tailEnd type="oval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72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Task 4 Results</a:t>
            </a:r>
            <a:endParaRPr/>
          </a:p>
        </p:txBody>
      </p:sp>
      <p:sp>
        <p:nvSpPr>
          <p:cNvPr id="698" name="Google Shape;698;p72"/>
          <p:cNvSpPr txBox="1">
            <a:spLocks noGrp="1"/>
          </p:cNvSpPr>
          <p:nvPr>
            <p:ph type="body" idx="1"/>
          </p:nvPr>
        </p:nvSpPr>
        <p:spPr>
          <a:xfrm>
            <a:off x="327025" y="620200"/>
            <a:ext cx="11540700" cy="9750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Experiments : Plant 1 </a:t>
            </a:r>
            <a:endParaRPr sz="3000" b="1">
              <a:solidFill>
                <a:schemeClr val="accent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Before feature selection </a:t>
            </a:r>
            <a:r>
              <a:rPr lang="en-GB" sz="1600" b="1">
                <a:solidFill>
                  <a:schemeClr val="dk2"/>
                </a:solidFill>
              </a:rPr>
              <a:t>vs</a:t>
            </a:r>
            <a:r>
              <a:rPr lang="en-GB" sz="1600" b="1">
                <a:solidFill>
                  <a:srgbClr val="3D85C6"/>
                </a:solidFill>
              </a:rPr>
              <a:t> After feature selection</a:t>
            </a:r>
            <a:endParaRPr sz="1600" b="1">
              <a:solidFill>
                <a:srgbClr val="3D85C6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With outliers </a:t>
            </a:r>
            <a:r>
              <a:rPr lang="en-GB" sz="1600" b="1">
                <a:solidFill>
                  <a:schemeClr val="dk2"/>
                </a:solidFill>
              </a:rPr>
              <a:t>vs </a:t>
            </a:r>
            <a:r>
              <a:rPr lang="en-GB" sz="1600" b="1">
                <a:solidFill>
                  <a:srgbClr val="3D85C6"/>
                </a:solidFill>
              </a:rPr>
              <a:t>Without outliers</a:t>
            </a:r>
            <a:endParaRPr sz="1600" b="1">
              <a:solidFill>
                <a:srgbClr val="3D85C6"/>
              </a:solidFill>
            </a:endParaRPr>
          </a:p>
        </p:txBody>
      </p:sp>
      <p:sp>
        <p:nvSpPr>
          <p:cNvPr id="699" name="Google Shape;699;p72"/>
          <p:cNvSpPr txBox="1">
            <a:spLocks noGrp="1"/>
          </p:cNvSpPr>
          <p:nvPr>
            <p:ph type="sldNum" idx="12"/>
          </p:nvPr>
        </p:nvSpPr>
        <p:spPr>
          <a:xfrm>
            <a:off x="48728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graphicFrame>
        <p:nvGraphicFramePr>
          <p:cNvPr id="700" name="Google Shape;700;p72"/>
          <p:cNvGraphicFramePr/>
          <p:nvPr/>
        </p:nvGraphicFramePr>
        <p:xfrm>
          <a:off x="325825" y="1600938"/>
          <a:ext cx="11486925" cy="2780071"/>
        </p:xfrm>
        <a:graphic>
          <a:graphicData uri="http://schemas.openxmlformats.org/drawingml/2006/table">
            <a:tbl>
              <a:tblPr>
                <a:noFill/>
                <a:tableStyleId>{2A1EDC03-FB68-49A9-9494-8201C51473BB}</a:tableStyleId>
              </a:tblPr>
              <a:tblGrid>
                <a:gridCol w="1462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7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66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lt1"/>
                          </a:solidFill>
                        </a:rPr>
                        <a:t>Condition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lt1"/>
                          </a:solidFill>
                        </a:rPr>
                        <a:t>Outliers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lt1"/>
                          </a:solidFill>
                        </a:rPr>
                        <a:t>Feature Selection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lt1"/>
                          </a:solidFill>
                        </a:rPr>
                        <a:t>Accuracy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lt1"/>
                          </a:solidFill>
                        </a:rPr>
                        <a:t>Macro F1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lt1"/>
                          </a:solidFill>
                        </a:rPr>
                        <a:t>Analysis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1. Before feature selection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✅ Included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❌ No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0.989–0.990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≈ 0.974–0.975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Excellent results; model predicts both classes well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2. After feature selection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✅ Included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✅ Yes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0.990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≈ 0.975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Almost identical to before; feature removal did not affect much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3. Before feature selection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❌ Removed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❌ No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0.991–0.992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≈ 0.975–0.979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Still very high, but recall slightly improved due to data cleaning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4. After feature selection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❌ Removed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dk2"/>
                          </a:solidFill>
                        </a:rPr>
                        <a:t>✅ Yes</a:t>
                      </a:r>
                      <a:endParaRPr sz="120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0.989–0.991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≈ 0.971–0.975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chemeClr val="dk2"/>
                          </a:solidFill>
                        </a:rPr>
                        <a:t>Small drop — less diverse data and fewer features slightly reduced precision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91425" marB="91425">
                    <a:lnL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01" name="Google Shape;701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800" y="4433875"/>
            <a:ext cx="2379000" cy="11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5950" y="4451175"/>
            <a:ext cx="2276500" cy="1691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3" name="Google Shape;703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89989" y="4416575"/>
            <a:ext cx="2276507" cy="170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4" name="Google Shape;704;p7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13400" y="4693525"/>
            <a:ext cx="2276500" cy="1114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7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874841" y="4916741"/>
            <a:ext cx="2279547" cy="111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6" name="Google Shape;706;p7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28575" y="4472891"/>
            <a:ext cx="1898549" cy="92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7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154400" y="4805788"/>
            <a:ext cx="1888491" cy="92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72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03624" y="5113562"/>
            <a:ext cx="1732411" cy="847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72"/>
          <p:cNvSpPr txBox="1"/>
          <p:nvPr/>
        </p:nvSpPr>
        <p:spPr>
          <a:xfrm>
            <a:off x="1992575" y="608410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accent1"/>
                </a:solidFill>
              </a:rPr>
              <a:t>ALE plots for feature selection </a:t>
            </a:r>
            <a:endParaRPr sz="1100"/>
          </a:p>
        </p:txBody>
      </p:sp>
      <p:sp>
        <p:nvSpPr>
          <p:cNvPr id="710" name="Google Shape;710;p72"/>
          <p:cNvSpPr txBox="1"/>
          <p:nvPr/>
        </p:nvSpPr>
        <p:spPr>
          <a:xfrm>
            <a:off x="8775850" y="6154450"/>
            <a:ext cx="1972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accent1"/>
                </a:solidFill>
              </a:rPr>
              <a:t> SVM decision function</a:t>
            </a:r>
            <a:endParaRPr sz="1100" b="1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73"/>
          <p:cNvSpPr txBox="1">
            <a:spLocks noGrp="1"/>
          </p:cNvSpPr>
          <p:nvPr>
            <p:ph type="title"/>
          </p:nvPr>
        </p:nvSpPr>
        <p:spPr>
          <a:xfrm>
            <a:off x="325650" y="2422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 to Task 5</a:t>
            </a:r>
            <a:endParaRPr/>
          </a:p>
        </p:txBody>
      </p:sp>
      <p:sp>
        <p:nvSpPr>
          <p:cNvPr id="717" name="Google Shape;717;p73"/>
          <p:cNvSpPr txBox="1">
            <a:spLocks noGrp="1"/>
          </p:cNvSpPr>
          <p:nvPr>
            <p:ph type="body" idx="1"/>
          </p:nvPr>
        </p:nvSpPr>
        <p:spPr>
          <a:xfrm>
            <a:off x="265525" y="620200"/>
            <a:ext cx="11828100" cy="1200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Objective</a:t>
            </a:r>
            <a:endParaRPr sz="3000" b="1">
              <a:solidFill>
                <a:schemeClr val="accent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Interpret Random Forest models for DC and AC power prediction.</a:t>
            </a:r>
            <a:endParaRPr sz="1600" b="1">
              <a:solidFill>
                <a:srgbClr val="3D85C6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Identify key features influencing PV output (irradiation, temperature, time‑of‑day).</a:t>
            </a:r>
            <a:endParaRPr sz="1600" b="1">
              <a:solidFill>
                <a:srgbClr val="3D85C6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Compare Plant 1 vs Plant 2 and extract physical/operational insights.</a:t>
            </a:r>
            <a:endParaRPr sz="1600" b="1">
              <a:solidFill>
                <a:srgbClr val="3D85C6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3D85C6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.</a:t>
            </a:r>
            <a:endParaRPr sz="1600" b="1">
              <a:solidFill>
                <a:srgbClr val="3D85C6"/>
              </a:solidFill>
            </a:endParaRPr>
          </a:p>
        </p:txBody>
      </p:sp>
      <p:sp>
        <p:nvSpPr>
          <p:cNvPr id="718" name="Google Shape;718;p73"/>
          <p:cNvSpPr txBox="1">
            <a:spLocks noGrp="1"/>
          </p:cNvSpPr>
          <p:nvPr>
            <p:ph type="sldNum" idx="12"/>
          </p:nvPr>
        </p:nvSpPr>
        <p:spPr>
          <a:xfrm>
            <a:off x="1386130" y="675975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cxnSp>
        <p:nvCxnSpPr>
          <p:cNvPr id="719" name="Google Shape;719;p73"/>
          <p:cNvCxnSpPr/>
          <p:nvPr/>
        </p:nvCxnSpPr>
        <p:spPr>
          <a:xfrm>
            <a:off x="327025" y="2012775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20" name="Google Shape;720;p73"/>
          <p:cNvSpPr txBox="1">
            <a:spLocks noGrp="1"/>
          </p:cNvSpPr>
          <p:nvPr>
            <p:ph type="body" idx="1"/>
          </p:nvPr>
        </p:nvSpPr>
        <p:spPr>
          <a:xfrm>
            <a:off x="265525" y="2128150"/>
            <a:ext cx="3698700" cy="52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Workflow Overview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rgbClr val="3D85C6"/>
              </a:solidFill>
            </a:endParaRPr>
          </a:p>
        </p:txBody>
      </p:sp>
      <p:sp>
        <p:nvSpPr>
          <p:cNvPr id="721" name="Google Shape;721;p73"/>
          <p:cNvSpPr/>
          <p:nvPr/>
        </p:nvSpPr>
        <p:spPr>
          <a:xfrm>
            <a:off x="3749" y="1440"/>
            <a:ext cx="680" cy="937"/>
          </a:xfrm>
          <a:custGeom>
            <a:avLst/>
            <a:gdLst/>
            <a:ahLst/>
            <a:cxnLst/>
            <a:rect l="l" t="t" r="r" b="b"/>
            <a:pathLst>
              <a:path w="817" h="921" extrusionOk="0">
                <a:moveTo>
                  <a:pt x="0" y="0"/>
                </a:moveTo>
                <a:lnTo>
                  <a:pt x="697" y="0"/>
                </a:lnTo>
                <a:lnTo>
                  <a:pt x="816" y="555"/>
                </a:lnTo>
                <a:lnTo>
                  <a:pt x="745" y="817"/>
                </a:lnTo>
                <a:lnTo>
                  <a:pt x="626" y="817"/>
                </a:lnTo>
                <a:lnTo>
                  <a:pt x="562" y="920"/>
                </a:lnTo>
                <a:lnTo>
                  <a:pt x="491" y="817"/>
                </a:lnTo>
                <a:lnTo>
                  <a:pt x="71" y="817"/>
                </a:lnTo>
                <a:lnTo>
                  <a:pt x="111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73"/>
          <p:cNvSpPr/>
          <p:nvPr/>
        </p:nvSpPr>
        <p:spPr>
          <a:xfrm>
            <a:off x="1152" y="1440"/>
            <a:ext cx="687" cy="1130"/>
          </a:xfrm>
          <a:custGeom>
            <a:avLst/>
            <a:gdLst/>
            <a:ahLst/>
            <a:cxnLst/>
            <a:rect l="l" t="t" r="r" b="b"/>
            <a:pathLst>
              <a:path w="825" h="1113" extrusionOk="0">
                <a:moveTo>
                  <a:pt x="0" y="0"/>
                </a:moveTo>
                <a:lnTo>
                  <a:pt x="697" y="0"/>
                </a:lnTo>
                <a:lnTo>
                  <a:pt x="824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73"/>
          <p:cNvSpPr/>
          <p:nvPr/>
        </p:nvSpPr>
        <p:spPr>
          <a:xfrm>
            <a:off x="1804" y="1440"/>
            <a:ext cx="680" cy="1130"/>
          </a:xfrm>
          <a:custGeom>
            <a:avLst/>
            <a:gdLst/>
            <a:ahLst/>
            <a:cxnLst/>
            <a:rect l="l" t="t" r="r" b="b"/>
            <a:pathLst>
              <a:path w="817" h="1113" extrusionOk="0">
                <a:moveTo>
                  <a:pt x="0" y="0"/>
                </a:moveTo>
                <a:lnTo>
                  <a:pt x="697" y="0"/>
                </a:lnTo>
                <a:lnTo>
                  <a:pt x="816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73"/>
          <p:cNvSpPr/>
          <p:nvPr/>
        </p:nvSpPr>
        <p:spPr>
          <a:xfrm>
            <a:off x="2444" y="1440"/>
            <a:ext cx="693" cy="1130"/>
          </a:xfrm>
          <a:custGeom>
            <a:avLst/>
            <a:gdLst/>
            <a:ahLst/>
            <a:cxnLst/>
            <a:rect l="l" t="t" r="r" b="b"/>
            <a:pathLst>
              <a:path w="833" h="1113" extrusionOk="0">
                <a:moveTo>
                  <a:pt x="0" y="0"/>
                </a:moveTo>
                <a:lnTo>
                  <a:pt x="713" y="0"/>
                </a:lnTo>
                <a:lnTo>
                  <a:pt x="832" y="556"/>
                </a:lnTo>
                <a:lnTo>
                  <a:pt x="713" y="1112"/>
                </a:lnTo>
                <a:lnTo>
                  <a:pt x="0" y="1112"/>
                </a:lnTo>
                <a:lnTo>
                  <a:pt x="127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73"/>
          <p:cNvSpPr/>
          <p:nvPr/>
        </p:nvSpPr>
        <p:spPr>
          <a:xfrm>
            <a:off x="3095" y="1440"/>
            <a:ext cx="689" cy="829"/>
          </a:xfrm>
          <a:custGeom>
            <a:avLst/>
            <a:gdLst/>
            <a:ahLst/>
            <a:cxnLst/>
            <a:rect l="l" t="t" r="r" b="b"/>
            <a:pathLst>
              <a:path w="825" h="817" extrusionOk="0">
                <a:moveTo>
                  <a:pt x="0" y="0"/>
                </a:moveTo>
                <a:lnTo>
                  <a:pt x="705" y="0"/>
                </a:lnTo>
                <a:lnTo>
                  <a:pt x="824" y="555"/>
                </a:lnTo>
                <a:lnTo>
                  <a:pt x="761" y="816"/>
                </a:lnTo>
                <a:lnTo>
                  <a:pt x="341" y="816"/>
                </a:lnTo>
                <a:lnTo>
                  <a:pt x="269" y="713"/>
                </a:lnTo>
                <a:lnTo>
                  <a:pt x="198" y="816"/>
                </a:lnTo>
                <a:lnTo>
                  <a:pt x="63" y="816"/>
                </a:lnTo>
                <a:lnTo>
                  <a:pt x="119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73"/>
          <p:cNvSpPr/>
          <p:nvPr/>
        </p:nvSpPr>
        <p:spPr>
          <a:xfrm>
            <a:off x="156149" y="153840"/>
            <a:ext cx="680" cy="937"/>
          </a:xfrm>
          <a:custGeom>
            <a:avLst/>
            <a:gdLst/>
            <a:ahLst/>
            <a:cxnLst/>
            <a:rect l="l" t="t" r="r" b="b"/>
            <a:pathLst>
              <a:path w="817" h="921" extrusionOk="0">
                <a:moveTo>
                  <a:pt x="0" y="0"/>
                </a:moveTo>
                <a:lnTo>
                  <a:pt x="697" y="0"/>
                </a:lnTo>
                <a:lnTo>
                  <a:pt x="816" y="555"/>
                </a:lnTo>
                <a:lnTo>
                  <a:pt x="745" y="817"/>
                </a:lnTo>
                <a:lnTo>
                  <a:pt x="626" y="817"/>
                </a:lnTo>
                <a:lnTo>
                  <a:pt x="562" y="920"/>
                </a:lnTo>
                <a:lnTo>
                  <a:pt x="491" y="817"/>
                </a:lnTo>
                <a:lnTo>
                  <a:pt x="71" y="817"/>
                </a:lnTo>
                <a:lnTo>
                  <a:pt x="111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73"/>
          <p:cNvSpPr/>
          <p:nvPr/>
        </p:nvSpPr>
        <p:spPr>
          <a:xfrm>
            <a:off x="153552" y="153840"/>
            <a:ext cx="687" cy="1130"/>
          </a:xfrm>
          <a:custGeom>
            <a:avLst/>
            <a:gdLst/>
            <a:ahLst/>
            <a:cxnLst/>
            <a:rect l="l" t="t" r="r" b="b"/>
            <a:pathLst>
              <a:path w="825" h="1113" extrusionOk="0">
                <a:moveTo>
                  <a:pt x="0" y="0"/>
                </a:moveTo>
                <a:lnTo>
                  <a:pt x="697" y="0"/>
                </a:lnTo>
                <a:lnTo>
                  <a:pt x="824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73"/>
          <p:cNvSpPr/>
          <p:nvPr/>
        </p:nvSpPr>
        <p:spPr>
          <a:xfrm>
            <a:off x="154204" y="153840"/>
            <a:ext cx="680" cy="1130"/>
          </a:xfrm>
          <a:custGeom>
            <a:avLst/>
            <a:gdLst/>
            <a:ahLst/>
            <a:cxnLst/>
            <a:rect l="l" t="t" r="r" b="b"/>
            <a:pathLst>
              <a:path w="817" h="1113" extrusionOk="0">
                <a:moveTo>
                  <a:pt x="0" y="0"/>
                </a:moveTo>
                <a:lnTo>
                  <a:pt x="697" y="0"/>
                </a:lnTo>
                <a:lnTo>
                  <a:pt x="816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73"/>
          <p:cNvSpPr/>
          <p:nvPr/>
        </p:nvSpPr>
        <p:spPr>
          <a:xfrm>
            <a:off x="154844" y="153840"/>
            <a:ext cx="693" cy="1130"/>
          </a:xfrm>
          <a:custGeom>
            <a:avLst/>
            <a:gdLst/>
            <a:ahLst/>
            <a:cxnLst/>
            <a:rect l="l" t="t" r="r" b="b"/>
            <a:pathLst>
              <a:path w="833" h="1113" extrusionOk="0">
                <a:moveTo>
                  <a:pt x="0" y="0"/>
                </a:moveTo>
                <a:lnTo>
                  <a:pt x="713" y="0"/>
                </a:lnTo>
                <a:lnTo>
                  <a:pt x="832" y="556"/>
                </a:lnTo>
                <a:lnTo>
                  <a:pt x="713" y="1112"/>
                </a:lnTo>
                <a:lnTo>
                  <a:pt x="0" y="1112"/>
                </a:lnTo>
                <a:lnTo>
                  <a:pt x="127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73"/>
          <p:cNvSpPr/>
          <p:nvPr/>
        </p:nvSpPr>
        <p:spPr>
          <a:xfrm>
            <a:off x="155495" y="153840"/>
            <a:ext cx="689" cy="829"/>
          </a:xfrm>
          <a:custGeom>
            <a:avLst/>
            <a:gdLst/>
            <a:ahLst/>
            <a:cxnLst/>
            <a:rect l="l" t="t" r="r" b="b"/>
            <a:pathLst>
              <a:path w="825" h="817" extrusionOk="0">
                <a:moveTo>
                  <a:pt x="0" y="0"/>
                </a:moveTo>
                <a:lnTo>
                  <a:pt x="705" y="0"/>
                </a:lnTo>
                <a:lnTo>
                  <a:pt x="824" y="555"/>
                </a:lnTo>
                <a:lnTo>
                  <a:pt x="761" y="816"/>
                </a:lnTo>
                <a:lnTo>
                  <a:pt x="341" y="816"/>
                </a:lnTo>
                <a:lnTo>
                  <a:pt x="269" y="713"/>
                </a:lnTo>
                <a:lnTo>
                  <a:pt x="198" y="816"/>
                </a:lnTo>
                <a:lnTo>
                  <a:pt x="63" y="816"/>
                </a:lnTo>
                <a:lnTo>
                  <a:pt x="119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73"/>
          <p:cNvSpPr/>
          <p:nvPr/>
        </p:nvSpPr>
        <p:spPr>
          <a:xfrm>
            <a:off x="953875" y="4160800"/>
            <a:ext cx="2166300" cy="14385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accent1"/>
                </a:solidFill>
              </a:rPr>
              <a:t>Set up and data preparation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732" name="Google Shape;732;p73"/>
          <p:cNvSpPr/>
          <p:nvPr/>
        </p:nvSpPr>
        <p:spPr>
          <a:xfrm>
            <a:off x="3325000" y="2768225"/>
            <a:ext cx="2958300" cy="18966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accent1"/>
                </a:solidFill>
              </a:rPr>
              <a:t>Train Random forest Models for AC and DC </a:t>
            </a:r>
            <a:endParaRPr sz="1600" b="1">
              <a:solidFill>
                <a:schemeClr val="accent1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600" b="1">
                <a:solidFill>
                  <a:schemeClr val="accent1"/>
                </a:solidFill>
              </a:rPr>
              <a:t>(Same as Task 3)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733" name="Google Shape;733;p73"/>
          <p:cNvSpPr/>
          <p:nvPr/>
        </p:nvSpPr>
        <p:spPr>
          <a:xfrm>
            <a:off x="6236250" y="4258950"/>
            <a:ext cx="3029700" cy="20118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accent1"/>
              </a:solidFill>
            </a:endParaRPr>
          </a:p>
          <a:p>
            <a:pPr marL="0" lvl="0" indent="0" algn="ctr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accent1"/>
              </a:solidFill>
            </a:endParaRPr>
          </a:p>
          <a:p>
            <a:pPr marL="0" lvl="0" indent="0" algn="ctr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accent1"/>
                </a:solidFill>
              </a:rPr>
              <a:t>Model Interpretation Tools to identify important features</a:t>
            </a:r>
            <a:endParaRPr sz="1050">
              <a:solidFill>
                <a:schemeClr val="accent1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accen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734" name="Google Shape;734;p73"/>
          <p:cNvSpPr/>
          <p:nvPr/>
        </p:nvSpPr>
        <p:spPr>
          <a:xfrm>
            <a:off x="9016850" y="2652850"/>
            <a:ext cx="3029700" cy="20118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accent1"/>
              </a:solidFill>
            </a:endParaRPr>
          </a:p>
          <a:p>
            <a:pPr marL="0" lvl="0" indent="0" algn="ctr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accent1"/>
                </a:solidFill>
              </a:rPr>
              <a:t>Summarise and compare features influence</a:t>
            </a:r>
            <a:endParaRPr sz="1600" b="1">
              <a:solidFill>
                <a:schemeClr val="accen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chemeClr val="accent1"/>
              </a:solidFill>
            </a:endParaRPr>
          </a:p>
        </p:txBody>
      </p:sp>
      <p:cxnSp>
        <p:nvCxnSpPr>
          <p:cNvPr id="735" name="Google Shape;735;p73"/>
          <p:cNvCxnSpPr/>
          <p:nvPr/>
        </p:nvCxnSpPr>
        <p:spPr>
          <a:xfrm rot="10800000" flipH="1">
            <a:off x="2918300" y="4174800"/>
            <a:ext cx="577500" cy="314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6" name="Google Shape;736;p73"/>
          <p:cNvCxnSpPr>
            <a:endCxn id="733" idx="1"/>
          </p:cNvCxnSpPr>
          <p:nvPr/>
        </p:nvCxnSpPr>
        <p:spPr>
          <a:xfrm>
            <a:off x="6150739" y="4134171"/>
            <a:ext cx="529200" cy="419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7" name="Google Shape;737;p73"/>
          <p:cNvCxnSpPr>
            <a:stCxn id="733" idx="7"/>
          </p:cNvCxnSpPr>
          <p:nvPr/>
        </p:nvCxnSpPr>
        <p:spPr>
          <a:xfrm rot="10800000" flipH="1">
            <a:off x="8822261" y="4192671"/>
            <a:ext cx="402300" cy="36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4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Task 5 Results</a:t>
            </a:r>
            <a:endParaRPr/>
          </a:p>
        </p:txBody>
      </p:sp>
      <p:sp>
        <p:nvSpPr>
          <p:cNvPr id="744" name="Google Shape;744;p74"/>
          <p:cNvSpPr txBox="1">
            <a:spLocks noGrp="1"/>
          </p:cNvSpPr>
          <p:nvPr>
            <p:ph type="body" idx="1"/>
          </p:nvPr>
        </p:nvSpPr>
        <p:spPr>
          <a:xfrm>
            <a:off x="5602200" y="585150"/>
            <a:ext cx="3925500" cy="650100"/>
          </a:xfrm>
          <a:prstGeom prst="rect">
            <a:avLst/>
          </a:prstGeom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700" tIns="77700" rIns="77700" bIns="77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chemeClr val="accent1"/>
                </a:solidFill>
              </a:rPr>
              <a:t> Permutation Importance</a:t>
            </a:r>
            <a:endParaRPr sz="14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rgbClr val="3D85C6"/>
                </a:solidFill>
              </a:rPr>
              <a:t>the feature of model strongly depends on.</a:t>
            </a:r>
            <a:endParaRPr sz="1400" b="1">
              <a:solidFill>
                <a:srgbClr val="3D85C6"/>
              </a:solidFill>
            </a:endParaRPr>
          </a:p>
          <a:p>
            <a:pPr marL="388501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9" b="1">
              <a:solidFill>
                <a:srgbClr val="3D85C6"/>
              </a:solidFill>
            </a:endParaRPr>
          </a:p>
        </p:txBody>
      </p:sp>
      <p:sp>
        <p:nvSpPr>
          <p:cNvPr id="745" name="Google Shape;745;p74"/>
          <p:cNvSpPr txBox="1">
            <a:spLocks noGrp="1"/>
          </p:cNvSpPr>
          <p:nvPr>
            <p:ph type="sldNum" idx="12"/>
          </p:nvPr>
        </p:nvSpPr>
        <p:spPr>
          <a:xfrm>
            <a:off x="48728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pic>
        <p:nvPicPr>
          <p:cNvPr id="746" name="Google Shape;746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7030" y="782500"/>
            <a:ext cx="4732814" cy="4818200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p74"/>
          <p:cNvSpPr/>
          <p:nvPr/>
        </p:nvSpPr>
        <p:spPr>
          <a:xfrm>
            <a:off x="325800" y="1066575"/>
            <a:ext cx="4594800" cy="724800"/>
          </a:xfrm>
          <a:prstGeom prst="ellipse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48" name="Google Shape;748;p74"/>
          <p:cNvCxnSpPr>
            <a:stCxn id="744" idx="1"/>
            <a:endCxn id="747" idx="6"/>
          </p:cNvCxnSpPr>
          <p:nvPr/>
        </p:nvCxnSpPr>
        <p:spPr>
          <a:xfrm flipH="1">
            <a:off x="4920600" y="910200"/>
            <a:ext cx="681600" cy="518700"/>
          </a:xfrm>
          <a:prstGeom prst="straightConnector1">
            <a:avLst/>
          </a:prstGeom>
          <a:noFill/>
          <a:ln w="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749" name="Google Shape;749;p7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47983" y="1791387"/>
            <a:ext cx="4198867" cy="195436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0" name="Google Shape;750;p74"/>
          <p:cNvCxnSpPr>
            <a:stCxn id="751" idx="0"/>
          </p:cNvCxnSpPr>
          <p:nvPr/>
        </p:nvCxnSpPr>
        <p:spPr>
          <a:xfrm rot="10800000" flipH="1">
            <a:off x="6293100" y="2223850"/>
            <a:ext cx="960900" cy="1607400"/>
          </a:xfrm>
          <a:prstGeom prst="straightConnector1">
            <a:avLst/>
          </a:prstGeom>
          <a:noFill/>
          <a:ln w="58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1" name="Google Shape;751;p74"/>
          <p:cNvSpPr txBox="1">
            <a:spLocks noGrp="1"/>
          </p:cNvSpPr>
          <p:nvPr>
            <p:ph type="body" idx="1"/>
          </p:nvPr>
        </p:nvSpPr>
        <p:spPr>
          <a:xfrm>
            <a:off x="4920600" y="3831250"/>
            <a:ext cx="2745000" cy="522600"/>
          </a:xfrm>
          <a:prstGeom prst="rect">
            <a:avLst/>
          </a:prstGeom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6225" tIns="56225" rIns="56225" bIns="562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chemeClr val="accent1"/>
                </a:solidFill>
              </a:rPr>
              <a:t>SHAP Waterfall Plot </a:t>
            </a:r>
            <a:endParaRPr sz="14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rgbClr val="3D85C6"/>
                </a:solidFill>
              </a:rPr>
              <a:t>Contribution of features</a:t>
            </a:r>
            <a:endParaRPr sz="1400" b="1">
              <a:solidFill>
                <a:srgbClr val="3D85C6"/>
              </a:solidFill>
            </a:endParaRPr>
          </a:p>
        </p:txBody>
      </p:sp>
      <p:pic>
        <p:nvPicPr>
          <p:cNvPr id="752" name="Google Shape;752;p74"/>
          <p:cNvPicPr preferRelativeResize="0"/>
          <p:nvPr/>
        </p:nvPicPr>
        <p:blipFill rotWithShape="1">
          <a:blip r:embed="rId5">
            <a:alphaModFix/>
          </a:blip>
          <a:srcRect l="5210" t="4323" r="3223" b="3288"/>
          <a:stretch/>
        </p:blipFill>
        <p:spPr>
          <a:xfrm>
            <a:off x="8860850" y="4025575"/>
            <a:ext cx="3005650" cy="2505525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74"/>
          <p:cNvSpPr txBox="1">
            <a:spLocks noGrp="1"/>
          </p:cNvSpPr>
          <p:nvPr>
            <p:ph type="body" idx="1"/>
          </p:nvPr>
        </p:nvSpPr>
        <p:spPr>
          <a:xfrm>
            <a:off x="5950975" y="5085800"/>
            <a:ext cx="2498100" cy="840000"/>
          </a:xfrm>
          <a:prstGeom prst="rect">
            <a:avLst/>
          </a:prstGeom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700" tIns="77700" rIns="77700" bIns="77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chemeClr val="accent1"/>
                </a:solidFill>
              </a:rPr>
              <a:t>PDP-Based Importance </a:t>
            </a:r>
            <a:endParaRPr sz="14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rgbClr val="3D85C6"/>
                </a:solidFill>
              </a:rPr>
              <a:t>strongest effect on output. </a:t>
            </a:r>
            <a:endParaRPr sz="1400" b="1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>
                <a:solidFill>
                  <a:srgbClr val="3D85C6"/>
                </a:solidFill>
              </a:rPr>
              <a:t>( uses as coefficient)</a:t>
            </a:r>
            <a:endParaRPr sz="1400" b="1">
              <a:solidFill>
                <a:srgbClr val="3D85C6"/>
              </a:solidFill>
            </a:endParaRPr>
          </a:p>
          <a:p>
            <a:pPr marL="388501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3D85C6"/>
              </a:solidFill>
            </a:endParaRPr>
          </a:p>
        </p:txBody>
      </p:sp>
      <p:cxnSp>
        <p:nvCxnSpPr>
          <p:cNvPr id="754" name="Google Shape;754;p74"/>
          <p:cNvCxnSpPr>
            <a:stCxn id="753" idx="3"/>
          </p:cNvCxnSpPr>
          <p:nvPr/>
        </p:nvCxnSpPr>
        <p:spPr>
          <a:xfrm rot="10800000" flipH="1">
            <a:off x="8449075" y="4372100"/>
            <a:ext cx="1356600" cy="1133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5" name="Google Shape;755;p74"/>
          <p:cNvSpPr/>
          <p:nvPr/>
        </p:nvSpPr>
        <p:spPr>
          <a:xfrm>
            <a:off x="5681113" y="1791375"/>
            <a:ext cx="3732600" cy="588900"/>
          </a:xfrm>
          <a:prstGeom prst="ellipse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74"/>
          <p:cNvSpPr/>
          <p:nvPr/>
        </p:nvSpPr>
        <p:spPr>
          <a:xfrm>
            <a:off x="8925800" y="4091875"/>
            <a:ext cx="3312300" cy="522600"/>
          </a:xfrm>
          <a:prstGeom prst="ellipse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75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Introduction to Task 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75"/>
          <p:cNvSpPr txBox="1">
            <a:spLocks noGrp="1"/>
          </p:cNvSpPr>
          <p:nvPr>
            <p:ph type="body" idx="1"/>
          </p:nvPr>
        </p:nvSpPr>
        <p:spPr>
          <a:xfrm>
            <a:off x="325800" y="620200"/>
            <a:ext cx="11828100" cy="1200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Objective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3D85C6"/>
                </a:solidFill>
              </a:rPr>
              <a:t>Analyze and model two PV plants to:</a:t>
            </a:r>
            <a:endParaRPr sz="1600" b="1">
              <a:solidFill>
                <a:srgbClr val="3D85C6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Char char="●"/>
            </a:pPr>
            <a:r>
              <a:rPr lang="en-GB" sz="1600" b="1">
                <a:solidFill>
                  <a:srgbClr val="3D85C6"/>
                </a:solidFill>
              </a:rPr>
              <a:t>predict the AC or DC power of each inverter in the plants.</a:t>
            </a:r>
            <a:endParaRPr sz="1600" b="1">
              <a:solidFill>
                <a:srgbClr val="3D85C6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>
              <a:solidFill>
                <a:srgbClr val="3D85C6"/>
              </a:solidFill>
            </a:endParaRPr>
          </a:p>
        </p:txBody>
      </p:sp>
      <p:cxnSp>
        <p:nvCxnSpPr>
          <p:cNvPr id="764" name="Google Shape;764;p75"/>
          <p:cNvCxnSpPr/>
          <p:nvPr/>
        </p:nvCxnSpPr>
        <p:spPr>
          <a:xfrm>
            <a:off x="327025" y="1737000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65" name="Google Shape;765;p75"/>
          <p:cNvSpPr txBox="1">
            <a:spLocks noGrp="1"/>
          </p:cNvSpPr>
          <p:nvPr>
            <p:ph type="body" idx="1"/>
          </p:nvPr>
        </p:nvSpPr>
        <p:spPr>
          <a:xfrm>
            <a:off x="265525" y="1820488"/>
            <a:ext cx="11602200" cy="52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chemeClr val="accent1"/>
                </a:solidFill>
              </a:rPr>
              <a:t>Workflow Overview</a:t>
            </a:r>
            <a:endParaRPr sz="3000" b="1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rgbClr val="3D85C6"/>
              </a:solidFill>
            </a:endParaRPr>
          </a:p>
        </p:txBody>
      </p:sp>
      <p:sp>
        <p:nvSpPr>
          <p:cNvPr id="766" name="Google Shape;766;p75"/>
          <p:cNvSpPr/>
          <p:nvPr/>
        </p:nvSpPr>
        <p:spPr>
          <a:xfrm rot="10800000" flipH="1">
            <a:off x="-725304" y="-35461003"/>
            <a:ext cx="725200" cy="995686"/>
          </a:xfrm>
          <a:custGeom>
            <a:avLst/>
            <a:gdLst/>
            <a:ahLst/>
            <a:cxnLst/>
            <a:rect l="l" t="t" r="r" b="b"/>
            <a:pathLst>
              <a:path w="817" h="921" extrusionOk="0">
                <a:moveTo>
                  <a:pt x="0" y="0"/>
                </a:moveTo>
                <a:lnTo>
                  <a:pt x="697" y="0"/>
                </a:lnTo>
                <a:lnTo>
                  <a:pt x="816" y="555"/>
                </a:lnTo>
                <a:lnTo>
                  <a:pt x="745" y="817"/>
                </a:lnTo>
                <a:lnTo>
                  <a:pt x="626" y="817"/>
                </a:lnTo>
                <a:lnTo>
                  <a:pt x="562" y="920"/>
                </a:lnTo>
                <a:lnTo>
                  <a:pt x="491" y="817"/>
                </a:lnTo>
                <a:lnTo>
                  <a:pt x="71" y="817"/>
                </a:lnTo>
                <a:lnTo>
                  <a:pt x="111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75"/>
          <p:cNvSpPr/>
          <p:nvPr/>
        </p:nvSpPr>
        <p:spPr>
          <a:xfrm rot="10800000" flipH="1">
            <a:off x="-3494310" y="-35665618"/>
            <a:ext cx="732301" cy="1200301"/>
          </a:xfrm>
          <a:custGeom>
            <a:avLst/>
            <a:gdLst/>
            <a:ahLst/>
            <a:cxnLst/>
            <a:rect l="l" t="t" r="r" b="b"/>
            <a:pathLst>
              <a:path w="825" h="1113" extrusionOk="0">
                <a:moveTo>
                  <a:pt x="0" y="0"/>
                </a:moveTo>
                <a:lnTo>
                  <a:pt x="697" y="0"/>
                </a:lnTo>
                <a:lnTo>
                  <a:pt x="824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75"/>
          <p:cNvSpPr/>
          <p:nvPr/>
        </p:nvSpPr>
        <p:spPr>
          <a:xfrm rot="10800000" flipH="1">
            <a:off x="-2799126" y="-35665618"/>
            <a:ext cx="725200" cy="1200301"/>
          </a:xfrm>
          <a:custGeom>
            <a:avLst/>
            <a:gdLst/>
            <a:ahLst/>
            <a:cxnLst/>
            <a:rect l="l" t="t" r="r" b="b"/>
            <a:pathLst>
              <a:path w="817" h="1113" extrusionOk="0">
                <a:moveTo>
                  <a:pt x="0" y="0"/>
                </a:moveTo>
                <a:lnTo>
                  <a:pt x="697" y="0"/>
                </a:lnTo>
                <a:lnTo>
                  <a:pt x="816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75"/>
          <p:cNvSpPr/>
          <p:nvPr/>
        </p:nvSpPr>
        <p:spPr>
          <a:xfrm rot="10800000" flipH="1">
            <a:off x="-2116737" y="-35665618"/>
            <a:ext cx="739402" cy="1200301"/>
          </a:xfrm>
          <a:custGeom>
            <a:avLst/>
            <a:gdLst/>
            <a:ahLst/>
            <a:cxnLst/>
            <a:rect l="l" t="t" r="r" b="b"/>
            <a:pathLst>
              <a:path w="833" h="1113" extrusionOk="0">
                <a:moveTo>
                  <a:pt x="0" y="0"/>
                </a:moveTo>
                <a:lnTo>
                  <a:pt x="713" y="0"/>
                </a:lnTo>
                <a:lnTo>
                  <a:pt x="832" y="556"/>
                </a:lnTo>
                <a:lnTo>
                  <a:pt x="713" y="1112"/>
                </a:lnTo>
                <a:lnTo>
                  <a:pt x="0" y="1112"/>
                </a:lnTo>
                <a:lnTo>
                  <a:pt x="127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75"/>
          <p:cNvSpPr/>
          <p:nvPr/>
        </p:nvSpPr>
        <p:spPr>
          <a:xfrm rot="10800000" flipH="1">
            <a:off x="-1422620" y="-35346401"/>
            <a:ext cx="734502" cy="881083"/>
          </a:xfrm>
          <a:custGeom>
            <a:avLst/>
            <a:gdLst/>
            <a:ahLst/>
            <a:cxnLst/>
            <a:rect l="l" t="t" r="r" b="b"/>
            <a:pathLst>
              <a:path w="825" h="817" extrusionOk="0">
                <a:moveTo>
                  <a:pt x="0" y="0"/>
                </a:moveTo>
                <a:lnTo>
                  <a:pt x="705" y="0"/>
                </a:lnTo>
                <a:lnTo>
                  <a:pt x="824" y="555"/>
                </a:lnTo>
                <a:lnTo>
                  <a:pt x="761" y="816"/>
                </a:lnTo>
                <a:lnTo>
                  <a:pt x="341" y="816"/>
                </a:lnTo>
                <a:lnTo>
                  <a:pt x="269" y="713"/>
                </a:lnTo>
                <a:lnTo>
                  <a:pt x="198" y="816"/>
                </a:lnTo>
                <a:lnTo>
                  <a:pt x="63" y="816"/>
                </a:lnTo>
                <a:lnTo>
                  <a:pt x="119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10144000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7366525" tIns="48669950" rIns="97366525" bIns="486699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75"/>
          <p:cNvSpPr/>
          <p:nvPr/>
        </p:nvSpPr>
        <p:spPr>
          <a:xfrm>
            <a:off x="156149" y="153840"/>
            <a:ext cx="680" cy="937"/>
          </a:xfrm>
          <a:custGeom>
            <a:avLst/>
            <a:gdLst/>
            <a:ahLst/>
            <a:cxnLst/>
            <a:rect l="l" t="t" r="r" b="b"/>
            <a:pathLst>
              <a:path w="817" h="921" extrusionOk="0">
                <a:moveTo>
                  <a:pt x="0" y="0"/>
                </a:moveTo>
                <a:lnTo>
                  <a:pt x="697" y="0"/>
                </a:lnTo>
                <a:lnTo>
                  <a:pt x="816" y="555"/>
                </a:lnTo>
                <a:lnTo>
                  <a:pt x="745" y="817"/>
                </a:lnTo>
                <a:lnTo>
                  <a:pt x="626" y="817"/>
                </a:lnTo>
                <a:lnTo>
                  <a:pt x="562" y="920"/>
                </a:lnTo>
                <a:lnTo>
                  <a:pt x="491" y="817"/>
                </a:lnTo>
                <a:lnTo>
                  <a:pt x="71" y="817"/>
                </a:lnTo>
                <a:lnTo>
                  <a:pt x="111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75"/>
          <p:cNvSpPr/>
          <p:nvPr/>
        </p:nvSpPr>
        <p:spPr>
          <a:xfrm>
            <a:off x="153552" y="153840"/>
            <a:ext cx="687" cy="1130"/>
          </a:xfrm>
          <a:custGeom>
            <a:avLst/>
            <a:gdLst/>
            <a:ahLst/>
            <a:cxnLst/>
            <a:rect l="l" t="t" r="r" b="b"/>
            <a:pathLst>
              <a:path w="825" h="1113" extrusionOk="0">
                <a:moveTo>
                  <a:pt x="0" y="0"/>
                </a:moveTo>
                <a:lnTo>
                  <a:pt x="697" y="0"/>
                </a:lnTo>
                <a:lnTo>
                  <a:pt x="824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75"/>
          <p:cNvSpPr/>
          <p:nvPr/>
        </p:nvSpPr>
        <p:spPr>
          <a:xfrm>
            <a:off x="154204" y="153840"/>
            <a:ext cx="680" cy="1130"/>
          </a:xfrm>
          <a:custGeom>
            <a:avLst/>
            <a:gdLst/>
            <a:ahLst/>
            <a:cxnLst/>
            <a:rect l="l" t="t" r="r" b="b"/>
            <a:pathLst>
              <a:path w="817" h="1113" extrusionOk="0">
                <a:moveTo>
                  <a:pt x="0" y="0"/>
                </a:moveTo>
                <a:lnTo>
                  <a:pt x="697" y="0"/>
                </a:lnTo>
                <a:lnTo>
                  <a:pt x="816" y="556"/>
                </a:lnTo>
                <a:lnTo>
                  <a:pt x="697" y="1112"/>
                </a:lnTo>
                <a:lnTo>
                  <a:pt x="0" y="1112"/>
                </a:lnTo>
                <a:lnTo>
                  <a:pt x="111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75"/>
          <p:cNvSpPr/>
          <p:nvPr/>
        </p:nvSpPr>
        <p:spPr>
          <a:xfrm>
            <a:off x="154844" y="153840"/>
            <a:ext cx="693" cy="1130"/>
          </a:xfrm>
          <a:custGeom>
            <a:avLst/>
            <a:gdLst/>
            <a:ahLst/>
            <a:cxnLst/>
            <a:rect l="l" t="t" r="r" b="b"/>
            <a:pathLst>
              <a:path w="833" h="1113" extrusionOk="0">
                <a:moveTo>
                  <a:pt x="0" y="0"/>
                </a:moveTo>
                <a:lnTo>
                  <a:pt x="713" y="0"/>
                </a:lnTo>
                <a:lnTo>
                  <a:pt x="832" y="556"/>
                </a:lnTo>
                <a:lnTo>
                  <a:pt x="713" y="1112"/>
                </a:lnTo>
                <a:lnTo>
                  <a:pt x="0" y="1112"/>
                </a:lnTo>
                <a:lnTo>
                  <a:pt x="127" y="556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75"/>
          <p:cNvSpPr/>
          <p:nvPr/>
        </p:nvSpPr>
        <p:spPr>
          <a:xfrm>
            <a:off x="155495" y="153840"/>
            <a:ext cx="689" cy="829"/>
          </a:xfrm>
          <a:custGeom>
            <a:avLst/>
            <a:gdLst/>
            <a:ahLst/>
            <a:cxnLst/>
            <a:rect l="l" t="t" r="r" b="b"/>
            <a:pathLst>
              <a:path w="825" h="817" extrusionOk="0">
                <a:moveTo>
                  <a:pt x="0" y="0"/>
                </a:moveTo>
                <a:lnTo>
                  <a:pt x="705" y="0"/>
                </a:lnTo>
                <a:lnTo>
                  <a:pt x="824" y="555"/>
                </a:lnTo>
                <a:lnTo>
                  <a:pt x="761" y="816"/>
                </a:lnTo>
                <a:lnTo>
                  <a:pt x="341" y="816"/>
                </a:lnTo>
                <a:lnTo>
                  <a:pt x="269" y="713"/>
                </a:lnTo>
                <a:lnTo>
                  <a:pt x="198" y="816"/>
                </a:lnTo>
                <a:lnTo>
                  <a:pt x="63" y="816"/>
                </a:lnTo>
                <a:lnTo>
                  <a:pt x="119" y="555"/>
                </a:lnTo>
                <a:lnTo>
                  <a:pt x="0" y="0"/>
                </a:lnTo>
              </a:path>
            </a:pathLst>
          </a:custGeom>
          <a:solidFill>
            <a:srgbClr val="808080"/>
          </a:solidFill>
          <a:ln w="9525" cap="rnd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75"/>
          <p:cNvSpPr/>
          <p:nvPr/>
        </p:nvSpPr>
        <p:spPr>
          <a:xfrm>
            <a:off x="489150" y="2400775"/>
            <a:ext cx="2523600" cy="570600"/>
          </a:xfrm>
          <a:prstGeom prst="homePlate">
            <a:avLst>
              <a:gd name="adj" fmla="val 23935"/>
            </a:avLst>
          </a:prstGeom>
          <a:solidFill>
            <a:schemeClr val="accent1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200" b="1">
                <a:solidFill>
                  <a:schemeClr val="lt1"/>
                </a:solidFill>
              </a:rPr>
              <a:t>Feature</a:t>
            </a:r>
            <a:endParaRPr/>
          </a:p>
        </p:txBody>
      </p:sp>
      <p:sp>
        <p:nvSpPr>
          <p:cNvPr id="777" name="Google Shape;777;p75"/>
          <p:cNvSpPr/>
          <p:nvPr/>
        </p:nvSpPr>
        <p:spPr>
          <a:xfrm>
            <a:off x="489150" y="3107738"/>
            <a:ext cx="2381400" cy="112380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•"/>
            </a:pPr>
            <a:r>
              <a:rPr lang="en-GB" sz="1100">
                <a:solidFill>
                  <a:schemeClr val="accent1"/>
                </a:solidFill>
              </a:rPr>
              <a:t>AC_CLEAN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•"/>
            </a:pPr>
            <a:r>
              <a:rPr lang="en-GB" sz="1100">
                <a:solidFill>
                  <a:schemeClr val="accent1"/>
                </a:solidFill>
              </a:rPr>
              <a:t>DC_CLEAN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•"/>
            </a:pPr>
            <a:r>
              <a:rPr lang="en-GB" sz="1100">
                <a:solidFill>
                  <a:schemeClr val="accent1"/>
                </a:solidFill>
              </a:rPr>
              <a:t>AMBIENT_TEMPERATURE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•"/>
            </a:pPr>
            <a:r>
              <a:rPr lang="en-GB" sz="1100">
                <a:solidFill>
                  <a:schemeClr val="accent1"/>
                </a:solidFill>
              </a:rPr>
              <a:t>MODULE_TEMPERATURE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•"/>
            </a:pPr>
            <a:r>
              <a:rPr lang="en-GB" sz="1100">
                <a:solidFill>
                  <a:schemeClr val="accent1"/>
                </a:solidFill>
              </a:rPr>
              <a:t>IRRADIATION_CLEAN</a:t>
            </a:r>
            <a:endParaRPr sz="1100">
              <a:solidFill>
                <a:schemeClr val="dk1"/>
              </a:solidFill>
            </a:endParaRPr>
          </a:p>
          <a:p>
            <a:pPr marL="45720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1100">
              <a:solidFill>
                <a:schemeClr val="accent1"/>
              </a:solidFill>
            </a:endParaRPr>
          </a:p>
          <a:p>
            <a:pPr marL="45720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1100">
              <a:solidFill>
                <a:schemeClr val="accent1"/>
              </a:solidFill>
            </a:endParaRPr>
          </a:p>
        </p:txBody>
      </p:sp>
      <p:sp>
        <p:nvSpPr>
          <p:cNvPr id="778" name="Google Shape;778;p75"/>
          <p:cNvSpPr/>
          <p:nvPr/>
        </p:nvSpPr>
        <p:spPr>
          <a:xfrm>
            <a:off x="3639137" y="2385750"/>
            <a:ext cx="2017800" cy="572400"/>
          </a:xfrm>
          <a:prstGeom prst="homePlate">
            <a:avLst>
              <a:gd name="adj" fmla="val 23862"/>
            </a:avLst>
          </a:prstGeom>
          <a:solidFill>
            <a:schemeClr val="accent1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FFFFFF"/>
                </a:solidFill>
              </a:rPr>
              <a:t>Splitting</a:t>
            </a:r>
            <a:endParaRPr/>
          </a:p>
        </p:txBody>
      </p:sp>
      <p:sp>
        <p:nvSpPr>
          <p:cNvPr id="779" name="Google Shape;779;p75"/>
          <p:cNvSpPr/>
          <p:nvPr/>
        </p:nvSpPr>
        <p:spPr>
          <a:xfrm>
            <a:off x="3639138" y="3089600"/>
            <a:ext cx="1933200" cy="99570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04800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70% training</a:t>
            </a:r>
            <a:endParaRPr sz="1100">
              <a:solidFill>
                <a:schemeClr val="accent1"/>
              </a:solidFill>
            </a:endParaRPr>
          </a:p>
          <a:p>
            <a:pPr marL="457200" lvl="0" indent="-304800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15% validation</a:t>
            </a:r>
            <a:endParaRPr sz="1100">
              <a:solidFill>
                <a:schemeClr val="accent1"/>
              </a:solidFill>
            </a:endParaRPr>
          </a:p>
          <a:p>
            <a:pPr marL="457200" lvl="0" indent="-304800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15% test </a:t>
            </a:r>
            <a:endParaRPr sz="1100">
              <a:solidFill>
                <a:schemeClr val="accent1"/>
              </a:solidFill>
            </a:endParaRPr>
          </a:p>
          <a:p>
            <a:pPr marL="457200" lvl="0" indent="-298450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•"/>
            </a:pPr>
            <a:r>
              <a:rPr lang="en-GB" sz="1100">
                <a:solidFill>
                  <a:schemeClr val="accent1"/>
                </a:solidFill>
              </a:rPr>
              <a:t>15 minutes invertal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1100">
              <a:solidFill>
                <a:schemeClr val="accent1"/>
              </a:solidFill>
            </a:endParaRPr>
          </a:p>
        </p:txBody>
      </p:sp>
      <p:sp>
        <p:nvSpPr>
          <p:cNvPr id="780" name="Google Shape;780;p75"/>
          <p:cNvSpPr/>
          <p:nvPr/>
        </p:nvSpPr>
        <p:spPr>
          <a:xfrm>
            <a:off x="6283326" y="2385750"/>
            <a:ext cx="2333700" cy="570600"/>
          </a:xfrm>
          <a:prstGeom prst="homePlate">
            <a:avLst>
              <a:gd name="adj" fmla="val 23910"/>
            </a:avLst>
          </a:prstGeom>
          <a:solidFill>
            <a:schemeClr val="accent1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FFFFFF"/>
                </a:solidFill>
              </a:rPr>
              <a:t>LSTM</a:t>
            </a:r>
            <a:r>
              <a:rPr lang="en-GB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GB" sz="1200" b="1">
                <a:solidFill>
                  <a:srgbClr val="FFFFFF"/>
                </a:solidFill>
              </a:rPr>
              <a:t> Model</a:t>
            </a:r>
            <a:endParaRPr/>
          </a:p>
        </p:txBody>
      </p:sp>
      <p:sp>
        <p:nvSpPr>
          <p:cNvPr id="781" name="Google Shape;781;p75"/>
          <p:cNvSpPr/>
          <p:nvPr/>
        </p:nvSpPr>
        <p:spPr>
          <a:xfrm>
            <a:off x="6283325" y="3146888"/>
            <a:ext cx="2381400" cy="88110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MAE and RMSE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Different input window lengths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accent1"/>
                </a:solidFill>
              </a:rPr>
              <a:t>6, 12, 18, and 24 hours</a:t>
            </a:r>
            <a:endParaRPr sz="1100">
              <a:solidFill>
                <a:schemeClr val="accent1"/>
              </a:solidFill>
            </a:endParaRPr>
          </a:p>
        </p:txBody>
      </p:sp>
      <p:sp>
        <p:nvSpPr>
          <p:cNvPr id="782" name="Google Shape;782;p75"/>
          <p:cNvSpPr/>
          <p:nvPr/>
        </p:nvSpPr>
        <p:spPr>
          <a:xfrm>
            <a:off x="9396849" y="2385750"/>
            <a:ext cx="2017800" cy="570600"/>
          </a:xfrm>
          <a:prstGeom prst="homePlate">
            <a:avLst>
              <a:gd name="adj" fmla="val 23910"/>
            </a:avLst>
          </a:prstGeom>
          <a:solidFill>
            <a:schemeClr val="accent1"/>
          </a:solidFill>
          <a:ln w="9525" cap="flat" cmpd="sng">
            <a:solidFill>
              <a:srgbClr val="CCCCC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52125" tIns="52125" rIns="52125" bIns="52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200" b="1">
                <a:solidFill>
                  <a:schemeClr val="lt1"/>
                </a:solidFill>
              </a:rPr>
              <a:t>Baseline Models</a:t>
            </a:r>
            <a:endParaRPr/>
          </a:p>
        </p:txBody>
      </p:sp>
      <p:sp>
        <p:nvSpPr>
          <p:cNvPr id="783" name="Google Shape;783;p75"/>
          <p:cNvSpPr/>
          <p:nvPr/>
        </p:nvSpPr>
        <p:spPr>
          <a:xfrm>
            <a:off x="9396850" y="3242300"/>
            <a:ext cx="1933200" cy="69030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04800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Persistence model</a:t>
            </a:r>
            <a:endParaRPr sz="1100">
              <a:solidFill>
                <a:schemeClr val="accent1"/>
              </a:solidFill>
            </a:endParaRPr>
          </a:p>
          <a:p>
            <a:pPr marL="457200" lvl="0" indent="-304800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•"/>
            </a:pPr>
            <a:r>
              <a:rPr lang="en-GB" sz="1100">
                <a:solidFill>
                  <a:schemeClr val="accent1"/>
                </a:solidFill>
              </a:rPr>
              <a:t>Moving Average (MA) model</a:t>
            </a:r>
            <a:endParaRPr sz="1100">
              <a:solidFill>
                <a:schemeClr val="accent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endParaRPr sz="1100">
              <a:solidFill>
                <a:schemeClr val="accen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endParaRPr sz="1100">
              <a:solidFill>
                <a:schemeClr val="accent1"/>
              </a:solidFill>
            </a:endParaRPr>
          </a:p>
        </p:txBody>
      </p:sp>
      <p:pic>
        <p:nvPicPr>
          <p:cNvPr id="784" name="Google Shape;784;p75" title="Plant1_AC_1BY6WEcLGh8j5v7_forecast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5400" y="4562325"/>
            <a:ext cx="4408376" cy="16531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85" name="Google Shape;785;p75"/>
          <p:cNvCxnSpPr/>
          <p:nvPr/>
        </p:nvCxnSpPr>
        <p:spPr>
          <a:xfrm>
            <a:off x="327025" y="4412450"/>
            <a:ext cx="114351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86" name="Google Shape;786;p75"/>
          <p:cNvSpPr txBox="1"/>
          <p:nvPr/>
        </p:nvSpPr>
        <p:spPr>
          <a:xfrm>
            <a:off x="458200" y="4642425"/>
            <a:ext cx="2017800" cy="4926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</a:rPr>
              <a:t>Example : AC forecast for plant 1BYWEcLGh8j5v7</a:t>
            </a:r>
            <a:endParaRPr sz="1000">
              <a:solidFill>
                <a:schemeClr val="accent1"/>
              </a:solidFill>
            </a:endParaRPr>
          </a:p>
        </p:txBody>
      </p:sp>
      <p:pic>
        <p:nvPicPr>
          <p:cNvPr id="787" name="Google Shape;787;p75" title="Plant1_AC_1BY6WEcLGh8j5v7_erro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03175" y="4602325"/>
            <a:ext cx="4219848" cy="1582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82400"/>
            <a:ext cx="5343073" cy="26466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p76"/>
          <p:cNvSpPr txBox="1">
            <a:spLocks noGrp="1"/>
          </p:cNvSpPr>
          <p:nvPr>
            <p:ph type="title"/>
          </p:nvPr>
        </p:nvSpPr>
        <p:spPr>
          <a:xfrm>
            <a:off x="325800" y="252000"/>
            <a:ext cx="11540700" cy="378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Task 6 Results</a:t>
            </a:r>
            <a:endParaRPr/>
          </a:p>
        </p:txBody>
      </p:sp>
      <p:sp>
        <p:nvSpPr>
          <p:cNvPr id="795" name="Google Shape;795;p76"/>
          <p:cNvSpPr txBox="1">
            <a:spLocks noGrp="1"/>
          </p:cNvSpPr>
          <p:nvPr>
            <p:ph type="sldNum" idx="12"/>
          </p:nvPr>
        </p:nvSpPr>
        <p:spPr>
          <a:xfrm>
            <a:off x="5936755" y="6393702"/>
            <a:ext cx="318600" cy="13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 sz="1100"/>
              <a:t>12</a:t>
            </a:fld>
            <a:endParaRPr sz="1100"/>
          </a:p>
        </p:txBody>
      </p:sp>
      <p:cxnSp>
        <p:nvCxnSpPr>
          <p:cNvPr id="796" name="Google Shape;796;p76"/>
          <p:cNvCxnSpPr/>
          <p:nvPr/>
        </p:nvCxnSpPr>
        <p:spPr>
          <a:xfrm>
            <a:off x="448150" y="3603250"/>
            <a:ext cx="97935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97" name="Google Shape;797;p76"/>
          <p:cNvSpPr/>
          <p:nvPr/>
        </p:nvSpPr>
        <p:spPr>
          <a:xfrm rot="-10064716">
            <a:off x="5040890" y="188192"/>
            <a:ext cx="1380865" cy="1345916"/>
          </a:xfrm>
          <a:prstGeom prst="teardrop">
            <a:avLst>
              <a:gd name="adj" fmla="val 100000"/>
            </a:avLst>
          </a:prstGeom>
          <a:solidFill>
            <a:srgbClr val="CFE2F3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76"/>
          <p:cNvSpPr txBox="1"/>
          <p:nvPr/>
        </p:nvSpPr>
        <p:spPr>
          <a:xfrm>
            <a:off x="5092618" y="433350"/>
            <a:ext cx="12774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 b="1">
                <a:solidFill>
                  <a:schemeClr val="accent1"/>
                </a:solidFill>
              </a:rPr>
              <a:t>LSTM has higher accuracy than other baseline models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799" name="Google Shape;799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03700" y="782400"/>
            <a:ext cx="5088302" cy="2524275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Google Shape;800;p76"/>
          <p:cNvSpPr/>
          <p:nvPr/>
        </p:nvSpPr>
        <p:spPr>
          <a:xfrm rot="678">
            <a:off x="5582124" y="2004129"/>
            <a:ext cx="1521600" cy="1399800"/>
          </a:xfrm>
          <a:prstGeom prst="teardrop">
            <a:avLst>
              <a:gd name="adj" fmla="val 100000"/>
            </a:avLst>
          </a:prstGeom>
          <a:solidFill>
            <a:srgbClr val="CFE2F3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chemeClr val="accent1"/>
              </a:solidFill>
            </a:endParaRPr>
          </a:p>
        </p:txBody>
      </p:sp>
      <p:sp>
        <p:nvSpPr>
          <p:cNvPr id="801" name="Google Shape;801;p76"/>
          <p:cNvSpPr txBox="1"/>
          <p:nvPr/>
        </p:nvSpPr>
        <p:spPr>
          <a:xfrm>
            <a:off x="5763243" y="2137625"/>
            <a:ext cx="12774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 b="1">
                <a:solidFill>
                  <a:schemeClr val="accent1"/>
                </a:solidFill>
              </a:rPr>
              <a:t>as the forecasting horizon increases,errors rise</a:t>
            </a:r>
            <a:endParaRPr sz="1100" b="1">
              <a:solidFill>
                <a:schemeClr val="accent1"/>
              </a:solidFill>
            </a:endParaRPr>
          </a:p>
        </p:txBody>
      </p:sp>
      <p:pic>
        <p:nvPicPr>
          <p:cNvPr id="802" name="Google Shape;802;p7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770850"/>
            <a:ext cx="5555026" cy="2357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803" name="Google Shape;803;p7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67175" y="3838725"/>
            <a:ext cx="5424824" cy="2357076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76"/>
          <p:cNvSpPr/>
          <p:nvPr/>
        </p:nvSpPr>
        <p:spPr>
          <a:xfrm rot="-154567">
            <a:off x="4991525" y="5166535"/>
            <a:ext cx="1682000" cy="1503016"/>
          </a:xfrm>
          <a:prstGeom prst="teardrop">
            <a:avLst>
              <a:gd name="adj" fmla="val 100000"/>
            </a:avLst>
          </a:prstGeom>
          <a:solidFill>
            <a:srgbClr val="CFE2F3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chemeClr val="accent1"/>
              </a:solidFill>
            </a:endParaRPr>
          </a:p>
        </p:txBody>
      </p:sp>
      <p:sp>
        <p:nvSpPr>
          <p:cNvPr id="805" name="Google Shape;805;p76"/>
          <p:cNvSpPr txBox="1"/>
          <p:nvPr/>
        </p:nvSpPr>
        <p:spPr>
          <a:xfrm>
            <a:off x="5271568" y="5260900"/>
            <a:ext cx="12774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 b="1">
                <a:solidFill>
                  <a:schemeClr val="accent1"/>
                </a:solidFill>
              </a:rPr>
              <a:t>both AC and DC power,the LSTM model delivers stable one-hour-ahead predictions</a:t>
            </a:r>
            <a:endParaRPr sz="1100" b="1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78"/>
          <p:cNvSpPr txBox="1"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Arial"/>
              <a:buNone/>
            </a:pPr>
            <a:r>
              <a:rPr lang="en-GB"/>
              <a:t>Thank you</a:t>
            </a:r>
            <a:endParaRPr/>
          </a:p>
        </p:txBody>
      </p:sp>
      <p:sp>
        <p:nvSpPr>
          <p:cNvPr id="819" name="Google Shape;819;p78"/>
          <p:cNvSpPr txBox="1">
            <a:spLocks noGrp="1"/>
          </p:cNvSpPr>
          <p:nvPr>
            <p:ph type="body" idx="1"/>
          </p:nvPr>
        </p:nvSpPr>
        <p:spPr>
          <a:xfrm>
            <a:off x="330200" y="5878513"/>
            <a:ext cx="5606257" cy="652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GB"/>
              <a:t>CIVE70111 - Machine Learning</a:t>
            </a:r>
            <a:endParaRPr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GB"/>
              <a:t>Group 11</a:t>
            </a:r>
            <a:endParaRPr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GB"/>
              <a:t>12/12/2025</a:t>
            </a:r>
            <a:endParaRPr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rgbClr val="000000"/>
      </a:dk1>
      <a:lt1>
        <a:srgbClr val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Widescreen</PresentationFormat>
  <Paragraphs>251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Inter Medium</vt:lpstr>
      <vt:lpstr>Arial</vt:lpstr>
      <vt:lpstr>Calibri</vt:lpstr>
      <vt:lpstr>Courier New</vt:lpstr>
      <vt:lpstr>Times New Roman</vt:lpstr>
      <vt:lpstr>ICL PPT Theme</vt:lpstr>
      <vt:lpstr>Data-Driven Optimization and Fault Detection in Solar Power Plants</vt:lpstr>
      <vt:lpstr>Task 1 Scope and Objectives   Using machine learning to predict the performance of power plants and conduct fault detection</vt:lpstr>
      <vt:lpstr>Introduction to Task 2</vt:lpstr>
      <vt:lpstr>Task 2 Results </vt:lpstr>
      <vt:lpstr>Introduction to Task 3</vt:lpstr>
      <vt:lpstr>Task 3 Results </vt:lpstr>
      <vt:lpstr>Introduction to Task 4</vt:lpstr>
      <vt:lpstr>Task 4 Results</vt:lpstr>
      <vt:lpstr>Introduction to Task 5</vt:lpstr>
      <vt:lpstr>Task 5 Results</vt:lpstr>
      <vt:lpstr>Introduction to Task 6 </vt:lpstr>
      <vt:lpstr>Task 6 Results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Wong, King Hung Michael</cp:lastModifiedBy>
  <cp:revision>1</cp:revision>
  <dcterms:modified xsi:type="dcterms:W3CDTF">2025-12-12T03:54:08Z</dcterms:modified>
</cp:coreProperties>
</file>