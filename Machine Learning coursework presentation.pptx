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1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Inter Medium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ING B.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383A04-D09E-4111-B0C2-8AAE40CFDC09}" v="11" dt="2025-12-11T20:50:58.740"/>
    <p1510:client id="{ED2C9C05-8ABF-41CB-9CA8-48B9478758AE}" v="31" dt="2025-12-11T21:11:24.756"/>
  </p1510:revLst>
</p1510:revInfo>
</file>

<file path=ppt/tableStyles.xml><?xml version="1.0" encoding="utf-8"?>
<a:tblStyleLst xmlns:a="http://schemas.openxmlformats.org/drawingml/2006/main" def="{B2391DEF-1E9F-4344-B672-ACDE83FDC6BA}">
  <a:tblStyle styleId="{B2391DEF-1E9F-4344-B672-ACDE83FDC6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77B59BE-8660-47C7-AB46-ABBF453CBB0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g, King Hung Michael" userId="69d968b6-5bbf-4d40-86b9-18aae09f13de" providerId="ADAL" clId="{12CF18AD-75AA-4E60-BF5C-A82D996D9EB1}"/>
    <pc:docChg chg="modSld">
      <pc:chgData name="Wong, King Hung Michael" userId="69d968b6-5bbf-4d40-86b9-18aae09f13de" providerId="ADAL" clId="{12CF18AD-75AA-4E60-BF5C-A82D996D9EB1}" dt="2025-12-11T21:11:24.756" v="30" actId="20577"/>
      <pc:docMkLst>
        <pc:docMk/>
      </pc:docMkLst>
      <pc:sldChg chg="modSp mod">
        <pc:chgData name="Wong, King Hung Michael" userId="69d968b6-5bbf-4d40-86b9-18aae09f13de" providerId="ADAL" clId="{12CF18AD-75AA-4E60-BF5C-A82D996D9EB1}" dt="2025-12-11T21:07:42.130" v="28" actId="20577"/>
        <pc:sldMkLst>
          <pc:docMk/>
          <pc:sldMk cId="0" sldId="258"/>
        </pc:sldMkLst>
        <pc:spChg chg="mod">
          <ac:chgData name="Wong, King Hung Michael" userId="69d968b6-5bbf-4d40-86b9-18aae09f13de" providerId="ADAL" clId="{12CF18AD-75AA-4E60-BF5C-A82D996D9EB1}" dt="2025-12-11T21:05:47.431" v="2" actId="20577"/>
          <ac:spMkLst>
            <pc:docMk/>
            <pc:sldMk cId="0" sldId="258"/>
            <ac:spMk id="591" creationId="{00000000-0000-0000-0000-000000000000}"/>
          </ac:spMkLst>
        </pc:spChg>
        <pc:spChg chg="mod">
          <ac:chgData name="Wong, King Hung Michael" userId="69d968b6-5bbf-4d40-86b9-18aae09f13de" providerId="ADAL" clId="{12CF18AD-75AA-4E60-BF5C-A82D996D9EB1}" dt="2025-12-11T21:07:42.130" v="28" actId="20577"/>
          <ac:spMkLst>
            <pc:docMk/>
            <pc:sldMk cId="0" sldId="258"/>
            <ac:spMk id="598" creationId="{00000000-0000-0000-0000-000000000000}"/>
          </ac:spMkLst>
        </pc:spChg>
        <pc:spChg chg="mod">
          <ac:chgData name="Wong, King Hung Michael" userId="69d968b6-5bbf-4d40-86b9-18aae09f13de" providerId="ADAL" clId="{12CF18AD-75AA-4E60-BF5C-A82D996D9EB1}" dt="2025-12-11T21:07:31.596" v="17" actId="14100"/>
          <ac:spMkLst>
            <pc:docMk/>
            <pc:sldMk cId="0" sldId="258"/>
            <ac:spMk id="599" creationId="{00000000-0000-0000-0000-000000000000}"/>
          </ac:spMkLst>
        </pc:spChg>
      </pc:sldChg>
      <pc:sldChg chg="modSp mod">
        <pc:chgData name="Wong, King Hung Michael" userId="69d968b6-5bbf-4d40-86b9-18aae09f13de" providerId="ADAL" clId="{12CF18AD-75AA-4E60-BF5C-A82D996D9EB1}" dt="2025-12-11T21:11:24.756" v="30" actId="20577"/>
        <pc:sldMkLst>
          <pc:docMk/>
          <pc:sldMk cId="0" sldId="262"/>
        </pc:sldMkLst>
        <pc:spChg chg="mod">
          <ac:chgData name="Wong, King Hung Michael" userId="69d968b6-5bbf-4d40-86b9-18aae09f13de" providerId="ADAL" clId="{12CF18AD-75AA-4E60-BF5C-A82D996D9EB1}" dt="2025-12-11T21:11:24.756" v="30" actId="20577"/>
          <ac:spMkLst>
            <pc:docMk/>
            <pc:sldMk cId="0" sldId="262"/>
            <ac:spMk id="664" creationId="{00000000-0000-0000-0000-000000000000}"/>
          </ac:spMkLst>
        </pc:spChg>
      </pc:sldChg>
    </pc:docChg>
  </pc:docChgLst>
  <pc:docChgLst>
    <pc:chgData name="BAO, WEIYI" userId="b4ec8cbd-2d81-402d-a75a-ba0fe1adb6f8" providerId="ADAL" clId="{23A05823-F47D-424F-BC08-4EF49AB24348}"/>
    <pc:docChg chg="undo custSel addSld delSld modSld">
      <pc:chgData name="BAO, WEIYI" userId="b4ec8cbd-2d81-402d-a75a-ba0fe1adb6f8" providerId="ADAL" clId="{23A05823-F47D-424F-BC08-4EF49AB24348}" dt="2025-12-11T20:50:58.740" v="57"/>
      <pc:docMkLst>
        <pc:docMk/>
      </pc:docMkLst>
      <pc:sldChg chg="addSp delSp modSp mod">
        <pc:chgData name="BAO, WEIYI" userId="b4ec8cbd-2d81-402d-a75a-ba0fe1adb6f8" providerId="ADAL" clId="{23A05823-F47D-424F-BC08-4EF49AB24348}" dt="2025-12-11T20:50:58.740" v="57"/>
        <pc:sldMkLst>
          <pc:docMk/>
          <pc:sldMk cId="0" sldId="257"/>
        </pc:sldMkLst>
        <pc:spChg chg="add mod">
          <ac:chgData name="BAO, WEIYI" userId="b4ec8cbd-2d81-402d-a75a-ba0fe1adb6f8" providerId="ADAL" clId="{23A05823-F47D-424F-BC08-4EF49AB24348}" dt="2025-12-11T20:31:19.203" v="54" actId="1076"/>
          <ac:spMkLst>
            <pc:docMk/>
            <pc:sldMk cId="0" sldId="257"/>
            <ac:spMk id="2" creationId="{AD88B5E4-1553-36DA-42CC-AB8942ED49CE}"/>
          </ac:spMkLst>
        </pc:spChg>
        <pc:spChg chg="add mod">
          <ac:chgData name="BAO, WEIYI" userId="b4ec8cbd-2d81-402d-a75a-ba0fe1adb6f8" providerId="ADAL" clId="{23A05823-F47D-424F-BC08-4EF49AB24348}" dt="2025-12-11T20:31:02.473" v="52" actId="1076"/>
          <ac:spMkLst>
            <pc:docMk/>
            <pc:sldMk cId="0" sldId="257"/>
            <ac:spMk id="3" creationId="{40F53911-4323-FBF0-7AF6-75619241BA2E}"/>
          </ac:spMkLst>
        </pc:spChg>
        <pc:spChg chg="add mod">
          <ac:chgData name="BAO, WEIYI" userId="b4ec8cbd-2d81-402d-a75a-ba0fe1adb6f8" providerId="ADAL" clId="{23A05823-F47D-424F-BC08-4EF49AB24348}" dt="2025-12-11T20:07:58.003" v="36" actId="20577"/>
          <ac:spMkLst>
            <pc:docMk/>
            <pc:sldMk cId="0" sldId="257"/>
            <ac:spMk id="4" creationId="{9930A59D-9B94-6BE6-A3D8-68EEAB97AA4F}"/>
          </ac:spMkLst>
        </pc:spChg>
        <pc:spChg chg="add del mod">
          <ac:chgData name="BAO, WEIYI" userId="b4ec8cbd-2d81-402d-a75a-ba0fe1adb6f8" providerId="ADAL" clId="{23A05823-F47D-424F-BC08-4EF49AB24348}" dt="2025-12-11T20:50:58.740" v="57"/>
          <ac:spMkLst>
            <pc:docMk/>
            <pc:sldMk cId="0" sldId="257"/>
            <ac:spMk id="5" creationId="{D154A857-A9C4-2167-CEC2-2AE1AB913655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69" creationId="{00000000-0000-0000-0000-000000000000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70" creationId="{00000000-0000-0000-0000-000000000000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72" creationId="{00000000-0000-0000-0000-000000000000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73" creationId="{00000000-0000-0000-0000-000000000000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74" creationId="{00000000-0000-0000-0000-000000000000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76" creationId="{00000000-0000-0000-0000-000000000000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78" creationId="{00000000-0000-0000-0000-000000000000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79" creationId="{00000000-0000-0000-0000-000000000000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80" creationId="{00000000-0000-0000-0000-000000000000}"/>
          </ac:spMkLst>
        </pc:spChg>
        <pc:spChg chg="add del">
          <ac:chgData name="BAO, WEIYI" userId="b4ec8cbd-2d81-402d-a75a-ba0fe1adb6f8" providerId="ADAL" clId="{23A05823-F47D-424F-BC08-4EF49AB24348}" dt="2025-12-11T20:09:14.188" v="41" actId="21"/>
          <ac:spMkLst>
            <pc:docMk/>
            <pc:sldMk cId="0" sldId="257"/>
            <ac:spMk id="582" creationId="{00000000-0000-0000-0000-000000000000}"/>
          </ac:spMkLst>
        </pc:spChg>
        <pc:cxnChg chg="del">
          <ac:chgData name="BAO, WEIYI" userId="b4ec8cbd-2d81-402d-a75a-ba0fe1adb6f8" providerId="ADAL" clId="{23A05823-F47D-424F-BC08-4EF49AB24348}" dt="2025-12-11T20:08:45.220" v="39" actId="478"/>
          <ac:cxnSpMkLst>
            <pc:docMk/>
            <pc:sldMk cId="0" sldId="257"/>
            <ac:cxnSpMk id="584" creationId="{00000000-0000-0000-0000-000000000000}"/>
          </ac:cxnSpMkLst>
        </pc:cxnChg>
      </pc:sldChg>
      <pc:sldChg chg="addSp delSp modSp add mod">
        <pc:chgData name="BAO, WEIYI" userId="b4ec8cbd-2d81-402d-a75a-ba0fe1adb6f8" providerId="ADAL" clId="{23A05823-F47D-424F-BC08-4EF49AB24348}" dt="2025-12-11T20:09:34.657" v="51" actId="478"/>
        <pc:sldMkLst>
          <pc:docMk/>
          <pc:sldMk cId="834911967" sldId="270"/>
        </pc:sldMkLst>
        <pc:spChg chg="add del mod">
          <ac:chgData name="BAO, WEIYI" userId="b4ec8cbd-2d81-402d-a75a-ba0fe1adb6f8" providerId="ADAL" clId="{23A05823-F47D-424F-BC08-4EF49AB24348}" dt="2025-12-11T20:09:34.657" v="51" actId="478"/>
          <ac:spMkLst>
            <pc:docMk/>
            <pc:sldMk cId="834911967" sldId="270"/>
            <ac:spMk id="6" creationId="{1BDFF0B0-9C86-EFD1-E515-E78D0DEB493B}"/>
          </ac:spMkLst>
        </pc:spChg>
        <pc:spChg chg="del">
          <ac:chgData name="BAO, WEIYI" userId="b4ec8cbd-2d81-402d-a75a-ba0fe1adb6f8" providerId="ADAL" clId="{23A05823-F47D-424F-BC08-4EF49AB24348}" dt="2025-12-11T20:09:31.286" v="50" actId="478"/>
          <ac:spMkLst>
            <pc:docMk/>
            <pc:sldMk cId="834911967" sldId="270"/>
            <ac:spMk id="568" creationId="{ABD28E0E-7A84-F605-84DA-68629577B8EB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70" creationId="{A81A0ED8-3953-BC79-DD64-49B118D435B3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71" creationId="{38129B6E-978E-A9F5-2A73-B35CFC59E8F3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72" creationId="{DFD5CAC3-2EC0-5B63-7B1F-1CA38189067D}"/>
          </ac:spMkLst>
        </pc:spChg>
        <pc:spChg chg="del mod">
          <ac:chgData name="BAO, WEIYI" userId="b4ec8cbd-2d81-402d-a75a-ba0fe1adb6f8" providerId="ADAL" clId="{23A05823-F47D-424F-BC08-4EF49AB24348}" dt="2025-12-11T20:09:29.564" v="49" actId="478"/>
          <ac:spMkLst>
            <pc:docMk/>
            <pc:sldMk cId="834911967" sldId="270"/>
            <ac:spMk id="574" creationId="{338D6FD7-3B4F-6C6A-F20A-88A0AC5B69AD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75" creationId="{CE110904-F98E-0E33-9CF7-8B4138595259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76" creationId="{6E209D24-D961-32E5-927F-AC4384681219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77" creationId="{51FF316B-A2C5-F9D6-AD5B-BA7E41319B3C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78" creationId="{5B72E0E2-7033-ED27-61CC-D78178ADC0BA}"/>
          </ac:spMkLst>
        </pc:spChg>
        <pc:spChg chg="del">
          <ac:chgData name="BAO, WEIYI" userId="b4ec8cbd-2d81-402d-a75a-ba0fe1adb6f8" providerId="ADAL" clId="{23A05823-F47D-424F-BC08-4EF49AB24348}" dt="2025-12-11T20:09:27.368" v="47" actId="478"/>
          <ac:spMkLst>
            <pc:docMk/>
            <pc:sldMk cId="834911967" sldId="270"/>
            <ac:spMk id="579" creationId="{A1FE7C91-74E2-999C-635D-1C5B8F3D5565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80" creationId="{D8375D20-E8C4-EBDF-70CB-B8BAFC313E9A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81" creationId="{B089773C-5E49-9938-F95B-3FC8EEFEC3D7}"/>
          </ac:spMkLst>
        </pc:spChg>
        <pc:spChg chg="del">
          <ac:chgData name="BAO, WEIYI" userId="b4ec8cbd-2d81-402d-a75a-ba0fe1adb6f8" providerId="ADAL" clId="{23A05823-F47D-424F-BC08-4EF49AB24348}" dt="2025-12-11T20:09:26.072" v="46" actId="478"/>
          <ac:spMkLst>
            <pc:docMk/>
            <pc:sldMk cId="834911967" sldId="270"/>
            <ac:spMk id="582" creationId="{D7747287-3D56-B4B3-D69F-8F74936297E8}"/>
          </ac:spMkLst>
        </pc:spChg>
        <pc:cxnChg chg="del">
          <ac:chgData name="BAO, WEIYI" userId="b4ec8cbd-2d81-402d-a75a-ba0fe1adb6f8" providerId="ADAL" clId="{23A05823-F47D-424F-BC08-4EF49AB24348}" dt="2025-12-11T20:09:27.368" v="47" actId="478"/>
          <ac:cxnSpMkLst>
            <pc:docMk/>
            <pc:sldMk cId="834911967" sldId="270"/>
            <ac:cxnSpMk id="583" creationId="{0F65D99F-6FD1-4BCE-A277-521138B31A8F}"/>
          </ac:cxnSpMkLst>
        </pc:cxnChg>
      </pc:sldChg>
      <pc:sldChg chg="addSp modSp new del">
        <pc:chgData name="BAO, WEIYI" userId="b4ec8cbd-2d81-402d-a75a-ba0fe1adb6f8" providerId="ADAL" clId="{23A05823-F47D-424F-BC08-4EF49AB24348}" dt="2025-12-11T20:09:19.292" v="44" actId="47"/>
        <pc:sldMkLst>
          <pc:docMk/>
          <pc:sldMk cId="2090558975" sldId="270"/>
        </pc:sldMkLst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69" creationId="{00000000-0000-0000-0000-000000000000}"/>
          </ac:spMkLst>
        </pc:spChg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70" creationId="{00000000-0000-0000-0000-000000000000}"/>
          </ac:spMkLst>
        </pc:spChg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71" creationId="{00000000-0000-0000-0000-000000000000}"/>
          </ac:spMkLst>
        </pc:spChg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72" creationId="{00000000-0000-0000-0000-000000000000}"/>
          </ac:spMkLst>
        </pc:spChg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76" creationId="{00000000-0000-0000-0000-000000000000}"/>
          </ac:spMkLst>
        </pc:spChg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78" creationId="{00000000-0000-0000-0000-000000000000}"/>
          </ac:spMkLst>
        </pc:spChg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79" creationId="{00000000-0000-0000-0000-000000000000}"/>
          </ac:spMkLst>
        </pc:spChg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80" creationId="{00000000-0000-0000-0000-000000000000}"/>
          </ac:spMkLst>
        </pc:spChg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81" creationId="{00000000-0000-0000-0000-000000000000}"/>
          </ac:spMkLst>
        </pc:spChg>
        <pc:spChg chg="add mod">
          <ac:chgData name="BAO, WEIYI" userId="b4ec8cbd-2d81-402d-a75a-ba0fe1adb6f8" providerId="ADAL" clId="{23A05823-F47D-424F-BC08-4EF49AB24348}" dt="2025-12-11T20:09:16.587" v="43"/>
          <ac:spMkLst>
            <pc:docMk/>
            <pc:sldMk cId="2090558975" sldId="270"/>
            <ac:spMk id="582" creationId="{00000000-0000-0000-0000-000000000000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2-10T22:46:07.085" idx="1">
    <p:pos x="265" y="2230"/>
    <p:text>Should have 2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af489deca4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af489deca4_5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g3af489deca4_5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>
          <a:extLst>
            <a:ext uri="{FF2B5EF4-FFF2-40B4-BE49-F238E27FC236}">
              <a16:creationId xmlns:a16="http://schemas.microsoft.com/office/drawing/2014/main" id="{1FEC7A49-6FC5-BC1A-B056-33CEEEAB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af489deca4_5_0:notes">
            <a:extLst>
              <a:ext uri="{FF2B5EF4-FFF2-40B4-BE49-F238E27FC236}">
                <a16:creationId xmlns:a16="http://schemas.microsoft.com/office/drawing/2014/main" id="{3BB85BC8-10BA-3EC5-006C-9D3FE5285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af489deca4_5_0:notes">
            <a:extLst>
              <a:ext uri="{FF2B5EF4-FFF2-40B4-BE49-F238E27FC236}">
                <a16:creationId xmlns:a16="http://schemas.microsoft.com/office/drawing/2014/main" id="{2A21E6AE-6969-F7DC-3CB4-DAA25B316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g3af489deca4_5_0:notes">
            <a:extLst>
              <a:ext uri="{FF2B5EF4-FFF2-40B4-BE49-F238E27FC236}">
                <a16:creationId xmlns:a16="http://schemas.microsoft.com/office/drawing/2014/main" id="{9A18FD37-7745-5B89-E611-40854BDF91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4036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af489deca4_5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af489deca4_5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g3af489deca4_5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af489deca4_5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af489deca4_5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g3af489deca4_5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f489deca4_5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af489deca4_5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g3af489deca4_5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489deca4_5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489deca4_5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g3af489deca4_5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af489deca4_5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af489deca4_5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g3af489deca4_5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f63fc80f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af63fc80f2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g3af63fc80f2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af63fc80f2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af63fc80f2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g3af63fc80f2_0_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af63fc80f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af63fc80f2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g3af63fc80f2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af63fc80f2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af63fc80f2_0_2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g3af63fc80f2_0_2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af489deca4_5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af489deca4_5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g3af489deca4_5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af489deca4_5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af489deca4_5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g3af489deca4_5_1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Smoke">
  <p:cSld name="Title Slide Smok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2"/>
          <p:cNvGrpSpPr/>
          <p:nvPr/>
        </p:nvGrpSpPr>
        <p:grpSpPr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8" name="Google Shape;18;p2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body" idx="2"/>
          </p:nvPr>
        </p:nvSpPr>
        <p:spPr>
          <a:xfrm>
            <a:off x="330271" y="5789336"/>
            <a:ext cx="5579198" cy="74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marL="1371600" lvl="2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325800" y="1394619"/>
            <a:ext cx="11540763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2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ontent">
  <p:cSld name="Title, Text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ubTitle" idx="1"/>
          </p:nvPr>
        </p:nvSpPr>
        <p:spPr>
          <a:xfrm>
            <a:off x="325800" y="620196"/>
            <a:ext cx="5583670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2"/>
          </p:nvPr>
        </p:nvSpPr>
        <p:spPr>
          <a:xfrm>
            <a:off x="325800" y="1394619"/>
            <a:ext cx="558367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3"/>
          </p:nvPr>
        </p:nvSpPr>
        <p:spPr>
          <a:xfrm>
            <a:off x="6290831" y="328613"/>
            <a:ext cx="5583670" cy="59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326232" y="1394619"/>
            <a:ext cx="5583238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6283325" y="1394619"/>
            <a:ext cx="5583238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3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Blue">
  <p:cSld name="Agenda Blue">
    <p:bg>
      <p:bgPr>
        <a:solidFill>
          <a:schemeClr val="accen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rial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6096001" y="327819"/>
            <a:ext cx="5777508" cy="31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lt1"/>
                </a:solidFill>
              </a:defRPr>
            </a:lvl4pPr>
            <a:lvl5pPr marL="2286000" lvl="4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 txBox="1"/>
          <p:nvPr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Imperial College London</a:t>
            </a:r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Smoke">
  <p:cSld name="Title and Content Smoke"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325800" y="1394619"/>
            <a:ext cx="11540763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subTitle" idx="2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Text Blue">
  <p:cSld name="Large Text Blue">
    <p:bg>
      <p:bgPr>
        <a:solidFill>
          <a:schemeClr val="accen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" name="Google Shape;71;p8"/>
          <p:cNvSpPr txBox="1"/>
          <p:nvPr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Imperial College London</a:t>
            </a:r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Smoke">
  <p:cSld name="Section Header Smoke"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50"/>
              <a:buNone/>
              <a:defRPr sz="47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 Blue">
  <p:cSld name="Closing Slide Blue">
    <p:bg>
      <p:bgPr>
        <a:solidFill>
          <a:schemeClr val="accen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 txBox="1"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rial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330271" y="5878288"/>
            <a:ext cx="5606484" cy="65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1" name="Google Shape;81;p10"/>
          <p:cNvGrpSpPr/>
          <p:nvPr/>
        </p:nvGrpSpPr>
        <p:grpSpPr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82" name="Google Shape;82;p10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0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0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0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0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1"/>
          <p:cNvGrpSpPr/>
          <p:nvPr/>
        </p:nvGrpSpPr>
        <p:grpSpPr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92" name="Google Shape;92;p11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11"/>
          <p:cNvSpPr txBox="1"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body" idx="2"/>
          </p:nvPr>
        </p:nvSpPr>
        <p:spPr>
          <a:xfrm>
            <a:off x="330271" y="5789336"/>
            <a:ext cx="5579198" cy="74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marL="1371600" lvl="2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Khaki">
  <p:cSld name="Title Slide Khaki">
    <p:bg>
      <p:bgPr>
        <a:solidFill>
          <a:srgbClr val="FBF7DC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2"/>
          <p:cNvGrpSpPr/>
          <p:nvPr/>
        </p:nvGrpSpPr>
        <p:grpSpPr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05" name="Google Shape;105;p12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2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2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2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2"/>
          <p:cNvSpPr txBox="1"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body" idx="2"/>
          </p:nvPr>
        </p:nvSpPr>
        <p:spPr>
          <a:xfrm>
            <a:off x="330271" y="5789336"/>
            <a:ext cx="5579198" cy="74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  <a:defRPr sz="2200">
                <a:solidFill>
                  <a:schemeClr val="accent1"/>
                </a:solidFill>
              </a:defRPr>
            </a:lvl2pPr>
            <a:lvl3pPr marL="1371600" lvl="2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Blue">
  <p:cSld name="Title Slide Blue">
    <p:bg>
      <p:bgPr>
        <a:solidFill>
          <a:schemeClr val="accen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rial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2"/>
          </p:nvPr>
        </p:nvSpPr>
        <p:spPr>
          <a:xfrm>
            <a:off x="330271" y="5789336"/>
            <a:ext cx="5579198" cy="74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0" name="Google Shape;120;p13"/>
          <p:cNvGrpSpPr/>
          <p:nvPr/>
        </p:nvGrpSpPr>
        <p:grpSpPr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21" name="Google Shape;121;p13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>
  <p:cSld name="Title Slide Image">
    <p:bg>
      <p:bgPr>
        <a:solidFill>
          <a:srgbClr val="D8D8D8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4"/>
          <p:cNvGrpSpPr/>
          <p:nvPr/>
        </p:nvGrpSpPr>
        <p:grpSpPr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31" name="Google Shape;131;p14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14"/>
          <p:cNvSpPr txBox="1"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rial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2"/>
          </p:nvPr>
        </p:nvSpPr>
        <p:spPr>
          <a:xfrm>
            <a:off x="330271" y="5789336"/>
            <a:ext cx="5579198" cy="74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683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6096001" y="327025"/>
            <a:ext cx="5777508" cy="3101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Smoke">
  <p:cSld name="Agenda Smoke">
    <p:bg>
      <p:bgPr>
        <a:solidFill>
          <a:schemeClr val="lt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6096001" y="327025"/>
            <a:ext cx="5777508" cy="3101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Khaki">
  <p:cSld name="Agenda Khaki">
    <p:bg>
      <p:bgPr>
        <a:solidFill>
          <a:srgbClr val="FBF7D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6096001" y="327025"/>
            <a:ext cx="5777508" cy="3101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</a:defRPr>
            </a:lvl4pPr>
            <a:lvl5pPr marL="2286000" lvl="4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Khaki">
  <p:cSld name="Title and Content Khaki">
    <p:bg>
      <p:bgPr>
        <a:solidFill>
          <a:srgbClr val="FBF7DC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body" idx="1"/>
          </p:nvPr>
        </p:nvSpPr>
        <p:spPr>
          <a:xfrm>
            <a:off x="325800" y="1394619"/>
            <a:ext cx="11540763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subTitle" idx="2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Smoke">
  <p:cSld name="Two Content Smoke">
    <p:bg>
      <p:bgPr>
        <a:solidFill>
          <a:schemeClr val="lt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1"/>
          </p:nvPr>
        </p:nvSpPr>
        <p:spPr>
          <a:xfrm>
            <a:off x="326232" y="1394619"/>
            <a:ext cx="5583238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2"/>
          </p:nvPr>
        </p:nvSpPr>
        <p:spPr>
          <a:xfrm>
            <a:off x="6283325" y="1394619"/>
            <a:ext cx="5583238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19"/>
          <p:cNvSpPr txBox="1">
            <a:spLocks noGrp="1"/>
          </p:cNvSpPr>
          <p:nvPr>
            <p:ph type="subTitle" idx="3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Khaki">
  <p:cSld name="Two Content Khaki">
    <p:bg>
      <p:bgPr>
        <a:solidFill>
          <a:srgbClr val="FBF7DC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326232" y="1394619"/>
            <a:ext cx="5583238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2"/>
          </p:nvPr>
        </p:nvSpPr>
        <p:spPr>
          <a:xfrm>
            <a:off x="6283325" y="1394619"/>
            <a:ext cx="5583238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3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1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8" name="Google Shape;188;p21"/>
          <p:cNvSpPr txBox="1">
            <a:spLocks noGrp="1"/>
          </p:cNvSpPr>
          <p:nvPr>
            <p:ph type="body" idx="1"/>
          </p:nvPr>
        </p:nvSpPr>
        <p:spPr>
          <a:xfrm>
            <a:off x="326232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2"/>
          </p:nvPr>
        </p:nvSpPr>
        <p:spPr>
          <a:xfrm>
            <a:off x="4296397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body" idx="3"/>
          </p:nvPr>
        </p:nvSpPr>
        <p:spPr>
          <a:xfrm>
            <a:off x="8266562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subTitle" idx="4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Smoke">
  <p:cSld name="Three Content Smoke">
    <p:bg>
      <p:bgPr>
        <a:solidFill>
          <a:schemeClr val="lt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22"/>
          <p:cNvSpPr txBox="1">
            <a:spLocks noGrp="1"/>
          </p:cNvSpPr>
          <p:nvPr>
            <p:ph type="body" idx="1"/>
          </p:nvPr>
        </p:nvSpPr>
        <p:spPr>
          <a:xfrm>
            <a:off x="326232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2"/>
          <p:cNvSpPr txBox="1">
            <a:spLocks noGrp="1"/>
          </p:cNvSpPr>
          <p:nvPr>
            <p:ph type="body" idx="2"/>
          </p:nvPr>
        </p:nvSpPr>
        <p:spPr>
          <a:xfrm>
            <a:off x="4296397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2"/>
          <p:cNvSpPr txBox="1">
            <a:spLocks noGrp="1"/>
          </p:cNvSpPr>
          <p:nvPr>
            <p:ph type="body" idx="3"/>
          </p:nvPr>
        </p:nvSpPr>
        <p:spPr>
          <a:xfrm>
            <a:off x="8266562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2"/>
          <p:cNvSpPr txBox="1">
            <a:spLocks noGrp="1"/>
          </p:cNvSpPr>
          <p:nvPr>
            <p:ph type="subTitle" idx="4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Khaki">
  <p:cSld name="Three Content Khaki">
    <p:bg>
      <p:bgPr>
        <a:solidFill>
          <a:srgbClr val="FBF7DC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3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3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3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1"/>
          </p:nvPr>
        </p:nvSpPr>
        <p:spPr>
          <a:xfrm>
            <a:off x="326232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2"/>
          </p:nvPr>
        </p:nvSpPr>
        <p:spPr>
          <a:xfrm>
            <a:off x="4296397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3"/>
          </p:nvPr>
        </p:nvSpPr>
        <p:spPr>
          <a:xfrm>
            <a:off x="8266562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23"/>
          <p:cNvSpPr txBox="1">
            <a:spLocks noGrp="1"/>
          </p:cNvSpPr>
          <p:nvPr>
            <p:ph type="subTitle" idx="4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 and Captions">
  <p:cSld name="Three Images and Captions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4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4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4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5" name="Google Shape;215;p24"/>
          <p:cNvSpPr txBox="1">
            <a:spLocks noGrp="1"/>
          </p:cNvSpPr>
          <p:nvPr>
            <p:ph type="body" idx="1"/>
          </p:nvPr>
        </p:nvSpPr>
        <p:spPr>
          <a:xfrm>
            <a:off x="318493" y="3429000"/>
            <a:ext cx="3600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4"/>
          <p:cNvSpPr txBox="1">
            <a:spLocks noGrp="1"/>
          </p:cNvSpPr>
          <p:nvPr>
            <p:ph type="body" idx="2"/>
          </p:nvPr>
        </p:nvSpPr>
        <p:spPr>
          <a:xfrm>
            <a:off x="4276876" y="3429000"/>
            <a:ext cx="3600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24"/>
          <p:cNvSpPr txBox="1">
            <a:spLocks noGrp="1"/>
          </p:cNvSpPr>
          <p:nvPr>
            <p:ph type="body" idx="3"/>
          </p:nvPr>
        </p:nvSpPr>
        <p:spPr>
          <a:xfrm>
            <a:off x="8235258" y="3429000"/>
            <a:ext cx="3600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4"/>
          <p:cNvSpPr>
            <a:spLocks noGrp="1"/>
          </p:cNvSpPr>
          <p:nvPr>
            <p:ph type="pic" idx="4"/>
          </p:nvPr>
        </p:nvSpPr>
        <p:spPr>
          <a:xfrm>
            <a:off x="318490" y="1394619"/>
            <a:ext cx="3600000" cy="183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9" name="Google Shape;219;p24"/>
          <p:cNvSpPr>
            <a:spLocks noGrp="1"/>
          </p:cNvSpPr>
          <p:nvPr>
            <p:ph type="pic" idx="5"/>
          </p:nvPr>
        </p:nvSpPr>
        <p:spPr>
          <a:xfrm>
            <a:off x="4276876" y="1394619"/>
            <a:ext cx="3600000" cy="183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20" name="Google Shape;220;p24"/>
          <p:cNvSpPr>
            <a:spLocks noGrp="1"/>
          </p:cNvSpPr>
          <p:nvPr>
            <p:ph type="pic" idx="6"/>
          </p:nvPr>
        </p:nvSpPr>
        <p:spPr>
          <a:xfrm>
            <a:off x="8235261" y="1394619"/>
            <a:ext cx="3600000" cy="183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21" name="Google Shape;221;p24"/>
          <p:cNvSpPr txBox="1">
            <a:spLocks noGrp="1"/>
          </p:cNvSpPr>
          <p:nvPr>
            <p:ph type="subTitle" idx="7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 and Captions Smoke">
  <p:cSld name="Three Images and Captions Smoke">
    <p:bg>
      <p:bgPr>
        <a:solidFill>
          <a:schemeClr val="lt2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5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5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7" name="Google Shape;227;p25"/>
          <p:cNvSpPr txBox="1">
            <a:spLocks noGrp="1"/>
          </p:cNvSpPr>
          <p:nvPr>
            <p:ph type="body" idx="1"/>
          </p:nvPr>
        </p:nvSpPr>
        <p:spPr>
          <a:xfrm>
            <a:off x="318493" y="3429000"/>
            <a:ext cx="3600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5"/>
          <p:cNvSpPr txBox="1">
            <a:spLocks noGrp="1"/>
          </p:cNvSpPr>
          <p:nvPr>
            <p:ph type="body" idx="2"/>
          </p:nvPr>
        </p:nvSpPr>
        <p:spPr>
          <a:xfrm>
            <a:off x="4276876" y="3429000"/>
            <a:ext cx="3600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5"/>
          <p:cNvSpPr txBox="1">
            <a:spLocks noGrp="1"/>
          </p:cNvSpPr>
          <p:nvPr>
            <p:ph type="body" idx="3"/>
          </p:nvPr>
        </p:nvSpPr>
        <p:spPr>
          <a:xfrm>
            <a:off x="8235258" y="3429000"/>
            <a:ext cx="3600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5"/>
          <p:cNvSpPr>
            <a:spLocks noGrp="1"/>
          </p:cNvSpPr>
          <p:nvPr>
            <p:ph type="pic" idx="4"/>
          </p:nvPr>
        </p:nvSpPr>
        <p:spPr>
          <a:xfrm>
            <a:off x="318490" y="1394619"/>
            <a:ext cx="3600000" cy="183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5"/>
          <p:cNvSpPr>
            <a:spLocks noGrp="1"/>
          </p:cNvSpPr>
          <p:nvPr>
            <p:ph type="pic" idx="5"/>
          </p:nvPr>
        </p:nvSpPr>
        <p:spPr>
          <a:xfrm>
            <a:off x="4276876" y="1394619"/>
            <a:ext cx="3600000" cy="183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2" name="Google Shape;232;p25"/>
          <p:cNvSpPr>
            <a:spLocks noGrp="1"/>
          </p:cNvSpPr>
          <p:nvPr>
            <p:ph type="pic" idx="6"/>
          </p:nvPr>
        </p:nvSpPr>
        <p:spPr>
          <a:xfrm>
            <a:off x="8235261" y="1394619"/>
            <a:ext cx="3600000" cy="183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" name="Google Shape;233;p25"/>
          <p:cNvSpPr txBox="1">
            <a:spLocks noGrp="1"/>
          </p:cNvSpPr>
          <p:nvPr>
            <p:ph type="subTitle" idx="7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 and Captions Khaki">
  <p:cSld name="Three Images and Captions Khaki">
    <p:bg>
      <p:bgPr>
        <a:solidFill>
          <a:srgbClr val="FBF7DC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6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6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6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9" name="Google Shape;239;p26"/>
          <p:cNvSpPr txBox="1">
            <a:spLocks noGrp="1"/>
          </p:cNvSpPr>
          <p:nvPr>
            <p:ph type="body" idx="1"/>
          </p:nvPr>
        </p:nvSpPr>
        <p:spPr>
          <a:xfrm>
            <a:off x="318493" y="3429000"/>
            <a:ext cx="3600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26"/>
          <p:cNvSpPr txBox="1">
            <a:spLocks noGrp="1"/>
          </p:cNvSpPr>
          <p:nvPr>
            <p:ph type="body" idx="2"/>
          </p:nvPr>
        </p:nvSpPr>
        <p:spPr>
          <a:xfrm>
            <a:off x="4276876" y="3429000"/>
            <a:ext cx="3600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6"/>
          <p:cNvSpPr txBox="1">
            <a:spLocks noGrp="1"/>
          </p:cNvSpPr>
          <p:nvPr>
            <p:ph type="body" idx="3"/>
          </p:nvPr>
        </p:nvSpPr>
        <p:spPr>
          <a:xfrm>
            <a:off x="8235258" y="3429000"/>
            <a:ext cx="3600000" cy="2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6"/>
          <p:cNvSpPr>
            <a:spLocks noGrp="1"/>
          </p:cNvSpPr>
          <p:nvPr>
            <p:ph type="pic" idx="4"/>
          </p:nvPr>
        </p:nvSpPr>
        <p:spPr>
          <a:xfrm>
            <a:off x="318490" y="1394619"/>
            <a:ext cx="3600000" cy="183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43" name="Google Shape;243;p26"/>
          <p:cNvSpPr>
            <a:spLocks noGrp="1"/>
          </p:cNvSpPr>
          <p:nvPr>
            <p:ph type="pic" idx="5"/>
          </p:nvPr>
        </p:nvSpPr>
        <p:spPr>
          <a:xfrm>
            <a:off x="4276876" y="1394619"/>
            <a:ext cx="3600000" cy="183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44" name="Google Shape;244;p26"/>
          <p:cNvSpPr>
            <a:spLocks noGrp="1"/>
          </p:cNvSpPr>
          <p:nvPr>
            <p:ph type="pic" idx="6"/>
          </p:nvPr>
        </p:nvSpPr>
        <p:spPr>
          <a:xfrm>
            <a:off x="8235261" y="1394619"/>
            <a:ext cx="3600000" cy="183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45" name="Google Shape;245;p26"/>
          <p:cNvSpPr txBox="1">
            <a:spLocks noGrp="1"/>
          </p:cNvSpPr>
          <p:nvPr>
            <p:ph type="subTitle" idx="7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Text">
  <p:cSld name="Large Text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7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7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Text Smoke">
  <p:cSld name="Large Text Smoke">
    <p:bg>
      <p:bgPr>
        <a:solidFill>
          <a:schemeClr val="lt2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8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Text Khaki">
  <p:cSld name="Large Text Khaki">
    <p:bg>
      <p:bgPr>
        <a:solidFill>
          <a:srgbClr val="FBF7D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9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9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0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0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5" name="Google Shape;265;p30"/>
          <p:cNvSpPr txBox="1"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0"/>
          <p:cNvSpPr txBox="1"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50"/>
              <a:buNone/>
              <a:defRPr sz="47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Khaki">
  <p:cSld name="Section Header Khaki">
    <p:bg>
      <p:bgPr>
        <a:solidFill>
          <a:srgbClr val="FBF7DC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750"/>
              <a:buNone/>
              <a:defRPr sz="475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Blue">
  <p:cSld name="Section Header Blue">
    <p:bg>
      <p:bgPr>
        <a:solidFill>
          <a:schemeClr val="accen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2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2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85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7" name="Google Shape;277;p32"/>
          <p:cNvSpPr txBox="1"/>
          <p:nvPr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Imperial College London</a:t>
            </a:r>
            <a:endParaRPr/>
          </a:p>
        </p:txBody>
      </p:sp>
      <p:sp>
        <p:nvSpPr>
          <p:cNvPr id="278" name="Google Shape;278;p32"/>
          <p:cNvSpPr txBox="1"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rial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2"/>
          <p:cNvSpPr txBox="1"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ontent Smoke">
  <p:cSld name="Title, Text and Content Smoke">
    <p:bg>
      <p:bgPr>
        <a:solidFill>
          <a:schemeClr val="lt2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3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33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4" name="Google Shape;284;p33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25800" y="620196"/>
            <a:ext cx="5583670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body" idx="2"/>
          </p:nvPr>
        </p:nvSpPr>
        <p:spPr>
          <a:xfrm>
            <a:off x="325800" y="1394619"/>
            <a:ext cx="558367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3"/>
          <p:cNvSpPr txBox="1">
            <a:spLocks noGrp="1"/>
          </p:cNvSpPr>
          <p:nvPr>
            <p:ph type="body" idx="3"/>
          </p:nvPr>
        </p:nvSpPr>
        <p:spPr>
          <a:xfrm>
            <a:off x="6290831" y="328613"/>
            <a:ext cx="5583670" cy="59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ontent Khaki">
  <p:cSld name="Title, Text and Content Khaki">
    <p:bg>
      <p:bgPr>
        <a:solidFill>
          <a:srgbClr val="FBF7DC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2" name="Google Shape;292;p34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4"/>
          <p:cNvSpPr txBox="1">
            <a:spLocks noGrp="1"/>
          </p:cNvSpPr>
          <p:nvPr>
            <p:ph type="subTitle" idx="1"/>
          </p:nvPr>
        </p:nvSpPr>
        <p:spPr>
          <a:xfrm>
            <a:off x="325800" y="620196"/>
            <a:ext cx="5583670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body" idx="2"/>
          </p:nvPr>
        </p:nvSpPr>
        <p:spPr>
          <a:xfrm>
            <a:off x="325800" y="1394619"/>
            <a:ext cx="558367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body" idx="3"/>
          </p:nvPr>
        </p:nvSpPr>
        <p:spPr>
          <a:xfrm>
            <a:off x="6290831" y="328613"/>
            <a:ext cx="5583670" cy="59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Four Images">
  <p:cSld name="Title, Content and Four Images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0" name="Google Shape;300;p35"/>
          <p:cNvSpPr txBox="1">
            <a:spLocks noGrp="1"/>
          </p:cNvSpPr>
          <p:nvPr>
            <p:ph type="body" idx="1"/>
          </p:nvPr>
        </p:nvSpPr>
        <p:spPr>
          <a:xfrm>
            <a:off x="325800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35"/>
          <p:cNvSpPr>
            <a:spLocks noGrp="1"/>
          </p:cNvSpPr>
          <p:nvPr>
            <p:ph type="pic" idx="2"/>
          </p:nvPr>
        </p:nvSpPr>
        <p:spPr>
          <a:xfrm>
            <a:off x="4275880" y="327819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02" name="Google Shape;302;p35"/>
          <p:cNvSpPr>
            <a:spLocks noGrp="1"/>
          </p:cNvSpPr>
          <p:nvPr>
            <p:ph type="pic" idx="3"/>
          </p:nvPr>
        </p:nvSpPr>
        <p:spPr>
          <a:xfrm>
            <a:off x="8122200" y="327819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03" name="Google Shape;303;p35"/>
          <p:cNvSpPr txBox="1">
            <a:spLocks noGrp="1"/>
          </p:cNvSpPr>
          <p:nvPr>
            <p:ph type="subTitle" idx="4"/>
          </p:nvPr>
        </p:nvSpPr>
        <p:spPr>
          <a:xfrm>
            <a:off x="325800" y="620196"/>
            <a:ext cx="3600000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4" name="Google Shape;304;p35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5"/>
          <p:cNvSpPr>
            <a:spLocks noGrp="1"/>
          </p:cNvSpPr>
          <p:nvPr>
            <p:ph type="pic" idx="5"/>
          </p:nvPr>
        </p:nvSpPr>
        <p:spPr>
          <a:xfrm>
            <a:off x="4275880" y="3336100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06" name="Google Shape;306;p35"/>
          <p:cNvSpPr>
            <a:spLocks noGrp="1"/>
          </p:cNvSpPr>
          <p:nvPr>
            <p:ph type="pic" idx="6"/>
          </p:nvPr>
        </p:nvSpPr>
        <p:spPr>
          <a:xfrm>
            <a:off x="8122200" y="3336100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Four Images Smoke">
  <p:cSld name="Title, Content and Four Images Smoke">
    <p:bg>
      <p:bgPr>
        <a:solidFill>
          <a:schemeClr val="lt2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36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1" name="Google Shape;311;p36"/>
          <p:cNvSpPr txBox="1">
            <a:spLocks noGrp="1"/>
          </p:cNvSpPr>
          <p:nvPr>
            <p:ph type="body" idx="1"/>
          </p:nvPr>
        </p:nvSpPr>
        <p:spPr>
          <a:xfrm>
            <a:off x="325800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36"/>
          <p:cNvSpPr>
            <a:spLocks noGrp="1"/>
          </p:cNvSpPr>
          <p:nvPr>
            <p:ph type="pic" idx="2"/>
          </p:nvPr>
        </p:nvSpPr>
        <p:spPr>
          <a:xfrm>
            <a:off x="4275880" y="327819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13" name="Google Shape;313;p36"/>
          <p:cNvSpPr>
            <a:spLocks noGrp="1"/>
          </p:cNvSpPr>
          <p:nvPr>
            <p:ph type="pic" idx="3"/>
          </p:nvPr>
        </p:nvSpPr>
        <p:spPr>
          <a:xfrm>
            <a:off x="8122200" y="327819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14" name="Google Shape;314;p36"/>
          <p:cNvSpPr txBox="1">
            <a:spLocks noGrp="1"/>
          </p:cNvSpPr>
          <p:nvPr>
            <p:ph type="subTitle" idx="4"/>
          </p:nvPr>
        </p:nvSpPr>
        <p:spPr>
          <a:xfrm>
            <a:off x="325800" y="620196"/>
            <a:ext cx="3600000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15" name="Google Shape;315;p36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6"/>
          <p:cNvSpPr>
            <a:spLocks noGrp="1"/>
          </p:cNvSpPr>
          <p:nvPr>
            <p:ph type="pic" idx="5"/>
          </p:nvPr>
        </p:nvSpPr>
        <p:spPr>
          <a:xfrm>
            <a:off x="4275880" y="3336100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17" name="Google Shape;317;p36"/>
          <p:cNvSpPr>
            <a:spLocks noGrp="1"/>
          </p:cNvSpPr>
          <p:nvPr>
            <p:ph type="pic" idx="6"/>
          </p:nvPr>
        </p:nvSpPr>
        <p:spPr>
          <a:xfrm>
            <a:off x="8122200" y="3336100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Four Images Khaki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37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7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2" name="Google Shape;322;p37"/>
          <p:cNvSpPr txBox="1">
            <a:spLocks noGrp="1"/>
          </p:cNvSpPr>
          <p:nvPr>
            <p:ph type="body" idx="1"/>
          </p:nvPr>
        </p:nvSpPr>
        <p:spPr>
          <a:xfrm>
            <a:off x="325800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7"/>
          <p:cNvSpPr>
            <a:spLocks noGrp="1"/>
          </p:cNvSpPr>
          <p:nvPr>
            <p:ph type="pic" idx="2"/>
          </p:nvPr>
        </p:nvSpPr>
        <p:spPr>
          <a:xfrm>
            <a:off x="4275880" y="327819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24" name="Google Shape;324;p37"/>
          <p:cNvSpPr>
            <a:spLocks noGrp="1"/>
          </p:cNvSpPr>
          <p:nvPr>
            <p:ph type="pic" idx="3"/>
          </p:nvPr>
        </p:nvSpPr>
        <p:spPr>
          <a:xfrm>
            <a:off x="8122200" y="327819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25" name="Google Shape;325;p37"/>
          <p:cNvSpPr txBox="1">
            <a:spLocks noGrp="1"/>
          </p:cNvSpPr>
          <p:nvPr>
            <p:ph type="subTitle" idx="4"/>
          </p:nvPr>
        </p:nvSpPr>
        <p:spPr>
          <a:xfrm>
            <a:off x="325800" y="620196"/>
            <a:ext cx="3600000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7"/>
          <p:cNvSpPr>
            <a:spLocks noGrp="1"/>
          </p:cNvSpPr>
          <p:nvPr>
            <p:ph type="pic" idx="5"/>
          </p:nvPr>
        </p:nvSpPr>
        <p:spPr>
          <a:xfrm>
            <a:off x="4275880" y="3336100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28" name="Google Shape;328;p37"/>
          <p:cNvSpPr>
            <a:spLocks noGrp="1"/>
          </p:cNvSpPr>
          <p:nvPr>
            <p:ph type="pic" idx="6"/>
          </p:nvPr>
        </p:nvSpPr>
        <p:spPr>
          <a:xfrm>
            <a:off x="8122200" y="3336100"/>
            <a:ext cx="3744000" cy="292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Nine Images">
  <p:cSld name="Title, Content and Nine Images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8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8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38"/>
          <p:cNvSpPr txBox="1">
            <a:spLocks noGrp="1"/>
          </p:cNvSpPr>
          <p:nvPr>
            <p:ph type="body" idx="1"/>
          </p:nvPr>
        </p:nvSpPr>
        <p:spPr>
          <a:xfrm>
            <a:off x="325800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38"/>
          <p:cNvSpPr>
            <a:spLocks noGrp="1"/>
          </p:cNvSpPr>
          <p:nvPr>
            <p:ph type="pic" idx="2"/>
          </p:nvPr>
        </p:nvSpPr>
        <p:spPr>
          <a:xfrm>
            <a:off x="4275880" y="327028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35" name="Google Shape;335;p38"/>
          <p:cNvSpPr>
            <a:spLocks noGrp="1"/>
          </p:cNvSpPr>
          <p:nvPr>
            <p:ph type="pic" idx="3"/>
          </p:nvPr>
        </p:nvSpPr>
        <p:spPr>
          <a:xfrm>
            <a:off x="6838040" y="327028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36" name="Google Shape;336;p38"/>
          <p:cNvSpPr txBox="1">
            <a:spLocks noGrp="1"/>
          </p:cNvSpPr>
          <p:nvPr>
            <p:ph type="subTitle" idx="4"/>
          </p:nvPr>
        </p:nvSpPr>
        <p:spPr>
          <a:xfrm>
            <a:off x="325800" y="620196"/>
            <a:ext cx="3600000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8"/>
          <p:cNvSpPr>
            <a:spLocks noGrp="1"/>
          </p:cNvSpPr>
          <p:nvPr>
            <p:ph type="pic" idx="5"/>
          </p:nvPr>
        </p:nvSpPr>
        <p:spPr>
          <a:xfrm>
            <a:off x="9400200" y="327028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39" name="Google Shape;339;p38"/>
          <p:cNvSpPr>
            <a:spLocks noGrp="1"/>
          </p:cNvSpPr>
          <p:nvPr>
            <p:ph type="pic" idx="6"/>
          </p:nvPr>
        </p:nvSpPr>
        <p:spPr>
          <a:xfrm>
            <a:off x="4275880" y="2331064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0" name="Google Shape;340;p38"/>
          <p:cNvSpPr>
            <a:spLocks noGrp="1"/>
          </p:cNvSpPr>
          <p:nvPr>
            <p:ph type="pic" idx="7"/>
          </p:nvPr>
        </p:nvSpPr>
        <p:spPr>
          <a:xfrm>
            <a:off x="6838040" y="23310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1" name="Google Shape;341;p38"/>
          <p:cNvSpPr>
            <a:spLocks noGrp="1"/>
          </p:cNvSpPr>
          <p:nvPr>
            <p:ph type="pic" idx="8"/>
          </p:nvPr>
        </p:nvSpPr>
        <p:spPr>
          <a:xfrm>
            <a:off x="9400200" y="23310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2" name="Google Shape;342;p38"/>
          <p:cNvSpPr>
            <a:spLocks noGrp="1"/>
          </p:cNvSpPr>
          <p:nvPr>
            <p:ph type="pic" idx="9"/>
          </p:nvPr>
        </p:nvSpPr>
        <p:spPr>
          <a:xfrm>
            <a:off x="4275880" y="43351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3" name="Google Shape;343;p38"/>
          <p:cNvSpPr>
            <a:spLocks noGrp="1"/>
          </p:cNvSpPr>
          <p:nvPr>
            <p:ph type="pic" idx="13"/>
          </p:nvPr>
        </p:nvSpPr>
        <p:spPr>
          <a:xfrm>
            <a:off x="6838040" y="43351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4" name="Google Shape;344;p38"/>
          <p:cNvSpPr>
            <a:spLocks noGrp="1"/>
          </p:cNvSpPr>
          <p:nvPr>
            <p:ph type="pic" idx="14"/>
          </p:nvPr>
        </p:nvSpPr>
        <p:spPr>
          <a:xfrm>
            <a:off x="9400200" y="43351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Nine Images Smoke">
  <p:cSld name="Title, Content and Nine Images Smoke">
    <p:bg>
      <p:bgPr>
        <a:solidFill>
          <a:schemeClr val="lt2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39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39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9" name="Google Shape;349;p39"/>
          <p:cNvSpPr txBox="1">
            <a:spLocks noGrp="1"/>
          </p:cNvSpPr>
          <p:nvPr>
            <p:ph type="body" idx="1"/>
          </p:nvPr>
        </p:nvSpPr>
        <p:spPr>
          <a:xfrm>
            <a:off x="325800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0" name="Google Shape;350;p39"/>
          <p:cNvSpPr>
            <a:spLocks noGrp="1"/>
          </p:cNvSpPr>
          <p:nvPr>
            <p:ph type="pic" idx="2"/>
          </p:nvPr>
        </p:nvSpPr>
        <p:spPr>
          <a:xfrm>
            <a:off x="4275880" y="327028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51" name="Google Shape;351;p39"/>
          <p:cNvSpPr>
            <a:spLocks noGrp="1"/>
          </p:cNvSpPr>
          <p:nvPr>
            <p:ph type="pic" idx="3"/>
          </p:nvPr>
        </p:nvSpPr>
        <p:spPr>
          <a:xfrm>
            <a:off x="6838040" y="327028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52" name="Google Shape;352;p39"/>
          <p:cNvSpPr txBox="1">
            <a:spLocks noGrp="1"/>
          </p:cNvSpPr>
          <p:nvPr>
            <p:ph type="subTitle" idx="4"/>
          </p:nvPr>
        </p:nvSpPr>
        <p:spPr>
          <a:xfrm>
            <a:off x="325800" y="620196"/>
            <a:ext cx="3600000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53" name="Google Shape;353;p39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39"/>
          <p:cNvSpPr>
            <a:spLocks noGrp="1"/>
          </p:cNvSpPr>
          <p:nvPr>
            <p:ph type="pic" idx="5"/>
          </p:nvPr>
        </p:nvSpPr>
        <p:spPr>
          <a:xfrm>
            <a:off x="9400200" y="327028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55" name="Google Shape;355;p39"/>
          <p:cNvSpPr>
            <a:spLocks noGrp="1"/>
          </p:cNvSpPr>
          <p:nvPr>
            <p:ph type="pic" idx="6"/>
          </p:nvPr>
        </p:nvSpPr>
        <p:spPr>
          <a:xfrm>
            <a:off x="4275880" y="2331064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56" name="Google Shape;356;p39"/>
          <p:cNvSpPr>
            <a:spLocks noGrp="1"/>
          </p:cNvSpPr>
          <p:nvPr>
            <p:ph type="pic" idx="7"/>
          </p:nvPr>
        </p:nvSpPr>
        <p:spPr>
          <a:xfrm>
            <a:off x="6838040" y="23310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57" name="Google Shape;357;p39"/>
          <p:cNvSpPr>
            <a:spLocks noGrp="1"/>
          </p:cNvSpPr>
          <p:nvPr>
            <p:ph type="pic" idx="8"/>
          </p:nvPr>
        </p:nvSpPr>
        <p:spPr>
          <a:xfrm>
            <a:off x="9400200" y="23310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58" name="Google Shape;358;p39"/>
          <p:cNvSpPr>
            <a:spLocks noGrp="1"/>
          </p:cNvSpPr>
          <p:nvPr>
            <p:ph type="pic" idx="9"/>
          </p:nvPr>
        </p:nvSpPr>
        <p:spPr>
          <a:xfrm>
            <a:off x="4275880" y="43351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59" name="Google Shape;359;p39"/>
          <p:cNvSpPr>
            <a:spLocks noGrp="1"/>
          </p:cNvSpPr>
          <p:nvPr>
            <p:ph type="pic" idx="13"/>
          </p:nvPr>
        </p:nvSpPr>
        <p:spPr>
          <a:xfrm>
            <a:off x="6838040" y="43351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9"/>
          <p:cNvSpPr>
            <a:spLocks noGrp="1"/>
          </p:cNvSpPr>
          <p:nvPr>
            <p:ph type="pic" idx="14"/>
          </p:nvPr>
        </p:nvSpPr>
        <p:spPr>
          <a:xfrm>
            <a:off x="9400200" y="43351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Nine Images Khaki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40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0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5" name="Google Shape;365;p40"/>
          <p:cNvSpPr txBox="1">
            <a:spLocks noGrp="1"/>
          </p:cNvSpPr>
          <p:nvPr>
            <p:ph type="body" idx="1"/>
          </p:nvPr>
        </p:nvSpPr>
        <p:spPr>
          <a:xfrm>
            <a:off x="325800" y="1394619"/>
            <a:ext cx="3600000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40"/>
          <p:cNvSpPr>
            <a:spLocks noGrp="1"/>
          </p:cNvSpPr>
          <p:nvPr>
            <p:ph type="pic" idx="2"/>
          </p:nvPr>
        </p:nvSpPr>
        <p:spPr>
          <a:xfrm>
            <a:off x="4275880" y="327028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7" name="Google Shape;367;p40"/>
          <p:cNvSpPr>
            <a:spLocks noGrp="1"/>
          </p:cNvSpPr>
          <p:nvPr>
            <p:ph type="pic" idx="3"/>
          </p:nvPr>
        </p:nvSpPr>
        <p:spPr>
          <a:xfrm>
            <a:off x="6838040" y="327028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8" name="Google Shape;368;p40"/>
          <p:cNvSpPr txBox="1">
            <a:spLocks noGrp="1"/>
          </p:cNvSpPr>
          <p:nvPr>
            <p:ph type="subTitle" idx="4"/>
          </p:nvPr>
        </p:nvSpPr>
        <p:spPr>
          <a:xfrm>
            <a:off x="325800" y="620196"/>
            <a:ext cx="3600000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69" name="Google Shape;369;p40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0"/>
          <p:cNvSpPr>
            <a:spLocks noGrp="1"/>
          </p:cNvSpPr>
          <p:nvPr>
            <p:ph type="pic" idx="5"/>
          </p:nvPr>
        </p:nvSpPr>
        <p:spPr>
          <a:xfrm>
            <a:off x="9400200" y="327028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71" name="Google Shape;371;p40"/>
          <p:cNvSpPr>
            <a:spLocks noGrp="1"/>
          </p:cNvSpPr>
          <p:nvPr>
            <p:ph type="pic" idx="6"/>
          </p:nvPr>
        </p:nvSpPr>
        <p:spPr>
          <a:xfrm>
            <a:off x="4275880" y="2331064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72" name="Google Shape;372;p40"/>
          <p:cNvSpPr>
            <a:spLocks noGrp="1"/>
          </p:cNvSpPr>
          <p:nvPr>
            <p:ph type="pic" idx="7"/>
          </p:nvPr>
        </p:nvSpPr>
        <p:spPr>
          <a:xfrm>
            <a:off x="6838040" y="23310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73" name="Google Shape;373;p40"/>
          <p:cNvSpPr>
            <a:spLocks noGrp="1"/>
          </p:cNvSpPr>
          <p:nvPr>
            <p:ph type="pic" idx="8"/>
          </p:nvPr>
        </p:nvSpPr>
        <p:spPr>
          <a:xfrm>
            <a:off x="9400200" y="23310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74" name="Google Shape;374;p40"/>
          <p:cNvSpPr>
            <a:spLocks noGrp="1"/>
          </p:cNvSpPr>
          <p:nvPr>
            <p:ph type="pic" idx="9"/>
          </p:nvPr>
        </p:nvSpPr>
        <p:spPr>
          <a:xfrm>
            <a:off x="4275880" y="43351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75" name="Google Shape;375;p40"/>
          <p:cNvSpPr>
            <a:spLocks noGrp="1"/>
          </p:cNvSpPr>
          <p:nvPr>
            <p:ph type="pic" idx="13"/>
          </p:nvPr>
        </p:nvSpPr>
        <p:spPr>
          <a:xfrm>
            <a:off x="6838040" y="43351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76" name="Google Shape;376;p40"/>
          <p:cNvSpPr>
            <a:spLocks noGrp="1"/>
          </p:cNvSpPr>
          <p:nvPr>
            <p:ph type="pic" idx="14"/>
          </p:nvPr>
        </p:nvSpPr>
        <p:spPr>
          <a:xfrm>
            <a:off x="9400200" y="4335100"/>
            <a:ext cx="2466000" cy="1926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Content">
  <p:cSld name="Text and Content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41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41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1" name="Google Shape;381;p41"/>
          <p:cNvSpPr txBox="1">
            <a:spLocks noGrp="1"/>
          </p:cNvSpPr>
          <p:nvPr>
            <p:ph type="body" idx="1"/>
          </p:nvPr>
        </p:nvSpPr>
        <p:spPr>
          <a:xfrm>
            <a:off x="326232" y="327819"/>
            <a:ext cx="5583238" cy="593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41"/>
          <p:cNvSpPr txBox="1">
            <a:spLocks noGrp="1"/>
          </p:cNvSpPr>
          <p:nvPr>
            <p:ph type="body" idx="2"/>
          </p:nvPr>
        </p:nvSpPr>
        <p:spPr>
          <a:xfrm>
            <a:off x="6292057" y="6393657"/>
            <a:ext cx="2743200" cy="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2pPr>
            <a:lvl3pPr marL="1371600" lvl="2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3pPr>
            <a:lvl4pPr marL="1828800" lvl="3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4pPr>
            <a:lvl5pPr marL="2286000" lvl="4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3" name="Google Shape;383;p41"/>
          <p:cNvSpPr txBox="1">
            <a:spLocks noGrp="1"/>
          </p:cNvSpPr>
          <p:nvPr>
            <p:ph type="body" idx="3"/>
          </p:nvPr>
        </p:nvSpPr>
        <p:spPr>
          <a:xfrm>
            <a:off x="6290831" y="328613"/>
            <a:ext cx="5583670" cy="59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Content Smoke">
  <p:cSld name="Text and Content Smoke">
    <p:bg>
      <p:bgPr>
        <a:solidFill>
          <a:schemeClr val="lt2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42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42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8" name="Google Shape;388;p42"/>
          <p:cNvSpPr txBox="1">
            <a:spLocks noGrp="1"/>
          </p:cNvSpPr>
          <p:nvPr>
            <p:ph type="body" idx="1"/>
          </p:nvPr>
        </p:nvSpPr>
        <p:spPr>
          <a:xfrm>
            <a:off x="326232" y="327819"/>
            <a:ext cx="5583238" cy="593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9" name="Google Shape;389;p42"/>
          <p:cNvSpPr txBox="1">
            <a:spLocks noGrp="1"/>
          </p:cNvSpPr>
          <p:nvPr>
            <p:ph type="body" idx="2"/>
          </p:nvPr>
        </p:nvSpPr>
        <p:spPr>
          <a:xfrm>
            <a:off x="6292057" y="6393657"/>
            <a:ext cx="2743200" cy="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2pPr>
            <a:lvl3pPr marL="1371600" lvl="2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3pPr>
            <a:lvl4pPr marL="1828800" lvl="3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4pPr>
            <a:lvl5pPr marL="2286000" lvl="4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0" name="Google Shape;390;p42"/>
          <p:cNvSpPr txBox="1">
            <a:spLocks noGrp="1"/>
          </p:cNvSpPr>
          <p:nvPr>
            <p:ph type="body" idx="3"/>
          </p:nvPr>
        </p:nvSpPr>
        <p:spPr>
          <a:xfrm>
            <a:off x="6290831" y="328613"/>
            <a:ext cx="5583670" cy="59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Content Khaki">
  <p:cSld name="Text and Content Khaki">
    <p:bg>
      <p:bgPr>
        <a:solidFill>
          <a:srgbClr val="FBF7DC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43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43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5" name="Google Shape;395;p43"/>
          <p:cNvSpPr txBox="1">
            <a:spLocks noGrp="1"/>
          </p:cNvSpPr>
          <p:nvPr>
            <p:ph type="body" idx="1"/>
          </p:nvPr>
        </p:nvSpPr>
        <p:spPr>
          <a:xfrm>
            <a:off x="326232" y="327819"/>
            <a:ext cx="5583238" cy="593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6" name="Google Shape;396;p43"/>
          <p:cNvSpPr txBox="1">
            <a:spLocks noGrp="1"/>
          </p:cNvSpPr>
          <p:nvPr>
            <p:ph type="body" idx="2"/>
          </p:nvPr>
        </p:nvSpPr>
        <p:spPr>
          <a:xfrm>
            <a:off x="6292057" y="6393657"/>
            <a:ext cx="2743200" cy="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2pPr>
            <a:lvl3pPr marL="1371600" lvl="2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3pPr>
            <a:lvl4pPr marL="1828800" lvl="3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4pPr>
            <a:lvl5pPr marL="2286000" lvl="4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7" name="Google Shape;397;p43"/>
          <p:cNvSpPr txBox="1">
            <a:spLocks noGrp="1"/>
          </p:cNvSpPr>
          <p:nvPr>
            <p:ph type="body" idx="3"/>
          </p:nvPr>
        </p:nvSpPr>
        <p:spPr>
          <a:xfrm>
            <a:off x="6290831" y="328613"/>
            <a:ext cx="5583670" cy="59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">
  <p:cSld name="Content and Text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4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44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44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body" idx="1"/>
          </p:nvPr>
        </p:nvSpPr>
        <p:spPr>
          <a:xfrm>
            <a:off x="6291761" y="327819"/>
            <a:ext cx="5574008" cy="593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44"/>
          <p:cNvSpPr txBox="1">
            <a:spLocks noGrp="1"/>
          </p:cNvSpPr>
          <p:nvPr>
            <p:ph type="body" idx="2"/>
          </p:nvPr>
        </p:nvSpPr>
        <p:spPr>
          <a:xfrm>
            <a:off x="6292057" y="6393657"/>
            <a:ext cx="2743200" cy="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2pPr>
            <a:lvl3pPr marL="1371600" lvl="2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3pPr>
            <a:lvl4pPr marL="1828800" lvl="3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4pPr>
            <a:lvl5pPr marL="2286000" lvl="4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44"/>
          <p:cNvSpPr txBox="1">
            <a:spLocks noGrp="1"/>
          </p:cNvSpPr>
          <p:nvPr>
            <p:ph type="body" idx="3"/>
          </p:nvPr>
        </p:nvSpPr>
        <p:spPr>
          <a:xfrm>
            <a:off x="326593" y="328613"/>
            <a:ext cx="5583670" cy="59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 Smoke">
  <p:cSld name="Content and Text Smoke">
    <p:bg>
      <p:bgPr>
        <a:solidFill>
          <a:schemeClr val="lt2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45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45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9" name="Google Shape;409;p45"/>
          <p:cNvSpPr txBox="1">
            <a:spLocks noGrp="1"/>
          </p:cNvSpPr>
          <p:nvPr>
            <p:ph type="body" idx="1"/>
          </p:nvPr>
        </p:nvSpPr>
        <p:spPr>
          <a:xfrm>
            <a:off x="6291761" y="327819"/>
            <a:ext cx="5574008" cy="593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45"/>
          <p:cNvSpPr txBox="1">
            <a:spLocks noGrp="1"/>
          </p:cNvSpPr>
          <p:nvPr>
            <p:ph type="body" idx="2"/>
          </p:nvPr>
        </p:nvSpPr>
        <p:spPr>
          <a:xfrm>
            <a:off x="6292057" y="6393657"/>
            <a:ext cx="2743200" cy="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2pPr>
            <a:lvl3pPr marL="1371600" lvl="2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3pPr>
            <a:lvl4pPr marL="1828800" lvl="3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4pPr>
            <a:lvl5pPr marL="2286000" lvl="4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45"/>
          <p:cNvSpPr txBox="1">
            <a:spLocks noGrp="1"/>
          </p:cNvSpPr>
          <p:nvPr>
            <p:ph type="body" idx="3"/>
          </p:nvPr>
        </p:nvSpPr>
        <p:spPr>
          <a:xfrm>
            <a:off x="326593" y="328613"/>
            <a:ext cx="5583670" cy="59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 Khaki">
  <p:cSld name="Content and Text Khaki">
    <p:bg>
      <p:bgPr>
        <a:solidFill>
          <a:srgbClr val="FBF7DC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46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46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6" name="Google Shape;416;p46"/>
          <p:cNvSpPr txBox="1">
            <a:spLocks noGrp="1"/>
          </p:cNvSpPr>
          <p:nvPr>
            <p:ph type="body" idx="1"/>
          </p:nvPr>
        </p:nvSpPr>
        <p:spPr>
          <a:xfrm>
            <a:off x="6291761" y="327819"/>
            <a:ext cx="5574008" cy="593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46"/>
          <p:cNvSpPr txBox="1">
            <a:spLocks noGrp="1"/>
          </p:cNvSpPr>
          <p:nvPr>
            <p:ph type="body" idx="2"/>
          </p:nvPr>
        </p:nvSpPr>
        <p:spPr>
          <a:xfrm>
            <a:off x="6292057" y="6393657"/>
            <a:ext cx="2743200" cy="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2pPr>
            <a:lvl3pPr marL="1371600" lvl="2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3pPr>
            <a:lvl4pPr marL="1828800" lvl="3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4pPr>
            <a:lvl5pPr marL="2286000" lvl="4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8" name="Google Shape;418;p46"/>
          <p:cNvSpPr txBox="1">
            <a:spLocks noGrp="1"/>
          </p:cNvSpPr>
          <p:nvPr>
            <p:ph type="body" idx="3"/>
          </p:nvPr>
        </p:nvSpPr>
        <p:spPr>
          <a:xfrm>
            <a:off x="326593" y="328613"/>
            <a:ext cx="5583670" cy="593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">
  <p:cSld name="Large Image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47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47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3" name="Google Shape;423;p47"/>
          <p:cNvSpPr>
            <a:spLocks noGrp="1"/>
          </p:cNvSpPr>
          <p:nvPr>
            <p:ph type="pic" idx="2"/>
          </p:nvPr>
        </p:nvSpPr>
        <p:spPr>
          <a:xfrm>
            <a:off x="326232" y="327819"/>
            <a:ext cx="11541025" cy="593328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4" name="Google Shape;424;p47"/>
          <p:cNvSpPr txBox="1">
            <a:spLocks noGrp="1"/>
          </p:cNvSpPr>
          <p:nvPr>
            <p:ph type="body" idx="1"/>
          </p:nvPr>
        </p:nvSpPr>
        <p:spPr>
          <a:xfrm>
            <a:off x="6292057" y="6393657"/>
            <a:ext cx="2743200" cy="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2pPr>
            <a:lvl3pPr marL="1371600" lvl="2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3pPr>
            <a:lvl4pPr marL="1828800" lvl="3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4pPr>
            <a:lvl5pPr marL="2286000" lvl="4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Smoke">
  <p:cSld name="Large Image Smoke">
    <p:bg>
      <p:bgPr>
        <a:solidFill>
          <a:schemeClr val="lt2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48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48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9" name="Google Shape;429;p48"/>
          <p:cNvSpPr>
            <a:spLocks noGrp="1"/>
          </p:cNvSpPr>
          <p:nvPr>
            <p:ph type="pic" idx="2"/>
          </p:nvPr>
        </p:nvSpPr>
        <p:spPr>
          <a:xfrm>
            <a:off x="326232" y="327819"/>
            <a:ext cx="11541025" cy="593328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0" name="Google Shape;430;p48"/>
          <p:cNvSpPr txBox="1">
            <a:spLocks noGrp="1"/>
          </p:cNvSpPr>
          <p:nvPr>
            <p:ph type="body" idx="1"/>
          </p:nvPr>
        </p:nvSpPr>
        <p:spPr>
          <a:xfrm>
            <a:off x="6292057" y="6393657"/>
            <a:ext cx="2743200" cy="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2pPr>
            <a:lvl3pPr marL="1371600" lvl="2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3pPr>
            <a:lvl4pPr marL="1828800" lvl="3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4pPr>
            <a:lvl5pPr marL="2286000" lvl="4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Image Khaki">
  <p:cSld name="Large Image Khaki">
    <p:bg>
      <p:bgPr>
        <a:solidFill>
          <a:srgbClr val="FBF7DC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9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49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49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5" name="Google Shape;435;p49"/>
          <p:cNvSpPr>
            <a:spLocks noGrp="1"/>
          </p:cNvSpPr>
          <p:nvPr>
            <p:ph type="pic" idx="2"/>
          </p:nvPr>
        </p:nvSpPr>
        <p:spPr>
          <a:xfrm>
            <a:off x="326232" y="327819"/>
            <a:ext cx="11541025" cy="593328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9"/>
          <p:cNvSpPr txBox="1">
            <a:spLocks noGrp="1"/>
          </p:cNvSpPr>
          <p:nvPr>
            <p:ph type="body" idx="1"/>
          </p:nvPr>
        </p:nvSpPr>
        <p:spPr>
          <a:xfrm>
            <a:off x="6292057" y="6393657"/>
            <a:ext cx="2743200" cy="137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None/>
              <a:defRPr sz="850">
                <a:solidFill>
                  <a:schemeClr val="accent1"/>
                </a:solidFill>
              </a:defRPr>
            </a:lvl2pPr>
            <a:lvl3pPr marL="1371600" lvl="2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3pPr>
            <a:lvl4pPr marL="1828800" lvl="3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4pPr>
            <a:lvl5pPr marL="2286000" lvl="4" indent="-2825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50"/>
              <a:buChar char="•"/>
              <a:defRPr sz="85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Bleed Image">
  <p:cSld name="Full Bleed Image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>
            <a:spLocks noGrp="1"/>
          </p:cNvSpPr>
          <p:nvPr>
            <p:ph type="pic" idx="2"/>
          </p:nvPr>
        </p:nvSpPr>
        <p:spPr>
          <a:xfrm>
            <a:off x="1" y="3"/>
            <a:ext cx="12193489" cy="68579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">
  <p:cSld name="End Slide">
    <p:bg>
      <p:bgPr>
        <a:solidFill>
          <a:schemeClr val="lt1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51"/>
          <p:cNvGrpSpPr/>
          <p:nvPr/>
        </p:nvGrpSpPr>
        <p:grpSpPr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441" name="Google Shape;441;p51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51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1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51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51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1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1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51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Smoke">
  <p:cSld name="End Slide Smoke">
    <p:bg>
      <p:bgPr>
        <a:solidFill>
          <a:schemeClr val="lt2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52"/>
          <p:cNvGrpSpPr/>
          <p:nvPr/>
        </p:nvGrpSpPr>
        <p:grpSpPr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451" name="Google Shape;451;p52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2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2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2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2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52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2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2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Khaki">
  <p:cSld name="End Slide Khaki">
    <p:bg>
      <p:bgPr>
        <a:solidFill>
          <a:srgbClr val="FBF7DC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53"/>
          <p:cNvGrpSpPr/>
          <p:nvPr/>
        </p:nvGrpSpPr>
        <p:grpSpPr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461" name="Google Shape;461;p53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53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53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3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53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53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53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3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Blue">
  <p:cSld name="End Slide Blue">
    <p:bg>
      <p:bgPr>
        <a:solidFill>
          <a:schemeClr val="accent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54"/>
          <p:cNvGrpSpPr/>
          <p:nvPr/>
        </p:nvGrpSpPr>
        <p:grpSpPr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471" name="Google Shape;471;p54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4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4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4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4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4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4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4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Image">
  <p:cSld name="End Slide Image">
    <p:bg>
      <p:bgPr>
        <a:solidFill>
          <a:srgbClr val="D8D8D8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55"/>
          <p:cNvGrpSpPr/>
          <p:nvPr/>
        </p:nvGrpSpPr>
        <p:grpSpPr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481" name="Google Shape;481;p55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5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5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5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5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5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5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5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">
  <p:cSld name="Closing Slide">
    <p:bg>
      <p:bgPr>
        <a:solidFill>
          <a:schemeClr val="lt1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6"/>
          <p:cNvSpPr txBox="1"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56"/>
          <p:cNvSpPr txBox="1">
            <a:spLocks noGrp="1"/>
          </p:cNvSpPr>
          <p:nvPr>
            <p:ph type="body" idx="1"/>
          </p:nvPr>
        </p:nvSpPr>
        <p:spPr>
          <a:xfrm>
            <a:off x="330271" y="5790130"/>
            <a:ext cx="5606484" cy="74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92" name="Google Shape;492;p56"/>
          <p:cNvGrpSpPr/>
          <p:nvPr/>
        </p:nvGrpSpPr>
        <p:grpSpPr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93" name="Google Shape;493;p56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6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6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6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6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6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6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6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 Smoke">
  <p:cSld name="Closing Slide Smoke">
    <p:bg>
      <p:bgPr>
        <a:solidFill>
          <a:schemeClr val="lt2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7"/>
          <p:cNvSpPr txBox="1"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57"/>
          <p:cNvSpPr txBox="1">
            <a:spLocks noGrp="1"/>
          </p:cNvSpPr>
          <p:nvPr>
            <p:ph type="body" idx="1"/>
          </p:nvPr>
        </p:nvSpPr>
        <p:spPr>
          <a:xfrm>
            <a:off x="330271" y="5790130"/>
            <a:ext cx="5606484" cy="74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04" name="Google Shape;504;p57"/>
          <p:cNvGrpSpPr/>
          <p:nvPr/>
        </p:nvGrpSpPr>
        <p:grpSpPr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05" name="Google Shape;505;p57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7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7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7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7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7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7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7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 Khaki">
  <p:cSld name="Closing Slide Khaki">
    <p:bg>
      <p:bgPr>
        <a:solidFill>
          <a:srgbClr val="FBF7DC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8"/>
          <p:cNvSpPr txBox="1"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  <a:defRPr sz="6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58"/>
          <p:cNvSpPr txBox="1">
            <a:spLocks noGrp="1"/>
          </p:cNvSpPr>
          <p:nvPr>
            <p:ph type="body" idx="1"/>
          </p:nvPr>
        </p:nvSpPr>
        <p:spPr>
          <a:xfrm>
            <a:off x="330271" y="5790130"/>
            <a:ext cx="5606484" cy="74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marL="1371600" lvl="2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1828800" lvl="3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2286000" lvl="4" indent="-355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16" name="Google Shape;516;p58"/>
          <p:cNvGrpSpPr/>
          <p:nvPr/>
        </p:nvGrpSpPr>
        <p:grpSpPr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17" name="Google Shape;517;p58"/>
            <p:cNvSpPr/>
            <p:nvPr/>
          </p:nvSpPr>
          <p:spPr>
            <a:xfrm>
              <a:off x="14261" y="3473"/>
              <a:ext cx="1099" cy="1694"/>
            </a:xfrm>
            <a:custGeom>
              <a:avLst/>
              <a:gdLst/>
              <a:ahLst/>
              <a:cxnLst/>
              <a:rect l="l" t="t" r="r" b="b"/>
              <a:pathLst>
                <a:path w="1099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8"/>
            <p:cNvSpPr/>
            <p:nvPr/>
          </p:nvSpPr>
          <p:spPr>
            <a:xfrm>
              <a:off x="12002" y="3473"/>
              <a:ext cx="1535" cy="1694"/>
            </a:xfrm>
            <a:custGeom>
              <a:avLst/>
              <a:gdLst/>
              <a:ahLst/>
              <a:cxnLst/>
              <a:rect l="l" t="t" r="r" b="b"/>
              <a:pathLst>
                <a:path w="1535" h="1694" extrusionOk="0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8"/>
            <p:cNvSpPr/>
            <p:nvPr/>
          </p:nvSpPr>
          <p:spPr>
            <a:xfrm>
              <a:off x="1025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8"/>
            <p:cNvSpPr/>
            <p:nvPr/>
          </p:nvSpPr>
          <p:spPr>
            <a:xfrm>
              <a:off x="8263" y="3473"/>
              <a:ext cx="1317" cy="1694"/>
            </a:xfrm>
            <a:custGeom>
              <a:avLst/>
              <a:gdLst/>
              <a:ahLst/>
              <a:cxnLst/>
              <a:rect l="l" t="t" r="r" b="b"/>
              <a:pathLst>
                <a:path w="932" h="1199" extrusionOk="0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8"/>
            <p:cNvSpPr/>
            <p:nvPr/>
          </p:nvSpPr>
          <p:spPr>
            <a:xfrm>
              <a:off x="6369" y="3473"/>
              <a:ext cx="1098" cy="1694"/>
            </a:xfrm>
            <a:custGeom>
              <a:avLst/>
              <a:gdLst/>
              <a:ahLst/>
              <a:cxnLst/>
              <a:rect l="l" t="t" r="r" b="b"/>
              <a:pathLst>
                <a:path w="109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8"/>
            <p:cNvSpPr/>
            <p:nvPr/>
          </p:nvSpPr>
          <p:spPr>
            <a:xfrm>
              <a:off x="4481" y="3473"/>
              <a:ext cx="1215" cy="1694"/>
            </a:xfrm>
            <a:custGeom>
              <a:avLst/>
              <a:gdLst/>
              <a:ahLst/>
              <a:cxnLst/>
              <a:rect l="l" t="t" r="r" b="b"/>
              <a:pathLst>
                <a:path w="860" h="1199" extrusionOk="0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8"/>
            <p:cNvSpPr/>
            <p:nvPr/>
          </p:nvSpPr>
          <p:spPr>
            <a:xfrm>
              <a:off x="1945" y="3473"/>
              <a:ext cx="1720" cy="1694"/>
            </a:xfrm>
            <a:custGeom>
              <a:avLst/>
              <a:gdLst/>
              <a:ahLst/>
              <a:cxnLst/>
              <a:rect l="l" t="t" r="r" b="b"/>
              <a:pathLst>
                <a:path w="1720" h="1694" extrusionOk="0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8"/>
            <p:cNvSpPr/>
            <p:nvPr/>
          </p:nvSpPr>
          <p:spPr>
            <a:xfrm>
              <a:off x="0" y="3473"/>
              <a:ext cx="1113" cy="1694"/>
            </a:xfrm>
            <a:custGeom>
              <a:avLst/>
              <a:gdLst/>
              <a:ahLst/>
              <a:cxnLst/>
              <a:rect l="l" t="t" r="r" b="b"/>
              <a:pathLst>
                <a:path w="1113" h="1694" extrusionOk="0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59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59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59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0" name="Google Shape;530;p59"/>
          <p:cNvSpPr txBox="1">
            <a:spLocks noGrp="1"/>
          </p:cNvSpPr>
          <p:nvPr>
            <p:ph type="subTitle" idx="1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Smoke">
  <p:cSld name="Title Only Smoke">
    <p:bg>
      <p:bgPr>
        <a:solidFill>
          <a:schemeClr val="lt2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0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60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60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60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6" name="Google Shape;536;p60"/>
          <p:cNvSpPr txBox="1">
            <a:spLocks noGrp="1"/>
          </p:cNvSpPr>
          <p:nvPr>
            <p:ph type="subTitle" idx="1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Khaki">
  <p:cSld name="Title Only Khaki">
    <p:bg>
      <p:bgPr>
        <a:solidFill>
          <a:srgbClr val="FBF7DC"/>
        </a:solid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1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61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61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61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2" name="Google Shape;542;p61"/>
          <p:cNvSpPr txBox="1">
            <a:spLocks noGrp="1"/>
          </p:cNvSpPr>
          <p:nvPr>
            <p:ph type="subTitle" idx="1"/>
          </p:nvPr>
        </p:nvSpPr>
        <p:spPr>
          <a:xfrm>
            <a:off x="325800" y="620196"/>
            <a:ext cx="11540763" cy="3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2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62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62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moke">
  <p:cSld name="Blank Smoke">
    <p:bg>
      <p:bgPr>
        <a:solidFill>
          <a:schemeClr val="lt2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3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63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63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Khaki">
  <p:cSld name="Blank Khaki">
    <p:bg>
      <p:bgPr>
        <a:solidFill>
          <a:srgbClr val="FBF7DC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4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64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64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8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8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8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8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8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8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8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85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1"/>
          <p:cNvSpPr txBox="1"/>
          <p:nvPr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Imperial College London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06">
          <p15:clr>
            <a:srgbClr val="F26B43"/>
          </p15:clr>
        </p15:guide>
        <p15:guide id="4" pos="7475">
          <p15:clr>
            <a:srgbClr val="F26B43"/>
          </p15:clr>
        </p15:guide>
        <p15:guide id="5" orient="horz" pos="207">
          <p15:clr>
            <a:srgbClr val="F26B43"/>
          </p15:clr>
        </p15:guide>
        <p15:guide id="6" orient="horz" pos="4114">
          <p15:clr>
            <a:srgbClr val="F26B43"/>
          </p15:clr>
        </p15:guide>
        <p15:guide id="7" orient="horz" pos="3944">
          <p15:clr>
            <a:srgbClr val="F26B43"/>
          </p15:clr>
        </p15:guide>
        <p15:guide id="8" orient="horz" pos="879">
          <p15:clr>
            <a:srgbClr val="F26B43"/>
          </p15:clr>
        </p15:guide>
        <p15:guide id="9" pos="3723">
          <p15:clr>
            <a:srgbClr val="F26B43"/>
          </p15:clr>
        </p15:guide>
        <p15:guide id="10" pos="395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5"/>
          <p:cNvSpPr txBox="1">
            <a:spLocks noGrp="1"/>
          </p:cNvSpPr>
          <p:nvPr>
            <p:ph type="ctrTitle"/>
          </p:nvPr>
        </p:nvSpPr>
        <p:spPr>
          <a:xfrm>
            <a:off x="317250" y="1070975"/>
            <a:ext cx="11650800" cy="3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Arial"/>
              <a:buNone/>
            </a:pPr>
            <a:r>
              <a:rPr lang="en-GB"/>
              <a:t>Data-Driven Optimization and Fault Detection in Solar Power Plants</a:t>
            </a:r>
            <a:endParaRPr/>
          </a:p>
        </p:txBody>
      </p:sp>
      <p:sp>
        <p:nvSpPr>
          <p:cNvPr id="560" name="Google Shape;560;p65"/>
          <p:cNvSpPr txBox="1">
            <a:spLocks noGrp="1"/>
          </p:cNvSpPr>
          <p:nvPr>
            <p:ph type="subTitle" idx="1"/>
          </p:nvPr>
        </p:nvSpPr>
        <p:spPr>
          <a:xfrm>
            <a:off x="317250" y="4938700"/>
            <a:ext cx="92604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r>
              <a:rPr lang="en-GB" sz="3000"/>
              <a:t>CIVE70111 - Machine Learning</a:t>
            </a:r>
            <a:endParaRPr sz="3000"/>
          </a:p>
        </p:txBody>
      </p:sp>
      <p:sp>
        <p:nvSpPr>
          <p:cNvPr id="561" name="Google Shape;561;p65"/>
          <p:cNvSpPr txBox="1">
            <a:spLocks noGrp="1"/>
          </p:cNvSpPr>
          <p:nvPr>
            <p:ph type="body" idx="2"/>
          </p:nvPr>
        </p:nvSpPr>
        <p:spPr>
          <a:xfrm>
            <a:off x="330271" y="5789336"/>
            <a:ext cx="5579198" cy="74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en-GB"/>
              <a:t>Group 11</a:t>
            </a:r>
            <a:endParaRPr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en-GB"/>
              <a:t>12/12/2025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6"/>
          <p:cNvSpPr txBox="1">
            <a:spLocks noGrp="1"/>
          </p:cNvSpPr>
          <p:nvPr>
            <p:ph type="title"/>
          </p:nvPr>
        </p:nvSpPr>
        <p:spPr>
          <a:xfrm>
            <a:off x="325800" y="171280"/>
            <a:ext cx="3497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Scope and Objectives</a:t>
            </a:r>
            <a:endParaRPr/>
          </a:p>
        </p:txBody>
      </p:sp>
      <p:sp>
        <p:nvSpPr>
          <p:cNvPr id="568" name="Google Shape;568;p66"/>
          <p:cNvSpPr txBox="1">
            <a:spLocks noGrp="1"/>
          </p:cNvSpPr>
          <p:nvPr>
            <p:ph type="subTitle" idx="2"/>
          </p:nvPr>
        </p:nvSpPr>
        <p:spPr>
          <a:xfrm>
            <a:off x="997100" y="-667000"/>
            <a:ext cx="7293300" cy="2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3D85C6"/>
                </a:solidFill>
              </a:rPr>
              <a:t>What is the problem? Why do we need to solve it? How to solve it?</a:t>
            </a:r>
            <a:endParaRPr/>
          </a:p>
        </p:txBody>
      </p:sp>
      <p:sp>
        <p:nvSpPr>
          <p:cNvPr id="569" name="Google Shape;569;p66"/>
          <p:cNvSpPr/>
          <p:nvPr/>
        </p:nvSpPr>
        <p:spPr>
          <a:xfrm>
            <a:off x="21866925" y="-1235700"/>
            <a:ext cx="2608200" cy="646200"/>
          </a:xfrm>
          <a:prstGeom prst="downArrow">
            <a:avLst>
              <a:gd name="adj1" fmla="val 50000"/>
              <a:gd name="adj2" fmla="val 45605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Raw Data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0" name="Google Shape;570;p66"/>
          <p:cNvSpPr/>
          <p:nvPr/>
        </p:nvSpPr>
        <p:spPr>
          <a:xfrm>
            <a:off x="21866925" y="-420537"/>
            <a:ext cx="2608200" cy="646200"/>
          </a:xfrm>
          <a:prstGeom prst="downArrow">
            <a:avLst>
              <a:gd name="adj1" fmla="val 50000"/>
              <a:gd name="adj2" fmla="val 45605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Propressing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1" name="Google Shape;571;p66"/>
          <p:cNvSpPr/>
          <p:nvPr/>
        </p:nvSpPr>
        <p:spPr>
          <a:xfrm>
            <a:off x="21866925" y="394638"/>
            <a:ext cx="2608200" cy="646200"/>
          </a:xfrm>
          <a:prstGeom prst="downArrow">
            <a:avLst>
              <a:gd name="adj1" fmla="val 50000"/>
              <a:gd name="adj2" fmla="val 45605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Regression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2" name="Google Shape;572;p66"/>
          <p:cNvSpPr/>
          <p:nvPr/>
        </p:nvSpPr>
        <p:spPr>
          <a:xfrm>
            <a:off x="21866925" y="1194525"/>
            <a:ext cx="2608200" cy="646200"/>
          </a:xfrm>
          <a:prstGeom prst="downArrow">
            <a:avLst>
              <a:gd name="adj1" fmla="val 50000"/>
              <a:gd name="adj2" fmla="val 45605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Classification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3" name="Google Shape;573;p66"/>
          <p:cNvSpPr/>
          <p:nvPr/>
        </p:nvSpPr>
        <p:spPr>
          <a:xfrm>
            <a:off x="21866925" y="2103750"/>
            <a:ext cx="2608200" cy="646200"/>
          </a:xfrm>
          <a:prstGeom prst="downArrow">
            <a:avLst>
              <a:gd name="adj1" fmla="val 50000"/>
              <a:gd name="adj2" fmla="val 45605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Insights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4" name="Google Shape;574;p66"/>
          <p:cNvSpPr txBox="1"/>
          <p:nvPr/>
        </p:nvSpPr>
        <p:spPr>
          <a:xfrm>
            <a:off x="12885175" y="-451675"/>
            <a:ext cx="1610100" cy="2469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</a:t>
            </a:r>
            <a:endParaRPr sz="17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Solar energy is intermittent and weather-dependent, making it hard for grid operators to balance supply and demand.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75" name="Google Shape;575;p66"/>
          <p:cNvSpPr/>
          <p:nvPr/>
        </p:nvSpPr>
        <p:spPr>
          <a:xfrm rot="5400000" flipH="1">
            <a:off x="14092633" y="621432"/>
            <a:ext cx="1423200" cy="323100"/>
          </a:xfrm>
          <a:prstGeom prst="triangle">
            <a:avLst>
              <a:gd name="adj" fmla="val 49995"/>
            </a:avLst>
          </a:prstGeom>
          <a:solidFill>
            <a:schemeClr val="dk2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66"/>
          <p:cNvSpPr txBox="1"/>
          <p:nvPr/>
        </p:nvSpPr>
        <p:spPr>
          <a:xfrm>
            <a:off x="15067300" y="-451675"/>
            <a:ext cx="1469100" cy="2469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Accurate forecasting to ensure grid stability and fault detection to minimize downtime.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77" name="Google Shape;577;p66"/>
          <p:cNvSpPr/>
          <p:nvPr/>
        </p:nvSpPr>
        <p:spPr>
          <a:xfrm rot="-1150607">
            <a:off x="16602774" y="-238967"/>
            <a:ext cx="952558" cy="4018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66"/>
          <p:cNvSpPr/>
          <p:nvPr/>
        </p:nvSpPr>
        <p:spPr>
          <a:xfrm rot="1218965">
            <a:off x="16638206" y="1429636"/>
            <a:ext cx="930591" cy="48957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FF"/>
              </a:solidFill>
            </a:endParaRPr>
          </a:p>
        </p:txBody>
      </p:sp>
      <p:sp>
        <p:nvSpPr>
          <p:cNvPr id="579" name="Google Shape;579;p66"/>
          <p:cNvSpPr txBox="1"/>
          <p:nvPr/>
        </p:nvSpPr>
        <p:spPr>
          <a:xfrm>
            <a:off x="17642046" y="-1543525"/>
            <a:ext cx="1469100" cy="1990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Forecasting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1. Predict DC Power output for the next period.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2.Helps plan energy dispatch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0" name="Google Shape;580;p66"/>
          <p:cNvSpPr txBox="1"/>
          <p:nvPr/>
        </p:nvSpPr>
        <p:spPr>
          <a:xfrm>
            <a:off x="17650546" y="759150"/>
            <a:ext cx="1469100" cy="1990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Detection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1.  Identify inverters that are underperforming 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2. Enables predictive maintenance and reduces loss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81" name="Google Shape;581;p66"/>
          <p:cNvSpPr txBox="1"/>
          <p:nvPr/>
        </p:nvSpPr>
        <p:spPr>
          <a:xfrm>
            <a:off x="19761825" y="-212425"/>
            <a:ext cx="1469100" cy="2130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Mining Pipeline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1. Data Cleaning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2. Feature Engineering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 Model Training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4. Evaluation.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2" name="Google Shape;582;p66"/>
          <p:cNvSpPr/>
          <p:nvPr/>
        </p:nvSpPr>
        <p:spPr>
          <a:xfrm rot="5400000" flipH="1">
            <a:off x="18670445" y="584974"/>
            <a:ext cx="1608600" cy="396000"/>
          </a:xfrm>
          <a:prstGeom prst="triangle">
            <a:avLst>
              <a:gd name="adj" fmla="val 49995"/>
            </a:avLst>
          </a:prstGeom>
          <a:solidFill>
            <a:schemeClr val="dk2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66"/>
          <p:cNvCxnSpPr/>
          <p:nvPr/>
        </p:nvCxnSpPr>
        <p:spPr>
          <a:xfrm rot="10800000">
            <a:off x="21548925" y="-1543425"/>
            <a:ext cx="0" cy="4894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AD88B5E4-1553-36DA-42CC-AB8942ED49CE}"/>
              </a:ext>
            </a:extLst>
          </p:cNvPr>
          <p:cNvSpPr txBox="1"/>
          <p:nvPr/>
        </p:nvSpPr>
        <p:spPr>
          <a:xfrm>
            <a:off x="713474" y="1371394"/>
            <a:ext cx="2912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Task</a:t>
            </a:r>
            <a:endParaRPr lang="zh-HK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0F53911-4323-FBF0-7AF6-75619241BA2E}"/>
              </a:ext>
            </a:extLst>
          </p:cNvPr>
          <p:cNvSpPr txBox="1"/>
          <p:nvPr/>
        </p:nvSpPr>
        <p:spPr>
          <a:xfrm>
            <a:off x="4277035" y="1371394"/>
            <a:ext cx="2912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Performance</a:t>
            </a:r>
            <a:endParaRPr lang="zh-HK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930A59D-9B94-6BE6-A3D8-68EEAB97AA4F}"/>
              </a:ext>
            </a:extLst>
          </p:cNvPr>
          <p:cNvSpPr txBox="1"/>
          <p:nvPr/>
        </p:nvSpPr>
        <p:spPr>
          <a:xfrm>
            <a:off x="8465094" y="1332523"/>
            <a:ext cx="2912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Experience</a:t>
            </a:r>
            <a:endParaRPr lang="zh-HK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>
          <a:extLst>
            <a:ext uri="{FF2B5EF4-FFF2-40B4-BE49-F238E27FC236}">
              <a16:creationId xmlns:a16="http://schemas.microsoft.com/office/drawing/2014/main" id="{EE1F2375-D2C4-4FF6-C8EF-42B05EB9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6">
            <a:extLst>
              <a:ext uri="{FF2B5EF4-FFF2-40B4-BE49-F238E27FC236}">
                <a16:creationId xmlns:a16="http://schemas.microsoft.com/office/drawing/2014/main" id="{6A1C0646-9F09-E2E0-11E2-5D794564A1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800" y="171280"/>
            <a:ext cx="3497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Scope and Objectives</a:t>
            </a:r>
            <a:endParaRPr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3501E14-EAA1-0898-3324-03C12B1B2C67}"/>
              </a:ext>
            </a:extLst>
          </p:cNvPr>
          <p:cNvSpPr txBox="1"/>
          <p:nvPr/>
        </p:nvSpPr>
        <p:spPr>
          <a:xfrm>
            <a:off x="713474" y="1371394"/>
            <a:ext cx="2912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Task</a:t>
            </a:r>
            <a:endParaRPr lang="zh-HK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C2A508-E8E1-3879-86D9-4E4E2B673097}"/>
              </a:ext>
            </a:extLst>
          </p:cNvPr>
          <p:cNvSpPr txBox="1"/>
          <p:nvPr/>
        </p:nvSpPr>
        <p:spPr>
          <a:xfrm>
            <a:off x="4277035" y="1363736"/>
            <a:ext cx="2912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Performance</a:t>
            </a:r>
            <a:endParaRPr lang="zh-HK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B3E5663-0326-6A08-6C04-D1338F25AB5E}"/>
              </a:ext>
            </a:extLst>
          </p:cNvPr>
          <p:cNvSpPr txBox="1"/>
          <p:nvPr/>
        </p:nvSpPr>
        <p:spPr>
          <a:xfrm>
            <a:off x="8465094" y="1332523"/>
            <a:ext cx="2912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Experience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4911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7"/>
          <p:cNvSpPr/>
          <p:nvPr/>
        </p:nvSpPr>
        <p:spPr>
          <a:xfrm>
            <a:off x="762025" y="3562138"/>
            <a:ext cx="11054700" cy="125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67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</a:t>
            </a:r>
            <a:endParaRPr/>
          </a:p>
        </p:txBody>
      </p:sp>
      <p:sp>
        <p:nvSpPr>
          <p:cNvPr id="592" name="Google Shape;592;p67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593" name="Google Shape;593;p67"/>
          <p:cNvSpPr/>
          <p:nvPr/>
        </p:nvSpPr>
        <p:spPr>
          <a:xfrm>
            <a:off x="1251663" y="2954678"/>
            <a:ext cx="1891800" cy="2232600"/>
          </a:xfrm>
          <a:prstGeom prst="rect">
            <a:avLst/>
          </a:prstGeom>
          <a:solidFill>
            <a:srgbClr val="C9DAF8"/>
          </a:solidFill>
          <a:ln w="38100" cap="flat" cmpd="sng">
            <a:solidFill>
              <a:srgbClr val="CCCCC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Ingestion </a:t>
            </a:r>
            <a:endParaRPr sz="11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Loaded raw CSV files</a:t>
            </a:r>
            <a:endParaRPr sz="12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</a:rPr>
              <a:t>Fix timestamp formats, remove invalid rows utlier Detection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594" name="Google Shape;594;p67"/>
          <p:cNvSpPr/>
          <p:nvPr/>
        </p:nvSpPr>
        <p:spPr>
          <a:xfrm>
            <a:off x="3678098" y="2954678"/>
            <a:ext cx="1893600" cy="2232600"/>
          </a:xfrm>
          <a:prstGeom prst="rect">
            <a:avLst/>
          </a:prstGeom>
          <a:solidFill>
            <a:srgbClr val="C9DAF8"/>
          </a:solidFill>
          <a:ln w="38100" cap="flat" cmpd="sng">
            <a:solidFill>
              <a:srgbClr val="CCCCC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Data &amp; Outlier Detection</a:t>
            </a: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100">
                <a:solidFill>
                  <a:schemeClr val="dk1"/>
                </a:solidFill>
              </a:rPr>
              <a:t>Check for missing values and duplicates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Remove high‑residual (z &gt; 3) points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</a:endParaRPr>
          </a:p>
          <a:p>
            <a:pPr marL="45720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67"/>
          <p:cNvSpPr/>
          <p:nvPr/>
        </p:nvSpPr>
        <p:spPr>
          <a:xfrm>
            <a:off x="6166548" y="2954678"/>
            <a:ext cx="1891800" cy="2232600"/>
          </a:xfrm>
          <a:prstGeom prst="rect">
            <a:avLst/>
          </a:prstGeom>
          <a:solidFill>
            <a:srgbClr val="C9DAF8"/>
          </a:solidFill>
          <a:ln w="38100" cap="flat" cmpd="sng">
            <a:solidFill>
              <a:srgbClr val="CCCCC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 &amp; Merge</a:t>
            </a:r>
            <a:endParaRPr sz="11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100">
                <a:solidFill>
                  <a:schemeClr val="dk1"/>
                </a:solidFill>
              </a:rPr>
              <a:t>Combine inverter readings with weather by timestamp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Links  specific power output to the exact weather conditions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596" name="Google Shape;596;p67"/>
          <p:cNvSpPr/>
          <p:nvPr/>
        </p:nvSpPr>
        <p:spPr>
          <a:xfrm>
            <a:off x="8675298" y="2954678"/>
            <a:ext cx="1893600" cy="2232600"/>
          </a:xfrm>
          <a:prstGeom prst="rect">
            <a:avLst/>
          </a:prstGeom>
          <a:solidFill>
            <a:srgbClr val="C9DAF8"/>
          </a:solidFill>
          <a:ln w="38100" cap="flat" cmpd="sng">
            <a:solidFill>
              <a:srgbClr val="CCCCC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EDA &amp; Visualization</a:t>
            </a: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GB" sz="1100">
                <a:solidFill>
                  <a:schemeClr val="dk1"/>
                </a:solidFill>
              </a:rPr>
              <a:t>Calculated Correlation Matrices and visualized Time-Series Plots.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Visualized the "Bell Curve" of daily production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</a:endParaRPr>
          </a:p>
          <a:p>
            <a:pPr marL="45720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7" name="Google Shape;597;p67"/>
          <p:cNvCxnSpPr/>
          <p:nvPr/>
        </p:nvCxnSpPr>
        <p:spPr>
          <a:xfrm>
            <a:off x="327025" y="1729675"/>
            <a:ext cx="114351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598" name="Google Shape;598;p67"/>
          <p:cNvSpPr txBox="1"/>
          <p:nvPr/>
        </p:nvSpPr>
        <p:spPr>
          <a:xfrm>
            <a:off x="325500" y="602783"/>
            <a:ext cx="11435100" cy="10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>
                <a:solidFill>
                  <a:schemeClr val="accent1"/>
                </a:solidFill>
              </a:rPr>
              <a:t>Objective</a:t>
            </a:r>
            <a:endParaRPr sz="1800">
              <a:solidFill>
                <a:schemeClr val="accent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>
                <a:solidFill>
                  <a:srgbClr val="3D85C6"/>
                </a:solidFill>
              </a:rPr>
              <a:t>Conduct an exploratory analysis of the power generation and sensor data, derive insights to inform modelling decisions, and prepare for machine learning.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99" name="Google Shape;599;p67"/>
          <p:cNvSpPr txBox="1">
            <a:spLocks noGrp="1"/>
          </p:cNvSpPr>
          <p:nvPr>
            <p:ph type="body" idx="1"/>
          </p:nvPr>
        </p:nvSpPr>
        <p:spPr>
          <a:xfrm>
            <a:off x="294900" y="1890875"/>
            <a:ext cx="3681877" cy="5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Workflow Overview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8"/>
          <p:cNvSpPr txBox="1">
            <a:spLocks noGrp="1"/>
          </p:cNvSpPr>
          <p:nvPr>
            <p:ph type="title"/>
          </p:nvPr>
        </p:nvSpPr>
        <p:spPr>
          <a:xfrm>
            <a:off x="325800" y="369593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 Results </a:t>
            </a:r>
            <a:endParaRPr/>
          </a:p>
        </p:txBody>
      </p:sp>
      <p:sp>
        <p:nvSpPr>
          <p:cNvPr id="606" name="Google Shape;606;p68"/>
          <p:cNvSpPr txBox="1">
            <a:spLocks noGrp="1"/>
          </p:cNvSpPr>
          <p:nvPr>
            <p:ph type="body" idx="1"/>
          </p:nvPr>
        </p:nvSpPr>
        <p:spPr>
          <a:xfrm>
            <a:off x="581425" y="1356143"/>
            <a:ext cx="6019500" cy="210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302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AutoNum type="arabicPeriod"/>
            </a:pPr>
            <a:r>
              <a:rPr lang="en-GB" sz="1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Irradiation is the main driver.</a:t>
            </a:r>
            <a:endParaRPr sz="1900"/>
          </a:p>
          <a:p>
            <a:pPr marL="45720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Correlation Matrix confirms a positive correlation (</a:t>
            </a:r>
            <a:r>
              <a:rPr lang="en-GB" sz="1300" b="1"/>
              <a:t>0.98</a:t>
            </a:r>
            <a:r>
              <a:rPr lang="en-GB" sz="1300"/>
              <a:t>) between Irradiation and DC Power.  </a:t>
            </a:r>
            <a:endParaRPr sz="1300"/>
          </a:p>
          <a:p>
            <a:pPr marL="45720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marR="0" lvl="0" indent="-3302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-GB" sz="1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Module_Temperature is the secondary factor</a:t>
            </a:r>
            <a:endParaRPr sz="1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Shows a strong correlation with power (0.95),  higher than Ambient_Temperature, indicating that the panel's internal temperature is a more relevant feature than the surrounding air temperature.</a:t>
            </a:r>
            <a:endParaRPr sz="13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607" name="Google Shape;607;p68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608" name="Google Shape;608;p68"/>
          <p:cNvSpPr txBox="1">
            <a:spLocks noGrp="1"/>
          </p:cNvSpPr>
          <p:nvPr>
            <p:ph type="subTitle" idx="2"/>
          </p:nvPr>
        </p:nvSpPr>
        <p:spPr>
          <a:xfrm>
            <a:off x="325800" y="737789"/>
            <a:ext cx="11540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accent1"/>
                </a:solidFill>
              </a:rPr>
              <a:t>Key insights from Data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rgbClr val="2A2B2E"/>
              </a:solidFill>
              <a:highlight>
                <a:srgbClr val="FFFFFF"/>
              </a:highlight>
            </a:endParaRPr>
          </a:p>
        </p:txBody>
      </p:sp>
      <p:pic>
        <p:nvPicPr>
          <p:cNvPr id="609" name="Google Shape;60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25" y="3540765"/>
            <a:ext cx="3298324" cy="219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9850" y="3484038"/>
            <a:ext cx="3541637" cy="199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8"/>
          <p:cNvSpPr txBox="1"/>
          <p:nvPr/>
        </p:nvSpPr>
        <p:spPr>
          <a:xfrm>
            <a:off x="7165325" y="1233005"/>
            <a:ext cx="4539000" cy="24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 Linearity</a:t>
            </a:r>
            <a:endParaRPr sz="1200">
              <a:solidFill>
                <a:schemeClr val="dk1"/>
              </a:solidFill>
            </a:endParaRPr>
          </a:p>
          <a:p>
            <a:pPr marL="36000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The data points form a tight, linear cluster extending  from the origin, confirming the strong physical relationship identified in the heatmap 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6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cyclical pattern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0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Shows a daily cyclical pattern in power generation.</a:t>
            </a:r>
            <a:r>
              <a:rPr lang="en-GB" sz="1200">
                <a:solidFill>
                  <a:schemeClr val="dk1"/>
                </a:solidFill>
              </a:rPr>
              <a:t>This observation justifies the feature engineering step where </a:t>
            </a:r>
            <a:endParaRPr sz="1200">
              <a:solidFill>
                <a:schemeClr val="dk1"/>
              </a:solidFill>
            </a:endParaRPr>
          </a:p>
          <a:p>
            <a:pPr marL="360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we extracted the 'Hour' component from the timestamp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2" name="Google Shape;612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3275" y="3602182"/>
            <a:ext cx="3094675" cy="158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76350" y="4283557"/>
            <a:ext cx="2607926" cy="13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8"/>
          <p:cNvSpPr txBox="1"/>
          <p:nvPr/>
        </p:nvSpPr>
        <p:spPr>
          <a:xfrm>
            <a:off x="7840750" y="5747982"/>
            <a:ext cx="37434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accent1"/>
                </a:solidFill>
              </a:rPr>
              <a:t>Temporal Dynamics: Verification of Daily Solar Cycles</a:t>
            </a:r>
            <a:endParaRPr sz="1300" b="1">
              <a:solidFill>
                <a:schemeClr val="accent1"/>
              </a:solidFill>
            </a:endParaRPr>
          </a:p>
        </p:txBody>
      </p:sp>
      <p:sp>
        <p:nvSpPr>
          <p:cNvPr id="615" name="Google Shape;615;p68"/>
          <p:cNvSpPr txBox="1"/>
          <p:nvPr/>
        </p:nvSpPr>
        <p:spPr>
          <a:xfrm>
            <a:off x="523288" y="5728588"/>
            <a:ext cx="30948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accent1"/>
                </a:solidFill>
              </a:rPr>
              <a:t>Key Predictors Correlation Heatmap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16" name="Google Shape;616;p68"/>
          <p:cNvSpPr txBox="1"/>
          <p:nvPr/>
        </p:nvSpPr>
        <p:spPr>
          <a:xfrm>
            <a:off x="4082150" y="5740946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accent1"/>
                </a:solidFill>
              </a:rPr>
              <a:t>Scatter Plot: Irradiation vs. DC Power</a:t>
            </a:r>
            <a:endParaRPr/>
          </a:p>
        </p:txBody>
      </p:sp>
      <p:cxnSp>
        <p:nvCxnSpPr>
          <p:cNvPr id="617" name="Google Shape;617;p68"/>
          <p:cNvCxnSpPr/>
          <p:nvPr/>
        </p:nvCxnSpPr>
        <p:spPr>
          <a:xfrm>
            <a:off x="378600" y="3432425"/>
            <a:ext cx="114351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9"/>
          <p:cNvSpPr/>
          <p:nvPr/>
        </p:nvSpPr>
        <p:spPr>
          <a:xfrm>
            <a:off x="762025" y="3562138"/>
            <a:ext cx="11054700" cy="125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69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Task 3</a:t>
            </a:r>
            <a:endParaRPr/>
          </a:p>
        </p:txBody>
      </p:sp>
      <p:sp>
        <p:nvSpPr>
          <p:cNvPr id="625" name="Google Shape;625;p69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626" name="Google Shape;626;p69"/>
          <p:cNvSpPr txBox="1">
            <a:spLocks noGrp="1"/>
          </p:cNvSpPr>
          <p:nvPr>
            <p:ph type="subTitle" idx="2"/>
          </p:nvPr>
        </p:nvSpPr>
        <p:spPr>
          <a:xfrm>
            <a:off x="325800" y="620199"/>
            <a:ext cx="11540700" cy="105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Objectives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3D85C6"/>
                </a:solidFill>
              </a:rPr>
              <a:t>Develop models to forecast the power output using environmental conditions to anticipate power production capabilities and optimize.</a:t>
            </a:r>
            <a:endParaRPr sz="1800" b="1">
              <a:solidFill>
                <a:srgbClr val="3D85C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rgbClr val="3D85C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69"/>
          <p:cNvSpPr/>
          <p:nvPr/>
        </p:nvSpPr>
        <p:spPr>
          <a:xfrm>
            <a:off x="1427063" y="3013878"/>
            <a:ext cx="1891800" cy="2232600"/>
          </a:xfrm>
          <a:prstGeom prst="rect">
            <a:avLst/>
          </a:prstGeom>
          <a:solidFill>
            <a:srgbClr val="C9DAF8"/>
          </a:solidFill>
          <a:ln w="38100" cap="flat" cmpd="sng">
            <a:solidFill>
              <a:srgbClr val="CCCCC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 &amp; Data Splitting </a:t>
            </a:r>
            <a:endParaRPr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Selected Irradiation, Ambient Temperature, Module Temperature as predictors.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Split each inverter into one CSV per day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28" name="Google Shape;628;p69"/>
          <p:cNvSpPr/>
          <p:nvPr/>
        </p:nvSpPr>
        <p:spPr>
          <a:xfrm>
            <a:off x="6322366" y="3013878"/>
            <a:ext cx="1891800" cy="2232600"/>
          </a:xfrm>
          <a:prstGeom prst="rect">
            <a:avLst/>
          </a:prstGeom>
          <a:solidFill>
            <a:srgbClr val="C9DAF8"/>
          </a:solidFill>
          <a:ln w="38100" cap="flat" cmpd="sng">
            <a:solidFill>
              <a:srgbClr val="CCCCC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Evaluation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Calculated RMSE, MAE and R² for  DC &amp; AC power.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Compare model Bias–variance, performance &amp; stability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629" name="Google Shape;629;p69"/>
          <p:cNvSpPr/>
          <p:nvPr/>
        </p:nvSpPr>
        <p:spPr>
          <a:xfrm>
            <a:off x="3823250" y="3013875"/>
            <a:ext cx="1922100" cy="2232600"/>
          </a:xfrm>
          <a:prstGeom prst="rect">
            <a:avLst/>
          </a:prstGeom>
          <a:solidFill>
            <a:srgbClr val="C9DAF8"/>
          </a:solidFill>
          <a:ln w="38100" cap="flat" cmpd="sng">
            <a:solidFill>
              <a:srgbClr val="CCCCC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101600" marR="0" lvl="0" indent="-101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 Training</a:t>
            </a:r>
            <a:endParaRPr sz="1200" b="1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Linear Regression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Neural Network  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Lasso Regression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Ridge Regression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Random Forest </a:t>
            </a:r>
            <a:endParaRPr sz="130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</a:endParaRPr>
          </a:p>
          <a:p>
            <a:pPr marL="45720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69"/>
          <p:cNvSpPr/>
          <p:nvPr/>
        </p:nvSpPr>
        <p:spPr>
          <a:xfrm>
            <a:off x="8873138" y="3013853"/>
            <a:ext cx="1891800" cy="2232600"/>
          </a:xfrm>
          <a:prstGeom prst="rect">
            <a:avLst/>
          </a:prstGeom>
          <a:solidFill>
            <a:srgbClr val="C9DAF8"/>
          </a:solidFill>
          <a:ln w="38100" cap="flat" cmpd="sng">
            <a:solidFill>
              <a:srgbClr val="CCCCC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Network Analysis and Operational Visualisation</a:t>
            </a:r>
            <a:endParaRPr sz="11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Visualise DC &amp; AC loss curves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convergence speed,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iterations, 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 time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Time‑of‑day performance plots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1" name="Google Shape;631;p69"/>
          <p:cNvCxnSpPr/>
          <p:nvPr/>
        </p:nvCxnSpPr>
        <p:spPr>
          <a:xfrm>
            <a:off x="327025" y="1729675"/>
            <a:ext cx="114351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32" name="Google Shape;632;p69"/>
          <p:cNvSpPr txBox="1">
            <a:spLocks noGrp="1"/>
          </p:cNvSpPr>
          <p:nvPr>
            <p:ph type="body" idx="1"/>
          </p:nvPr>
        </p:nvSpPr>
        <p:spPr>
          <a:xfrm>
            <a:off x="294900" y="1890875"/>
            <a:ext cx="11602200" cy="5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Workflow Overview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0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 Results </a:t>
            </a:r>
            <a:endParaRPr/>
          </a:p>
        </p:txBody>
      </p:sp>
      <p:sp>
        <p:nvSpPr>
          <p:cNvPr id="639" name="Google Shape;639;p70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640" name="Google Shape;640;p70"/>
          <p:cNvSpPr txBox="1">
            <a:spLocks noGrp="1"/>
          </p:cNvSpPr>
          <p:nvPr>
            <p:ph type="subTitle" idx="2"/>
          </p:nvPr>
        </p:nvSpPr>
        <p:spPr>
          <a:xfrm>
            <a:off x="325800" y="620196"/>
            <a:ext cx="11540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accent1"/>
                </a:solidFill>
              </a:rPr>
              <a:t>Performance &amp; Insights</a:t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641" name="Google Shape;64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8" y="3663075"/>
            <a:ext cx="3571876" cy="1770249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70"/>
          <p:cNvSpPr txBox="1"/>
          <p:nvPr/>
        </p:nvSpPr>
        <p:spPr>
          <a:xfrm>
            <a:off x="983479" y="5809400"/>
            <a:ext cx="39414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00FF"/>
                </a:solidFill>
              </a:rPr>
              <a:t>Bias-Variance  Analysis using RMSE Proxies</a:t>
            </a:r>
            <a:endParaRPr sz="1200" b="1">
              <a:solidFill>
                <a:srgbClr val="0000FF"/>
              </a:solidFill>
            </a:endParaRPr>
          </a:p>
        </p:txBody>
      </p:sp>
      <p:sp>
        <p:nvSpPr>
          <p:cNvPr id="643" name="Google Shape;643;p70"/>
          <p:cNvSpPr txBox="1"/>
          <p:nvPr/>
        </p:nvSpPr>
        <p:spPr>
          <a:xfrm>
            <a:off x="253250" y="981575"/>
            <a:ext cx="64860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Char char="●"/>
            </a:pPr>
            <a:r>
              <a:rPr lang="en-GB" sz="1600" b="1">
                <a:solidFill>
                  <a:srgbClr val="3D85C6"/>
                </a:solidFill>
              </a:rPr>
              <a:t>Five different models been trained for comparison.</a:t>
            </a:r>
            <a:endParaRPr sz="1600" b="1">
              <a:solidFill>
                <a:srgbClr val="3D85C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D85C6"/>
              </a:solidFill>
            </a:endParaRPr>
          </a:p>
        </p:txBody>
      </p:sp>
      <p:pic>
        <p:nvPicPr>
          <p:cNvPr id="644" name="Google Shape;64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9550" y="3768512"/>
            <a:ext cx="3401800" cy="1559374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70"/>
          <p:cNvSpPr txBox="1"/>
          <p:nvPr/>
        </p:nvSpPr>
        <p:spPr>
          <a:xfrm>
            <a:off x="6823000" y="5806250"/>
            <a:ext cx="34017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00FF"/>
                </a:solidFill>
              </a:rPr>
              <a:t>Distribution of RMSE across 22 Inverters</a:t>
            </a:r>
            <a:endParaRPr sz="1200" b="1">
              <a:solidFill>
                <a:srgbClr val="0000FF"/>
              </a:solidFill>
            </a:endParaRPr>
          </a:p>
        </p:txBody>
      </p:sp>
      <p:pic>
        <p:nvPicPr>
          <p:cNvPr id="646" name="Google Shape;64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32571" y="4354890"/>
            <a:ext cx="2883748" cy="14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5350" y="4223980"/>
            <a:ext cx="2964726" cy="1467882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48" name="Google Shape;648;p70"/>
          <p:cNvSpPr/>
          <p:nvPr/>
        </p:nvSpPr>
        <p:spPr>
          <a:xfrm>
            <a:off x="4565100" y="5026400"/>
            <a:ext cx="593700" cy="724200"/>
          </a:xfrm>
          <a:prstGeom prst="ellipse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649" name="Google Shape;649;p70"/>
          <p:cNvSpPr/>
          <p:nvPr/>
        </p:nvSpPr>
        <p:spPr>
          <a:xfrm>
            <a:off x="10572175" y="5084200"/>
            <a:ext cx="452700" cy="62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cxnSp>
        <p:nvCxnSpPr>
          <p:cNvPr id="650" name="Google Shape;650;p70"/>
          <p:cNvCxnSpPr/>
          <p:nvPr/>
        </p:nvCxnSpPr>
        <p:spPr>
          <a:xfrm>
            <a:off x="327025" y="1985300"/>
            <a:ext cx="114351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graphicFrame>
        <p:nvGraphicFramePr>
          <p:cNvPr id="651" name="Google Shape;651;p70"/>
          <p:cNvGraphicFramePr/>
          <p:nvPr/>
        </p:nvGraphicFramePr>
        <p:xfrm>
          <a:off x="1026825" y="2208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{B2391DEF-1E9F-4344-B672-ACDE83FDC6BA}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</a:rPr>
                        <a:t>Deviation &amp; Variance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Random Forest shows the smallest value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Random Forest has the best accuracy and stability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2" name="Google Shape;652;p70"/>
          <p:cNvGraphicFramePr/>
          <p:nvPr/>
        </p:nvGraphicFramePr>
        <p:xfrm>
          <a:off x="6819550" y="2208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{B2391DEF-1E9F-4344-B672-ACDE83FDC6BA}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</a:rPr>
                        <a:t>RMSE in all inverters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H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Random Forest shows the  narrowest distribution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Random Forest model performs consistently well across different hardware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53" name="Google Shape;653;p70"/>
          <p:cNvCxnSpPr/>
          <p:nvPr/>
        </p:nvCxnSpPr>
        <p:spPr>
          <a:xfrm rot="10800000">
            <a:off x="6390100" y="2025550"/>
            <a:ext cx="0" cy="41235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1"/>
          <p:cNvSpPr/>
          <p:nvPr/>
        </p:nvSpPr>
        <p:spPr>
          <a:xfrm>
            <a:off x="5612600" y="1716800"/>
            <a:ext cx="5773800" cy="1521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71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Task 4</a:t>
            </a:r>
            <a:endParaRPr/>
          </a:p>
        </p:txBody>
      </p:sp>
      <p:sp>
        <p:nvSpPr>
          <p:cNvPr id="661" name="Google Shape;661;p71"/>
          <p:cNvSpPr txBox="1">
            <a:spLocks noGrp="1"/>
          </p:cNvSpPr>
          <p:nvPr>
            <p:ph type="body" idx="1"/>
          </p:nvPr>
        </p:nvSpPr>
        <p:spPr>
          <a:xfrm>
            <a:off x="265525" y="620200"/>
            <a:ext cx="11828100" cy="12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Objective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3D85C6"/>
                </a:solidFill>
              </a:rPr>
              <a:t>Detect suboptimal inverter operating conditions in solar plants using interpretable, data‑driven machine learning models.</a:t>
            </a:r>
            <a:endParaRPr sz="1600" b="1">
              <a:solidFill>
                <a:srgbClr val="3D85C6"/>
              </a:solidFill>
            </a:endParaRPr>
          </a:p>
        </p:txBody>
      </p:sp>
      <p:sp>
        <p:nvSpPr>
          <p:cNvPr id="662" name="Google Shape;662;p71"/>
          <p:cNvSpPr txBox="1">
            <a:spLocks noGrp="1"/>
          </p:cNvSpPr>
          <p:nvPr>
            <p:ph type="sldNum" idx="12"/>
          </p:nvPr>
        </p:nvSpPr>
        <p:spPr>
          <a:xfrm>
            <a:off x="4872855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cxnSp>
        <p:nvCxnSpPr>
          <p:cNvPr id="663" name="Google Shape;663;p71"/>
          <p:cNvCxnSpPr/>
          <p:nvPr/>
        </p:nvCxnSpPr>
        <p:spPr>
          <a:xfrm>
            <a:off x="327025" y="1462100"/>
            <a:ext cx="114351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64" name="Google Shape;664;p71"/>
          <p:cNvSpPr/>
          <p:nvPr/>
        </p:nvSpPr>
        <p:spPr>
          <a:xfrm>
            <a:off x="325800" y="2182299"/>
            <a:ext cx="4366200" cy="1142175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Data Loading &amp; Cleaning</a:t>
            </a:r>
            <a:endParaRPr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Import inverter + weather data (Plant 1 &amp; 2).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Fix timestamps, clean AC/DC power, yields, and irradiation.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Remove outliers via regression residual analysis.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65" name="Google Shape;665;p71"/>
          <p:cNvSpPr/>
          <p:nvPr/>
        </p:nvSpPr>
        <p:spPr>
          <a:xfrm>
            <a:off x="2754100" y="3737800"/>
            <a:ext cx="1891800" cy="2346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Time‑Based Splitting</a:t>
            </a:r>
            <a:endParaRPr sz="1100" b="1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Chronological train / 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validation / test split 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→ prevent leakage.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66" name="Google Shape;666;p71"/>
          <p:cNvSpPr/>
          <p:nvPr/>
        </p:nvSpPr>
        <p:spPr>
          <a:xfrm>
            <a:off x="325800" y="3737800"/>
            <a:ext cx="1893600" cy="2346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Feature Engineering</a:t>
            </a:r>
            <a:endParaRPr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Compute ratios: AC/IRRA, DC/IRRA.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Add temperature + yield features.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Label target: Optimal (0) / Suboptimal (1).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67" name="Google Shape;667;p71"/>
          <p:cNvSpPr/>
          <p:nvPr/>
        </p:nvSpPr>
        <p:spPr>
          <a:xfrm>
            <a:off x="7609800" y="3737800"/>
            <a:ext cx="1891800" cy="2346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Interpretability</a:t>
            </a:r>
            <a:endParaRPr sz="1100" b="1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ALE plots → feature impact direction.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Drop‑Column Importance → quantify feature contribution.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68" name="Google Shape;668;p71"/>
          <p:cNvSpPr/>
          <p:nvPr/>
        </p:nvSpPr>
        <p:spPr>
          <a:xfrm>
            <a:off x="5181500" y="3737750"/>
            <a:ext cx="1891800" cy="2346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Model Training</a:t>
            </a:r>
            <a:endParaRPr sz="1100" b="1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Models: Logistic Regression &amp; Linear SVC 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(with &amp; without scaling).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Balanced class weights; F1‑optimised thresholds for suboptimal detection.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69" name="Google Shape;669;p71"/>
          <p:cNvSpPr txBox="1">
            <a:spLocks noGrp="1"/>
          </p:cNvSpPr>
          <p:nvPr>
            <p:ph type="body" idx="1"/>
          </p:nvPr>
        </p:nvSpPr>
        <p:spPr>
          <a:xfrm>
            <a:off x="265525" y="1626675"/>
            <a:ext cx="11602200" cy="5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Workflow Overview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D85C6"/>
              </a:solidFill>
            </a:endParaRPr>
          </a:p>
        </p:txBody>
      </p:sp>
      <p:sp>
        <p:nvSpPr>
          <p:cNvPr id="670" name="Google Shape;670;p71"/>
          <p:cNvSpPr/>
          <p:nvPr/>
        </p:nvSpPr>
        <p:spPr>
          <a:xfrm>
            <a:off x="10138625" y="3737800"/>
            <a:ext cx="1891800" cy="2346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</a:rPr>
              <a:t>Experiments</a:t>
            </a:r>
            <a:endParaRPr sz="1100" b="1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With / without outlier removal.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Before / after feature selection.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Compare Plant 1 vs Plant 2.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71" name="Google Shape;671;p71"/>
          <p:cNvSpPr txBox="1">
            <a:spLocks noGrp="1"/>
          </p:cNvSpPr>
          <p:nvPr>
            <p:ph type="body" idx="1"/>
          </p:nvPr>
        </p:nvSpPr>
        <p:spPr>
          <a:xfrm>
            <a:off x="5830225" y="1933650"/>
            <a:ext cx="2439000" cy="5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1"/>
                </a:solidFill>
              </a:rPr>
              <a:t>Key Takeaway</a:t>
            </a:r>
            <a:endParaRPr sz="18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D85C6"/>
              </a:solidFill>
            </a:endParaRPr>
          </a:p>
        </p:txBody>
      </p:sp>
      <p:sp>
        <p:nvSpPr>
          <p:cNvPr id="672" name="Google Shape;672;p71"/>
          <p:cNvSpPr txBox="1"/>
          <p:nvPr/>
        </p:nvSpPr>
        <p:spPr>
          <a:xfrm>
            <a:off x="5841225" y="2315950"/>
            <a:ext cx="57069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Feature Scaling improves all models.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Feature Selection (Drop‑Column) enhances stability &amp; interpretability.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Outlier Removal did not improve performance — some were valid points.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73" name="Google Shape;673;p71"/>
          <p:cNvSpPr/>
          <p:nvPr/>
        </p:nvSpPr>
        <p:spPr>
          <a:xfrm rot="10800000" flipH="1">
            <a:off x="-725304" y="-35461003"/>
            <a:ext cx="725200" cy="995686"/>
          </a:xfrm>
          <a:custGeom>
            <a:avLst/>
            <a:gdLst/>
            <a:ahLst/>
            <a:cxnLst/>
            <a:rect l="l" t="t" r="r" b="b"/>
            <a:pathLst>
              <a:path w="817" h="921" extrusionOk="0">
                <a:moveTo>
                  <a:pt x="0" y="0"/>
                </a:moveTo>
                <a:lnTo>
                  <a:pt x="697" y="0"/>
                </a:lnTo>
                <a:lnTo>
                  <a:pt x="816" y="555"/>
                </a:lnTo>
                <a:lnTo>
                  <a:pt x="745" y="817"/>
                </a:lnTo>
                <a:lnTo>
                  <a:pt x="626" y="817"/>
                </a:lnTo>
                <a:lnTo>
                  <a:pt x="562" y="920"/>
                </a:lnTo>
                <a:lnTo>
                  <a:pt x="491" y="817"/>
                </a:lnTo>
                <a:lnTo>
                  <a:pt x="71" y="817"/>
                </a:lnTo>
                <a:lnTo>
                  <a:pt x="111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71"/>
          <p:cNvSpPr/>
          <p:nvPr/>
        </p:nvSpPr>
        <p:spPr>
          <a:xfrm rot="10800000" flipH="1">
            <a:off x="-3494310" y="-35665618"/>
            <a:ext cx="732301" cy="1200301"/>
          </a:xfrm>
          <a:custGeom>
            <a:avLst/>
            <a:gdLst/>
            <a:ahLst/>
            <a:cxnLst/>
            <a:rect l="l" t="t" r="r" b="b"/>
            <a:pathLst>
              <a:path w="825" h="1113" extrusionOk="0">
                <a:moveTo>
                  <a:pt x="0" y="0"/>
                </a:moveTo>
                <a:lnTo>
                  <a:pt x="697" y="0"/>
                </a:lnTo>
                <a:lnTo>
                  <a:pt x="824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71"/>
          <p:cNvSpPr/>
          <p:nvPr/>
        </p:nvSpPr>
        <p:spPr>
          <a:xfrm rot="10800000" flipH="1">
            <a:off x="-2799126" y="-35665618"/>
            <a:ext cx="725200" cy="1200301"/>
          </a:xfrm>
          <a:custGeom>
            <a:avLst/>
            <a:gdLst/>
            <a:ahLst/>
            <a:cxnLst/>
            <a:rect l="l" t="t" r="r" b="b"/>
            <a:pathLst>
              <a:path w="817" h="1113" extrusionOk="0">
                <a:moveTo>
                  <a:pt x="0" y="0"/>
                </a:moveTo>
                <a:lnTo>
                  <a:pt x="697" y="0"/>
                </a:lnTo>
                <a:lnTo>
                  <a:pt x="816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71"/>
          <p:cNvSpPr/>
          <p:nvPr/>
        </p:nvSpPr>
        <p:spPr>
          <a:xfrm rot="10800000" flipH="1">
            <a:off x="-2116737" y="-35665618"/>
            <a:ext cx="739402" cy="1200301"/>
          </a:xfrm>
          <a:custGeom>
            <a:avLst/>
            <a:gdLst/>
            <a:ahLst/>
            <a:cxnLst/>
            <a:rect l="l" t="t" r="r" b="b"/>
            <a:pathLst>
              <a:path w="833" h="1113" extrusionOk="0">
                <a:moveTo>
                  <a:pt x="0" y="0"/>
                </a:moveTo>
                <a:lnTo>
                  <a:pt x="713" y="0"/>
                </a:lnTo>
                <a:lnTo>
                  <a:pt x="832" y="556"/>
                </a:lnTo>
                <a:lnTo>
                  <a:pt x="713" y="1112"/>
                </a:lnTo>
                <a:lnTo>
                  <a:pt x="0" y="1112"/>
                </a:lnTo>
                <a:lnTo>
                  <a:pt x="127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71"/>
          <p:cNvSpPr/>
          <p:nvPr/>
        </p:nvSpPr>
        <p:spPr>
          <a:xfrm rot="10800000" flipH="1">
            <a:off x="-1422620" y="-35346401"/>
            <a:ext cx="734502" cy="881083"/>
          </a:xfrm>
          <a:custGeom>
            <a:avLst/>
            <a:gdLst/>
            <a:ahLst/>
            <a:cxnLst/>
            <a:rect l="l" t="t" r="r" b="b"/>
            <a:pathLst>
              <a:path w="825" h="817" extrusionOk="0">
                <a:moveTo>
                  <a:pt x="0" y="0"/>
                </a:moveTo>
                <a:lnTo>
                  <a:pt x="705" y="0"/>
                </a:lnTo>
                <a:lnTo>
                  <a:pt x="824" y="555"/>
                </a:lnTo>
                <a:lnTo>
                  <a:pt x="761" y="816"/>
                </a:lnTo>
                <a:lnTo>
                  <a:pt x="341" y="816"/>
                </a:lnTo>
                <a:lnTo>
                  <a:pt x="269" y="713"/>
                </a:lnTo>
                <a:lnTo>
                  <a:pt x="198" y="816"/>
                </a:lnTo>
                <a:lnTo>
                  <a:pt x="63" y="816"/>
                </a:lnTo>
                <a:lnTo>
                  <a:pt x="119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71"/>
          <p:cNvSpPr/>
          <p:nvPr/>
        </p:nvSpPr>
        <p:spPr>
          <a:xfrm>
            <a:off x="156149" y="153840"/>
            <a:ext cx="680" cy="937"/>
          </a:xfrm>
          <a:custGeom>
            <a:avLst/>
            <a:gdLst/>
            <a:ahLst/>
            <a:cxnLst/>
            <a:rect l="l" t="t" r="r" b="b"/>
            <a:pathLst>
              <a:path w="817" h="921" extrusionOk="0">
                <a:moveTo>
                  <a:pt x="0" y="0"/>
                </a:moveTo>
                <a:lnTo>
                  <a:pt x="697" y="0"/>
                </a:lnTo>
                <a:lnTo>
                  <a:pt x="816" y="555"/>
                </a:lnTo>
                <a:lnTo>
                  <a:pt x="745" y="817"/>
                </a:lnTo>
                <a:lnTo>
                  <a:pt x="626" y="817"/>
                </a:lnTo>
                <a:lnTo>
                  <a:pt x="562" y="920"/>
                </a:lnTo>
                <a:lnTo>
                  <a:pt x="491" y="817"/>
                </a:lnTo>
                <a:lnTo>
                  <a:pt x="71" y="817"/>
                </a:lnTo>
                <a:lnTo>
                  <a:pt x="111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71"/>
          <p:cNvSpPr/>
          <p:nvPr/>
        </p:nvSpPr>
        <p:spPr>
          <a:xfrm>
            <a:off x="153552" y="153840"/>
            <a:ext cx="687" cy="1130"/>
          </a:xfrm>
          <a:custGeom>
            <a:avLst/>
            <a:gdLst/>
            <a:ahLst/>
            <a:cxnLst/>
            <a:rect l="l" t="t" r="r" b="b"/>
            <a:pathLst>
              <a:path w="825" h="1113" extrusionOk="0">
                <a:moveTo>
                  <a:pt x="0" y="0"/>
                </a:moveTo>
                <a:lnTo>
                  <a:pt x="697" y="0"/>
                </a:lnTo>
                <a:lnTo>
                  <a:pt x="824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71"/>
          <p:cNvSpPr/>
          <p:nvPr/>
        </p:nvSpPr>
        <p:spPr>
          <a:xfrm>
            <a:off x="154204" y="153840"/>
            <a:ext cx="680" cy="1130"/>
          </a:xfrm>
          <a:custGeom>
            <a:avLst/>
            <a:gdLst/>
            <a:ahLst/>
            <a:cxnLst/>
            <a:rect l="l" t="t" r="r" b="b"/>
            <a:pathLst>
              <a:path w="817" h="1113" extrusionOk="0">
                <a:moveTo>
                  <a:pt x="0" y="0"/>
                </a:moveTo>
                <a:lnTo>
                  <a:pt x="697" y="0"/>
                </a:lnTo>
                <a:lnTo>
                  <a:pt x="816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71"/>
          <p:cNvSpPr/>
          <p:nvPr/>
        </p:nvSpPr>
        <p:spPr>
          <a:xfrm>
            <a:off x="154844" y="153840"/>
            <a:ext cx="693" cy="1130"/>
          </a:xfrm>
          <a:custGeom>
            <a:avLst/>
            <a:gdLst/>
            <a:ahLst/>
            <a:cxnLst/>
            <a:rect l="l" t="t" r="r" b="b"/>
            <a:pathLst>
              <a:path w="833" h="1113" extrusionOk="0">
                <a:moveTo>
                  <a:pt x="0" y="0"/>
                </a:moveTo>
                <a:lnTo>
                  <a:pt x="713" y="0"/>
                </a:lnTo>
                <a:lnTo>
                  <a:pt x="832" y="556"/>
                </a:lnTo>
                <a:lnTo>
                  <a:pt x="713" y="1112"/>
                </a:lnTo>
                <a:lnTo>
                  <a:pt x="0" y="1112"/>
                </a:lnTo>
                <a:lnTo>
                  <a:pt x="127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71"/>
          <p:cNvSpPr/>
          <p:nvPr/>
        </p:nvSpPr>
        <p:spPr>
          <a:xfrm>
            <a:off x="155495" y="153840"/>
            <a:ext cx="689" cy="829"/>
          </a:xfrm>
          <a:custGeom>
            <a:avLst/>
            <a:gdLst/>
            <a:ahLst/>
            <a:cxnLst/>
            <a:rect l="l" t="t" r="r" b="b"/>
            <a:pathLst>
              <a:path w="825" h="817" extrusionOk="0">
                <a:moveTo>
                  <a:pt x="0" y="0"/>
                </a:moveTo>
                <a:lnTo>
                  <a:pt x="705" y="0"/>
                </a:lnTo>
                <a:lnTo>
                  <a:pt x="824" y="555"/>
                </a:lnTo>
                <a:lnTo>
                  <a:pt x="761" y="816"/>
                </a:lnTo>
                <a:lnTo>
                  <a:pt x="341" y="816"/>
                </a:lnTo>
                <a:lnTo>
                  <a:pt x="269" y="713"/>
                </a:lnTo>
                <a:lnTo>
                  <a:pt x="198" y="816"/>
                </a:lnTo>
                <a:lnTo>
                  <a:pt x="63" y="816"/>
                </a:lnTo>
                <a:lnTo>
                  <a:pt x="119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71"/>
          <p:cNvGrpSpPr/>
          <p:nvPr/>
        </p:nvGrpSpPr>
        <p:grpSpPr>
          <a:xfrm>
            <a:off x="10654934" y="1820506"/>
            <a:ext cx="623691" cy="936685"/>
            <a:chOff x="7312025" y="1441450"/>
            <a:chExt cx="863599" cy="1296989"/>
          </a:xfrm>
        </p:grpSpPr>
        <p:sp>
          <p:nvSpPr>
            <p:cNvPr id="684" name="Google Shape;684;p71"/>
            <p:cNvSpPr/>
            <p:nvPr/>
          </p:nvSpPr>
          <p:spPr>
            <a:xfrm>
              <a:off x="7312025" y="1441450"/>
              <a:ext cx="863599" cy="1296989"/>
            </a:xfrm>
            <a:custGeom>
              <a:avLst/>
              <a:gdLst/>
              <a:ahLst/>
              <a:cxnLst/>
              <a:rect l="l" t="t" r="r" b="b"/>
              <a:pathLst>
                <a:path w="517" h="776" extrusionOk="0">
                  <a:moveTo>
                    <a:pt x="509" y="217"/>
                  </a:moveTo>
                  <a:cubicBezTo>
                    <a:pt x="505" y="192"/>
                    <a:pt x="498" y="167"/>
                    <a:pt x="486" y="145"/>
                  </a:cubicBezTo>
                  <a:cubicBezTo>
                    <a:pt x="438" y="52"/>
                    <a:pt x="360" y="5"/>
                    <a:pt x="256" y="0"/>
                  </a:cubicBezTo>
                  <a:cubicBezTo>
                    <a:pt x="238" y="0"/>
                    <a:pt x="221" y="2"/>
                    <a:pt x="203" y="6"/>
                  </a:cubicBezTo>
                  <a:cubicBezTo>
                    <a:pt x="91" y="30"/>
                    <a:pt x="12" y="124"/>
                    <a:pt x="2" y="229"/>
                  </a:cubicBezTo>
                  <a:cubicBezTo>
                    <a:pt x="0" y="248"/>
                    <a:pt x="0" y="266"/>
                    <a:pt x="2" y="285"/>
                  </a:cubicBezTo>
                  <a:cubicBezTo>
                    <a:pt x="6" y="324"/>
                    <a:pt x="20" y="361"/>
                    <a:pt x="41" y="394"/>
                  </a:cubicBezTo>
                  <a:cubicBezTo>
                    <a:pt x="59" y="422"/>
                    <a:pt x="81" y="446"/>
                    <a:pt x="109" y="466"/>
                  </a:cubicBezTo>
                  <a:cubicBezTo>
                    <a:pt x="110" y="467"/>
                    <a:pt x="112" y="469"/>
                    <a:pt x="112" y="471"/>
                  </a:cubicBezTo>
                  <a:cubicBezTo>
                    <a:pt x="116" y="493"/>
                    <a:pt x="118" y="516"/>
                    <a:pt x="122" y="538"/>
                  </a:cubicBezTo>
                  <a:cubicBezTo>
                    <a:pt x="123" y="546"/>
                    <a:pt x="125" y="554"/>
                    <a:pt x="127" y="563"/>
                  </a:cubicBezTo>
                  <a:cubicBezTo>
                    <a:pt x="127" y="564"/>
                    <a:pt x="127" y="567"/>
                    <a:pt x="126" y="568"/>
                  </a:cubicBezTo>
                  <a:cubicBezTo>
                    <a:pt x="122" y="580"/>
                    <a:pt x="122" y="591"/>
                    <a:pt x="125" y="603"/>
                  </a:cubicBezTo>
                  <a:cubicBezTo>
                    <a:pt x="126" y="604"/>
                    <a:pt x="126" y="606"/>
                    <a:pt x="125" y="608"/>
                  </a:cubicBezTo>
                  <a:cubicBezTo>
                    <a:pt x="122" y="619"/>
                    <a:pt x="122" y="629"/>
                    <a:pt x="125" y="640"/>
                  </a:cubicBezTo>
                  <a:cubicBezTo>
                    <a:pt x="126" y="641"/>
                    <a:pt x="126" y="643"/>
                    <a:pt x="125" y="645"/>
                  </a:cubicBezTo>
                  <a:cubicBezTo>
                    <a:pt x="116" y="673"/>
                    <a:pt x="132" y="702"/>
                    <a:pt x="162" y="710"/>
                  </a:cubicBezTo>
                  <a:cubicBezTo>
                    <a:pt x="164" y="710"/>
                    <a:pt x="165" y="711"/>
                    <a:pt x="165" y="714"/>
                  </a:cubicBezTo>
                  <a:cubicBezTo>
                    <a:pt x="167" y="725"/>
                    <a:pt x="173" y="735"/>
                    <a:pt x="182" y="743"/>
                  </a:cubicBezTo>
                  <a:cubicBezTo>
                    <a:pt x="224" y="776"/>
                    <a:pt x="289" y="776"/>
                    <a:pt x="330" y="743"/>
                  </a:cubicBezTo>
                  <a:cubicBezTo>
                    <a:pt x="340" y="735"/>
                    <a:pt x="346" y="725"/>
                    <a:pt x="347" y="713"/>
                  </a:cubicBezTo>
                  <a:cubicBezTo>
                    <a:pt x="348" y="711"/>
                    <a:pt x="348" y="710"/>
                    <a:pt x="351" y="710"/>
                  </a:cubicBezTo>
                  <a:cubicBezTo>
                    <a:pt x="380" y="702"/>
                    <a:pt x="396" y="674"/>
                    <a:pt x="387" y="645"/>
                  </a:cubicBezTo>
                  <a:cubicBezTo>
                    <a:pt x="387" y="643"/>
                    <a:pt x="387" y="641"/>
                    <a:pt x="387" y="639"/>
                  </a:cubicBezTo>
                  <a:cubicBezTo>
                    <a:pt x="390" y="629"/>
                    <a:pt x="390" y="619"/>
                    <a:pt x="387" y="608"/>
                  </a:cubicBezTo>
                  <a:cubicBezTo>
                    <a:pt x="387" y="606"/>
                    <a:pt x="387" y="604"/>
                    <a:pt x="387" y="603"/>
                  </a:cubicBezTo>
                  <a:cubicBezTo>
                    <a:pt x="389" y="596"/>
                    <a:pt x="390" y="588"/>
                    <a:pt x="389" y="581"/>
                  </a:cubicBezTo>
                  <a:cubicBezTo>
                    <a:pt x="388" y="576"/>
                    <a:pt x="385" y="571"/>
                    <a:pt x="385" y="565"/>
                  </a:cubicBezTo>
                  <a:cubicBezTo>
                    <a:pt x="385" y="560"/>
                    <a:pt x="388" y="555"/>
                    <a:pt x="389" y="550"/>
                  </a:cubicBezTo>
                  <a:cubicBezTo>
                    <a:pt x="393" y="524"/>
                    <a:pt x="396" y="498"/>
                    <a:pt x="400" y="472"/>
                  </a:cubicBezTo>
                  <a:cubicBezTo>
                    <a:pt x="400" y="469"/>
                    <a:pt x="402" y="467"/>
                    <a:pt x="404" y="465"/>
                  </a:cubicBezTo>
                  <a:cubicBezTo>
                    <a:pt x="439" y="440"/>
                    <a:pt x="467" y="408"/>
                    <a:pt x="486" y="369"/>
                  </a:cubicBezTo>
                  <a:cubicBezTo>
                    <a:pt x="509" y="321"/>
                    <a:pt x="517" y="270"/>
                    <a:pt x="509" y="217"/>
                  </a:cubicBezTo>
                  <a:close/>
                  <a:moveTo>
                    <a:pt x="170" y="611"/>
                  </a:moveTo>
                  <a:cubicBezTo>
                    <a:pt x="184" y="607"/>
                    <a:pt x="198" y="604"/>
                    <a:pt x="212" y="601"/>
                  </a:cubicBezTo>
                  <a:cubicBezTo>
                    <a:pt x="253" y="592"/>
                    <a:pt x="294" y="583"/>
                    <a:pt x="334" y="574"/>
                  </a:cubicBezTo>
                  <a:cubicBezTo>
                    <a:pt x="341" y="573"/>
                    <a:pt x="346" y="573"/>
                    <a:pt x="350" y="579"/>
                  </a:cubicBezTo>
                  <a:cubicBezTo>
                    <a:pt x="353" y="584"/>
                    <a:pt x="354" y="589"/>
                    <a:pt x="351" y="594"/>
                  </a:cubicBezTo>
                  <a:cubicBezTo>
                    <a:pt x="349" y="598"/>
                    <a:pt x="345" y="600"/>
                    <a:pt x="341" y="601"/>
                  </a:cubicBezTo>
                  <a:cubicBezTo>
                    <a:pt x="288" y="612"/>
                    <a:pt x="236" y="624"/>
                    <a:pt x="183" y="636"/>
                  </a:cubicBezTo>
                  <a:cubicBezTo>
                    <a:pt x="180" y="636"/>
                    <a:pt x="177" y="637"/>
                    <a:pt x="175" y="637"/>
                  </a:cubicBezTo>
                  <a:cubicBezTo>
                    <a:pt x="166" y="637"/>
                    <a:pt x="161" y="633"/>
                    <a:pt x="160" y="625"/>
                  </a:cubicBezTo>
                  <a:cubicBezTo>
                    <a:pt x="159" y="619"/>
                    <a:pt x="163" y="612"/>
                    <a:pt x="170" y="611"/>
                  </a:cubicBezTo>
                  <a:close/>
                  <a:moveTo>
                    <a:pt x="171" y="573"/>
                  </a:moveTo>
                  <a:cubicBezTo>
                    <a:pt x="172" y="573"/>
                    <a:pt x="173" y="573"/>
                    <a:pt x="174" y="573"/>
                  </a:cubicBezTo>
                  <a:cubicBezTo>
                    <a:pt x="213" y="573"/>
                    <a:pt x="251" y="573"/>
                    <a:pt x="289" y="573"/>
                  </a:cubicBezTo>
                  <a:cubicBezTo>
                    <a:pt x="290" y="573"/>
                    <a:pt x="290" y="573"/>
                    <a:pt x="291" y="573"/>
                  </a:cubicBezTo>
                  <a:cubicBezTo>
                    <a:pt x="291" y="574"/>
                    <a:pt x="291" y="574"/>
                    <a:pt x="291" y="574"/>
                  </a:cubicBezTo>
                  <a:cubicBezTo>
                    <a:pt x="265" y="580"/>
                    <a:pt x="239" y="586"/>
                    <a:pt x="214" y="591"/>
                  </a:cubicBezTo>
                  <a:cubicBezTo>
                    <a:pt x="201" y="594"/>
                    <a:pt x="188" y="597"/>
                    <a:pt x="176" y="600"/>
                  </a:cubicBezTo>
                  <a:cubicBezTo>
                    <a:pt x="168" y="602"/>
                    <a:pt x="161" y="596"/>
                    <a:pt x="160" y="589"/>
                  </a:cubicBezTo>
                  <a:cubicBezTo>
                    <a:pt x="159" y="582"/>
                    <a:pt x="164" y="574"/>
                    <a:pt x="171" y="573"/>
                  </a:cubicBezTo>
                  <a:close/>
                  <a:moveTo>
                    <a:pt x="177" y="674"/>
                  </a:moveTo>
                  <a:cubicBezTo>
                    <a:pt x="176" y="674"/>
                    <a:pt x="175" y="674"/>
                    <a:pt x="174" y="674"/>
                  </a:cubicBezTo>
                  <a:cubicBezTo>
                    <a:pt x="166" y="674"/>
                    <a:pt x="160" y="669"/>
                    <a:pt x="160" y="662"/>
                  </a:cubicBezTo>
                  <a:cubicBezTo>
                    <a:pt x="159" y="655"/>
                    <a:pt x="164" y="649"/>
                    <a:pt x="171" y="647"/>
                  </a:cubicBezTo>
                  <a:cubicBezTo>
                    <a:pt x="181" y="645"/>
                    <a:pt x="192" y="642"/>
                    <a:pt x="202" y="640"/>
                  </a:cubicBezTo>
                  <a:cubicBezTo>
                    <a:pt x="247" y="630"/>
                    <a:pt x="291" y="620"/>
                    <a:pt x="336" y="610"/>
                  </a:cubicBezTo>
                  <a:cubicBezTo>
                    <a:pt x="344" y="609"/>
                    <a:pt x="351" y="613"/>
                    <a:pt x="352" y="621"/>
                  </a:cubicBezTo>
                  <a:cubicBezTo>
                    <a:pt x="354" y="628"/>
                    <a:pt x="350" y="635"/>
                    <a:pt x="342" y="637"/>
                  </a:cubicBezTo>
                  <a:cubicBezTo>
                    <a:pt x="329" y="640"/>
                    <a:pt x="316" y="643"/>
                    <a:pt x="303" y="646"/>
                  </a:cubicBezTo>
                  <a:cubicBezTo>
                    <a:pt x="261" y="655"/>
                    <a:pt x="219" y="664"/>
                    <a:pt x="177" y="674"/>
                  </a:cubicBezTo>
                  <a:close/>
                  <a:moveTo>
                    <a:pt x="307" y="714"/>
                  </a:moveTo>
                  <a:cubicBezTo>
                    <a:pt x="292" y="725"/>
                    <a:pt x="275" y="731"/>
                    <a:pt x="256" y="731"/>
                  </a:cubicBezTo>
                  <a:cubicBezTo>
                    <a:pt x="237" y="731"/>
                    <a:pt x="220" y="725"/>
                    <a:pt x="205" y="714"/>
                  </a:cubicBezTo>
                  <a:cubicBezTo>
                    <a:pt x="201" y="711"/>
                    <a:pt x="200" y="705"/>
                    <a:pt x="203" y="701"/>
                  </a:cubicBezTo>
                  <a:cubicBezTo>
                    <a:pt x="205" y="697"/>
                    <a:pt x="211" y="696"/>
                    <a:pt x="215" y="699"/>
                  </a:cubicBezTo>
                  <a:cubicBezTo>
                    <a:pt x="222" y="702"/>
                    <a:pt x="229" y="707"/>
                    <a:pt x="237" y="709"/>
                  </a:cubicBezTo>
                  <a:cubicBezTo>
                    <a:pt x="255" y="715"/>
                    <a:pt x="272" y="713"/>
                    <a:pt x="288" y="704"/>
                  </a:cubicBezTo>
                  <a:cubicBezTo>
                    <a:pt x="291" y="703"/>
                    <a:pt x="294" y="701"/>
                    <a:pt x="297" y="699"/>
                  </a:cubicBezTo>
                  <a:cubicBezTo>
                    <a:pt x="302" y="696"/>
                    <a:pt x="307" y="697"/>
                    <a:pt x="310" y="702"/>
                  </a:cubicBezTo>
                  <a:cubicBezTo>
                    <a:pt x="313" y="706"/>
                    <a:pt x="311" y="712"/>
                    <a:pt x="307" y="714"/>
                  </a:cubicBezTo>
                  <a:close/>
                  <a:moveTo>
                    <a:pt x="350" y="669"/>
                  </a:moveTo>
                  <a:cubicBezTo>
                    <a:pt x="347" y="671"/>
                    <a:pt x="343" y="674"/>
                    <a:pt x="340" y="674"/>
                  </a:cubicBezTo>
                  <a:cubicBezTo>
                    <a:pt x="300" y="674"/>
                    <a:pt x="260" y="674"/>
                    <a:pt x="221" y="674"/>
                  </a:cubicBezTo>
                  <a:cubicBezTo>
                    <a:pt x="221" y="674"/>
                    <a:pt x="221" y="674"/>
                    <a:pt x="221" y="674"/>
                  </a:cubicBezTo>
                  <a:cubicBezTo>
                    <a:pt x="230" y="672"/>
                    <a:pt x="239" y="670"/>
                    <a:pt x="248" y="668"/>
                  </a:cubicBezTo>
                  <a:cubicBezTo>
                    <a:pt x="278" y="661"/>
                    <a:pt x="307" y="654"/>
                    <a:pt x="337" y="648"/>
                  </a:cubicBezTo>
                  <a:cubicBezTo>
                    <a:pt x="343" y="646"/>
                    <a:pt x="348" y="648"/>
                    <a:pt x="351" y="653"/>
                  </a:cubicBezTo>
                  <a:cubicBezTo>
                    <a:pt x="354" y="658"/>
                    <a:pt x="354" y="665"/>
                    <a:pt x="350" y="669"/>
                  </a:cubicBezTo>
                  <a:close/>
                  <a:moveTo>
                    <a:pt x="461" y="273"/>
                  </a:moveTo>
                  <a:cubicBezTo>
                    <a:pt x="454" y="344"/>
                    <a:pt x="419" y="398"/>
                    <a:pt x="358" y="435"/>
                  </a:cubicBezTo>
                  <a:cubicBezTo>
                    <a:pt x="355" y="437"/>
                    <a:pt x="354" y="439"/>
                    <a:pt x="353" y="442"/>
                  </a:cubicBezTo>
                  <a:cubicBezTo>
                    <a:pt x="349" y="472"/>
                    <a:pt x="345" y="503"/>
                    <a:pt x="340" y="533"/>
                  </a:cubicBezTo>
                  <a:cubicBezTo>
                    <a:pt x="340" y="537"/>
                    <a:pt x="339" y="540"/>
                    <a:pt x="339" y="544"/>
                  </a:cubicBezTo>
                  <a:cubicBezTo>
                    <a:pt x="326" y="544"/>
                    <a:pt x="313" y="544"/>
                    <a:pt x="300" y="544"/>
                  </a:cubicBezTo>
                  <a:cubicBezTo>
                    <a:pt x="300" y="544"/>
                    <a:pt x="300" y="543"/>
                    <a:pt x="300" y="543"/>
                  </a:cubicBezTo>
                  <a:cubicBezTo>
                    <a:pt x="277" y="543"/>
                    <a:pt x="277" y="543"/>
                    <a:pt x="277" y="543"/>
                  </a:cubicBezTo>
                  <a:cubicBezTo>
                    <a:pt x="277" y="543"/>
                    <a:pt x="277" y="543"/>
                    <a:pt x="277" y="543"/>
                  </a:cubicBezTo>
                  <a:cubicBezTo>
                    <a:pt x="263" y="543"/>
                    <a:pt x="250" y="543"/>
                    <a:pt x="235" y="543"/>
                  </a:cubicBezTo>
                  <a:cubicBezTo>
                    <a:pt x="235" y="543"/>
                    <a:pt x="235" y="543"/>
                    <a:pt x="235" y="543"/>
                  </a:cubicBezTo>
                  <a:cubicBezTo>
                    <a:pt x="213" y="543"/>
                    <a:pt x="213" y="543"/>
                    <a:pt x="213" y="543"/>
                  </a:cubicBezTo>
                  <a:cubicBezTo>
                    <a:pt x="206" y="543"/>
                    <a:pt x="200" y="543"/>
                    <a:pt x="194" y="543"/>
                  </a:cubicBezTo>
                  <a:cubicBezTo>
                    <a:pt x="187" y="543"/>
                    <a:pt x="180" y="543"/>
                    <a:pt x="173" y="543"/>
                  </a:cubicBezTo>
                  <a:cubicBezTo>
                    <a:pt x="172" y="531"/>
                    <a:pt x="170" y="519"/>
                    <a:pt x="168" y="507"/>
                  </a:cubicBezTo>
                  <a:cubicBezTo>
                    <a:pt x="165" y="485"/>
                    <a:pt x="162" y="463"/>
                    <a:pt x="159" y="440"/>
                  </a:cubicBezTo>
                  <a:cubicBezTo>
                    <a:pt x="159" y="438"/>
                    <a:pt x="158" y="437"/>
                    <a:pt x="156" y="435"/>
                  </a:cubicBezTo>
                  <a:cubicBezTo>
                    <a:pt x="102" y="404"/>
                    <a:pt x="67" y="358"/>
                    <a:pt x="55" y="297"/>
                  </a:cubicBezTo>
                  <a:cubicBezTo>
                    <a:pt x="42" y="230"/>
                    <a:pt x="59" y="170"/>
                    <a:pt x="104" y="119"/>
                  </a:cubicBezTo>
                  <a:cubicBezTo>
                    <a:pt x="126" y="94"/>
                    <a:pt x="153" y="76"/>
                    <a:pt x="184" y="64"/>
                  </a:cubicBezTo>
                  <a:cubicBezTo>
                    <a:pt x="203" y="57"/>
                    <a:pt x="223" y="53"/>
                    <a:pt x="243" y="51"/>
                  </a:cubicBezTo>
                  <a:cubicBezTo>
                    <a:pt x="266" y="50"/>
                    <a:pt x="289" y="52"/>
                    <a:pt x="311" y="58"/>
                  </a:cubicBezTo>
                  <a:cubicBezTo>
                    <a:pt x="369" y="75"/>
                    <a:pt x="413" y="111"/>
                    <a:pt x="440" y="165"/>
                  </a:cubicBezTo>
                  <a:cubicBezTo>
                    <a:pt x="457" y="199"/>
                    <a:pt x="465" y="235"/>
                    <a:pt x="461" y="273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1"/>
            <p:cNvSpPr/>
            <p:nvPr/>
          </p:nvSpPr>
          <p:spPr>
            <a:xfrm>
              <a:off x="7570788" y="1887538"/>
              <a:ext cx="338138" cy="461963"/>
            </a:xfrm>
            <a:custGeom>
              <a:avLst/>
              <a:gdLst/>
              <a:ahLst/>
              <a:cxnLst/>
              <a:rect l="l" t="t" r="r" b="b"/>
              <a:pathLst>
                <a:path w="202" h="276" extrusionOk="0">
                  <a:moveTo>
                    <a:pt x="150" y="156"/>
                  </a:moveTo>
                  <a:cubicBezTo>
                    <a:pt x="150" y="152"/>
                    <a:pt x="151" y="147"/>
                    <a:pt x="153" y="142"/>
                  </a:cubicBezTo>
                  <a:cubicBezTo>
                    <a:pt x="168" y="100"/>
                    <a:pt x="184" y="59"/>
                    <a:pt x="199" y="17"/>
                  </a:cubicBezTo>
                  <a:cubicBezTo>
                    <a:pt x="202" y="11"/>
                    <a:pt x="199" y="4"/>
                    <a:pt x="193" y="2"/>
                  </a:cubicBezTo>
                  <a:cubicBezTo>
                    <a:pt x="187" y="0"/>
                    <a:pt x="180" y="2"/>
                    <a:pt x="178" y="9"/>
                  </a:cubicBezTo>
                  <a:cubicBezTo>
                    <a:pt x="175" y="16"/>
                    <a:pt x="172" y="24"/>
                    <a:pt x="169" y="31"/>
                  </a:cubicBezTo>
                  <a:cubicBezTo>
                    <a:pt x="166" y="31"/>
                    <a:pt x="164" y="29"/>
                    <a:pt x="163" y="25"/>
                  </a:cubicBezTo>
                  <a:cubicBezTo>
                    <a:pt x="163" y="20"/>
                    <a:pt x="160" y="18"/>
                    <a:pt x="156" y="18"/>
                  </a:cubicBezTo>
                  <a:cubicBezTo>
                    <a:pt x="153" y="18"/>
                    <a:pt x="150" y="20"/>
                    <a:pt x="150" y="25"/>
                  </a:cubicBezTo>
                  <a:cubicBezTo>
                    <a:pt x="149" y="29"/>
                    <a:pt x="146" y="31"/>
                    <a:pt x="143" y="32"/>
                  </a:cubicBezTo>
                  <a:cubicBezTo>
                    <a:pt x="139" y="32"/>
                    <a:pt x="137" y="29"/>
                    <a:pt x="136" y="25"/>
                  </a:cubicBezTo>
                  <a:cubicBezTo>
                    <a:pt x="135" y="20"/>
                    <a:pt x="132" y="18"/>
                    <a:pt x="129" y="18"/>
                  </a:cubicBezTo>
                  <a:cubicBezTo>
                    <a:pt x="125" y="18"/>
                    <a:pt x="123" y="20"/>
                    <a:pt x="122" y="24"/>
                  </a:cubicBezTo>
                  <a:cubicBezTo>
                    <a:pt x="121" y="29"/>
                    <a:pt x="119" y="31"/>
                    <a:pt x="115" y="32"/>
                  </a:cubicBezTo>
                  <a:cubicBezTo>
                    <a:pt x="111" y="32"/>
                    <a:pt x="109" y="29"/>
                    <a:pt x="108" y="25"/>
                  </a:cubicBezTo>
                  <a:cubicBezTo>
                    <a:pt x="107" y="20"/>
                    <a:pt x="105" y="18"/>
                    <a:pt x="101" y="18"/>
                  </a:cubicBezTo>
                  <a:cubicBezTo>
                    <a:pt x="98" y="18"/>
                    <a:pt x="95" y="20"/>
                    <a:pt x="94" y="25"/>
                  </a:cubicBezTo>
                  <a:cubicBezTo>
                    <a:pt x="93" y="29"/>
                    <a:pt x="91" y="32"/>
                    <a:pt x="87" y="32"/>
                  </a:cubicBezTo>
                  <a:cubicBezTo>
                    <a:pt x="84" y="31"/>
                    <a:pt x="81" y="29"/>
                    <a:pt x="80" y="25"/>
                  </a:cubicBezTo>
                  <a:cubicBezTo>
                    <a:pt x="80" y="20"/>
                    <a:pt x="77" y="18"/>
                    <a:pt x="74" y="18"/>
                  </a:cubicBezTo>
                  <a:cubicBezTo>
                    <a:pt x="70" y="18"/>
                    <a:pt x="67" y="20"/>
                    <a:pt x="67" y="25"/>
                  </a:cubicBezTo>
                  <a:cubicBezTo>
                    <a:pt x="66" y="29"/>
                    <a:pt x="64" y="31"/>
                    <a:pt x="60" y="32"/>
                  </a:cubicBezTo>
                  <a:cubicBezTo>
                    <a:pt x="56" y="32"/>
                    <a:pt x="54" y="29"/>
                    <a:pt x="53" y="25"/>
                  </a:cubicBezTo>
                  <a:cubicBezTo>
                    <a:pt x="52" y="20"/>
                    <a:pt x="50" y="18"/>
                    <a:pt x="46" y="18"/>
                  </a:cubicBezTo>
                  <a:cubicBezTo>
                    <a:pt x="42" y="18"/>
                    <a:pt x="40" y="20"/>
                    <a:pt x="39" y="25"/>
                  </a:cubicBezTo>
                  <a:cubicBezTo>
                    <a:pt x="39" y="28"/>
                    <a:pt x="37" y="30"/>
                    <a:pt x="33" y="31"/>
                  </a:cubicBezTo>
                  <a:cubicBezTo>
                    <a:pt x="31" y="24"/>
                    <a:pt x="28" y="17"/>
                    <a:pt x="25" y="10"/>
                  </a:cubicBezTo>
                  <a:cubicBezTo>
                    <a:pt x="24" y="6"/>
                    <a:pt x="21" y="2"/>
                    <a:pt x="16" y="1"/>
                  </a:cubicBezTo>
                  <a:cubicBezTo>
                    <a:pt x="7" y="0"/>
                    <a:pt x="0" y="8"/>
                    <a:pt x="3" y="17"/>
                  </a:cubicBezTo>
                  <a:cubicBezTo>
                    <a:pt x="15" y="47"/>
                    <a:pt x="26" y="78"/>
                    <a:pt x="38" y="109"/>
                  </a:cubicBezTo>
                  <a:cubicBezTo>
                    <a:pt x="43" y="122"/>
                    <a:pt x="48" y="134"/>
                    <a:pt x="52" y="147"/>
                  </a:cubicBezTo>
                  <a:cubicBezTo>
                    <a:pt x="54" y="153"/>
                    <a:pt x="53" y="160"/>
                    <a:pt x="53" y="166"/>
                  </a:cubicBezTo>
                  <a:cubicBezTo>
                    <a:pt x="54" y="201"/>
                    <a:pt x="56" y="235"/>
                    <a:pt x="57" y="270"/>
                  </a:cubicBezTo>
                  <a:cubicBezTo>
                    <a:pt x="57" y="272"/>
                    <a:pt x="57" y="274"/>
                    <a:pt x="58" y="276"/>
                  </a:cubicBezTo>
                  <a:cubicBezTo>
                    <a:pt x="80" y="276"/>
                    <a:pt x="80" y="276"/>
                    <a:pt x="80" y="276"/>
                  </a:cubicBezTo>
                  <a:cubicBezTo>
                    <a:pt x="80" y="263"/>
                    <a:pt x="79" y="250"/>
                    <a:pt x="79" y="237"/>
                  </a:cubicBezTo>
                  <a:cubicBezTo>
                    <a:pt x="78" y="207"/>
                    <a:pt x="77" y="177"/>
                    <a:pt x="75" y="147"/>
                  </a:cubicBezTo>
                  <a:cubicBezTo>
                    <a:pt x="75" y="140"/>
                    <a:pt x="71" y="133"/>
                    <a:pt x="69" y="127"/>
                  </a:cubicBezTo>
                  <a:cubicBezTo>
                    <a:pt x="61" y="105"/>
                    <a:pt x="53" y="84"/>
                    <a:pt x="45" y="62"/>
                  </a:cubicBezTo>
                  <a:cubicBezTo>
                    <a:pt x="43" y="57"/>
                    <a:pt x="40" y="51"/>
                    <a:pt x="38" y="45"/>
                  </a:cubicBezTo>
                  <a:cubicBezTo>
                    <a:pt x="41" y="43"/>
                    <a:pt x="43" y="42"/>
                    <a:pt x="46" y="40"/>
                  </a:cubicBezTo>
                  <a:cubicBezTo>
                    <a:pt x="55" y="47"/>
                    <a:pt x="64" y="47"/>
                    <a:pt x="74" y="40"/>
                  </a:cubicBezTo>
                  <a:cubicBezTo>
                    <a:pt x="84" y="47"/>
                    <a:pt x="90" y="47"/>
                    <a:pt x="101" y="40"/>
                  </a:cubicBezTo>
                  <a:cubicBezTo>
                    <a:pt x="110" y="47"/>
                    <a:pt x="120" y="47"/>
                    <a:pt x="129" y="40"/>
                  </a:cubicBezTo>
                  <a:cubicBezTo>
                    <a:pt x="138" y="47"/>
                    <a:pt x="147" y="47"/>
                    <a:pt x="156" y="40"/>
                  </a:cubicBezTo>
                  <a:cubicBezTo>
                    <a:pt x="159" y="42"/>
                    <a:pt x="161" y="43"/>
                    <a:pt x="164" y="45"/>
                  </a:cubicBezTo>
                  <a:cubicBezTo>
                    <a:pt x="161" y="52"/>
                    <a:pt x="159" y="60"/>
                    <a:pt x="156" y="68"/>
                  </a:cubicBezTo>
                  <a:cubicBezTo>
                    <a:pt x="147" y="92"/>
                    <a:pt x="137" y="115"/>
                    <a:pt x="129" y="140"/>
                  </a:cubicBezTo>
                  <a:cubicBezTo>
                    <a:pt x="127" y="147"/>
                    <a:pt x="127" y="155"/>
                    <a:pt x="126" y="163"/>
                  </a:cubicBezTo>
                  <a:cubicBezTo>
                    <a:pt x="125" y="200"/>
                    <a:pt x="124" y="237"/>
                    <a:pt x="122" y="274"/>
                  </a:cubicBezTo>
                  <a:cubicBezTo>
                    <a:pt x="122" y="275"/>
                    <a:pt x="122" y="276"/>
                    <a:pt x="122" y="276"/>
                  </a:cubicBezTo>
                  <a:cubicBezTo>
                    <a:pt x="145" y="276"/>
                    <a:pt x="145" y="276"/>
                    <a:pt x="145" y="276"/>
                  </a:cubicBezTo>
                  <a:cubicBezTo>
                    <a:pt x="146" y="262"/>
                    <a:pt x="146" y="248"/>
                    <a:pt x="147" y="234"/>
                  </a:cubicBezTo>
                  <a:cubicBezTo>
                    <a:pt x="148" y="208"/>
                    <a:pt x="149" y="182"/>
                    <a:pt x="150" y="156"/>
                  </a:cubicBez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6" name="Google Shape;686;p71"/>
          <p:cNvCxnSpPr>
            <a:stCxn id="666" idx="0"/>
          </p:cNvCxnSpPr>
          <p:nvPr/>
        </p:nvCxnSpPr>
        <p:spPr>
          <a:xfrm rot="10800000">
            <a:off x="1272600" y="3240100"/>
            <a:ext cx="0" cy="497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stealth" w="med" len="med"/>
            <a:tailEnd type="oval" w="med" len="med"/>
          </a:ln>
        </p:spPr>
      </p:cxnSp>
      <p:cxnSp>
        <p:nvCxnSpPr>
          <p:cNvPr id="687" name="Google Shape;687;p71"/>
          <p:cNvCxnSpPr>
            <a:stCxn id="665" idx="1"/>
            <a:endCxn id="666" idx="3"/>
          </p:cNvCxnSpPr>
          <p:nvPr/>
        </p:nvCxnSpPr>
        <p:spPr>
          <a:xfrm rot="10800000">
            <a:off x="2219500" y="4910950"/>
            <a:ext cx="534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stealth" w="med" len="med"/>
            <a:tailEnd type="oval" w="med" len="med"/>
          </a:ln>
        </p:spPr>
      </p:cxnSp>
      <p:cxnSp>
        <p:nvCxnSpPr>
          <p:cNvPr id="688" name="Google Shape;688;p71"/>
          <p:cNvCxnSpPr/>
          <p:nvPr/>
        </p:nvCxnSpPr>
        <p:spPr>
          <a:xfrm rot="10800000">
            <a:off x="4647300" y="4910900"/>
            <a:ext cx="534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stealth" w="med" len="med"/>
            <a:tailEnd type="oval" w="med" len="med"/>
          </a:ln>
        </p:spPr>
      </p:cxnSp>
      <p:cxnSp>
        <p:nvCxnSpPr>
          <p:cNvPr id="689" name="Google Shape;689;p71"/>
          <p:cNvCxnSpPr/>
          <p:nvPr/>
        </p:nvCxnSpPr>
        <p:spPr>
          <a:xfrm rot="10800000">
            <a:off x="7073300" y="4910900"/>
            <a:ext cx="534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stealth" w="med" len="med"/>
            <a:tailEnd type="oval" w="med" len="med"/>
          </a:ln>
        </p:spPr>
      </p:cxnSp>
      <p:cxnSp>
        <p:nvCxnSpPr>
          <p:cNvPr id="690" name="Google Shape;690;p71"/>
          <p:cNvCxnSpPr>
            <a:stCxn id="670" idx="1"/>
            <a:endCxn id="667" idx="3"/>
          </p:cNvCxnSpPr>
          <p:nvPr/>
        </p:nvCxnSpPr>
        <p:spPr>
          <a:xfrm rot="10800000">
            <a:off x="9501725" y="4910950"/>
            <a:ext cx="6369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stealth" w="med" len="med"/>
            <a:tailEnd type="oval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2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 Results</a:t>
            </a:r>
            <a:endParaRPr/>
          </a:p>
        </p:txBody>
      </p:sp>
      <p:sp>
        <p:nvSpPr>
          <p:cNvPr id="697" name="Google Shape;697;p72"/>
          <p:cNvSpPr txBox="1">
            <a:spLocks noGrp="1"/>
          </p:cNvSpPr>
          <p:nvPr>
            <p:ph type="body" idx="1"/>
          </p:nvPr>
        </p:nvSpPr>
        <p:spPr>
          <a:xfrm>
            <a:off x="327025" y="620200"/>
            <a:ext cx="11540700" cy="975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Experiments : Plant 1 </a:t>
            </a:r>
            <a:endParaRPr sz="3000" b="1">
              <a:solidFill>
                <a:schemeClr val="accen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Char char="●"/>
            </a:pPr>
            <a:r>
              <a:rPr lang="en-GB" sz="1600" b="1">
                <a:solidFill>
                  <a:srgbClr val="3D85C6"/>
                </a:solidFill>
              </a:rPr>
              <a:t>Before feature selection </a:t>
            </a:r>
            <a:r>
              <a:rPr lang="en-GB" sz="1600" b="1">
                <a:solidFill>
                  <a:schemeClr val="dk2"/>
                </a:solidFill>
              </a:rPr>
              <a:t>vs</a:t>
            </a:r>
            <a:r>
              <a:rPr lang="en-GB" sz="1600" b="1">
                <a:solidFill>
                  <a:srgbClr val="3D85C6"/>
                </a:solidFill>
              </a:rPr>
              <a:t> After feature selection</a:t>
            </a:r>
            <a:endParaRPr sz="1600" b="1">
              <a:solidFill>
                <a:srgbClr val="3D85C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Char char="●"/>
            </a:pPr>
            <a:r>
              <a:rPr lang="en-GB" sz="1600" b="1">
                <a:solidFill>
                  <a:srgbClr val="3D85C6"/>
                </a:solidFill>
              </a:rPr>
              <a:t>With outliers </a:t>
            </a:r>
            <a:r>
              <a:rPr lang="en-GB" sz="1600" b="1">
                <a:solidFill>
                  <a:schemeClr val="dk2"/>
                </a:solidFill>
              </a:rPr>
              <a:t>vs </a:t>
            </a:r>
            <a:r>
              <a:rPr lang="en-GB" sz="1600" b="1">
                <a:solidFill>
                  <a:srgbClr val="3D85C6"/>
                </a:solidFill>
              </a:rPr>
              <a:t>Without outliers</a:t>
            </a:r>
            <a:endParaRPr sz="1600" b="1">
              <a:solidFill>
                <a:srgbClr val="3D85C6"/>
              </a:solidFill>
            </a:endParaRPr>
          </a:p>
        </p:txBody>
      </p:sp>
      <p:sp>
        <p:nvSpPr>
          <p:cNvPr id="698" name="Google Shape;698;p72"/>
          <p:cNvSpPr txBox="1">
            <a:spLocks noGrp="1"/>
          </p:cNvSpPr>
          <p:nvPr>
            <p:ph type="sldNum" idx="12"/>
          </p:nvPr>
        </p:nvSpPr>
        <p:spPr>
          <a:xfrm>
            <a:off x="4872855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graphicFrame>
        <p:nvGraphicFramePr>
          <p:cNvPr id="699" name="Google Shape;699;p72"/>
          <p:cNvGraphicFramePr/>
          <p:nvPr/>
        </p:nvGraphicFramePr>
        <p:xfrm>
          <a:off x="325825" y="160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{D77B59BE-8660-47C7-AB46-ABBF453CBB0B}</a:tableStyleId>
              </a:tblPr>
              <a:tblGrid>
                <a:gridCol w="146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</a:rPr>
                        <a:t>Condition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</a:rPr>
                        <a:t>Outliers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</a:rPr>
                        <a:t>Feature Selection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</a:rPr>
                        <a:t>Accuracy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</a:rPr>
                        <a:t>Macro F1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</a:rPr>
                        <a:t>Analysis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1. Before feature selection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</a:rPr>
                        <a:t>✅ Included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</a:rPr>
                        <a:t>❌ No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0.989–0.990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≈ 0.974–0.975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Excellent results; model predicts both classes well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2. After feature selection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</a:rPr>
                        <a:t>✅ Included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</a:rPr>
                        <a:t>✅ Yes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0.990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≈ 0.975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Almost identical to before; feature removal did not affect much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3. Before feature selection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</a:rPr>
                        <a:t>❌ Removed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</a:rPr>
                        <a:t>❌ No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0.991–0.992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≈ 0.975–0.979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Still very high, but recall slightly improved due to data cleaning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4. After feature selection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</a:rPr>
                        <a:t>❌ Removed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2"/>
                          </a:solidFill>
                        </a:rPr>
                        <a:t>✅ Yes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0.989–0.991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≈ 0.971–0.975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2"/>
                          </a:solidFill>
                        </a:rPr>
                        <a:t>Small drop — less diverse data and fewer features slightly reduced precision</a:t>
                      </a:r>
                      <a:endParaRPr sz="1200"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00" name="Google Shape;70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800" y="4433875"/>
            <a:ext cx="2379000" cy="11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5950" y="4451175"/>
            <a:ext cx="2276500" cy="1691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89989" y="4416575"/>
            <a:ext cx="2276507" cy="17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3400" y="4693525"/>
            <a:ext cx="2276500" cy="11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4841" y="4916741"/>
            <a:ext cx="2279547" cy="11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8575" y="4472891"/>
            <a:ext cx="1898549" cy="92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7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4400" y="4805788"/>
            <a:ext cx="1888491" cy="92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7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03624" y="5113562"/>
            <a:ext cx="1732411" cy="8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72"/>
          <p:cNvSpPr txBox="1"/>
          <p:nvPr/>
        </p:nvSpPr>
        <p:spPr>
          <a:xfrm>
            <a:off x="1992575" y="60841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accent1"/>
                </a:solidFill>
              </a:rPr>
              <a:t>ALE plots for feature selection </a:t>
            </a:r>
            <a:endParaRPr sz="1100"/>
          </a:p>
        </p:txBody>
      </p:sp>
      <p:sp>
        <p:nvSpPr>
          <p:cNvPr id="709" name="Google Shape;709;p72"/>
          <p:cNvSpPr txBox="1"/>
          <p:nvPr/>
        </p:nvSpPr>
        <p:spPr>
          <a:xfrm>
            <a:off x="8775850" y="6154450"/>
            <a:ext cx="1972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accent1"/>
                </a:solidFill>
              </a:rPr>
              <a:t> SVM decision function</a:t>
            </a:r>
            <a:endParaRPr sz="1100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3"/>
          <p:cNvSpPr/>
          <p:nvPr/>
        </p:nvSpPr>
        <p:spPr>
          <a:xfrm>
            <a:off x="9143775" y="3013425"/>
            <a:ext cx="2816400" cy="296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73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Task 5</a:t>
            </a:r>
            <a:endParaRPr/>
          </a:p>
        </p:txBody>
      </p:sp>
      <p:sp>
        <p:nvSpPr>
          <p:cNvPr id="717" name="Google Shape;717;p73"/>
          <p:cNvSpPr txBox="1">
            <a:spLocks noGrp="1"/>
          </p:cNvSpPr>
          <p:nvPr>
            <p:ph type="body" idx="1"/>
          </p:nvPr>
        </p:nvSpPr>
        <p:spPr>
          <a:xfrm>
            <a:off x="265525" y="620200"/>
            <a:ext cx="11828100" cy="12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Objective</a:t>
            </a:r>
            <a:endParaRPr sz="3000" b="1">
              <a:solidFill>
                <a:schemeClr val="accen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Char char="●"/>
            </a:pPr>
            <a:r>
              <a:rPr lang="en-GB" sz="1600" b="1">
                <a:solidFill>
                  <a:srgbClr val="3D85C6"/>
                </a:solidFill>
              </a:rPr>
              <a:t>Interpret Random Forest models for DC and AC power prediction.</a:t>
            </a:r>
            <a:endParaRPr sz="1600" b="1">
              <a:solidFill>
                <a:srgbClr val="3D85C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Char char="●"/>
            </a:pPr>
            <a:r>
              <a:rPr lang="en-GB" sz="1600" b="1">
                <a:solidFill>
                  <a:srgbClr val="3D85C6"/>
                </a:solidFill>
              </a:rPr>
              <a:t>Identify key features influencing PV output (irradiation, temperature, time‑of‑day).</a:t>
            </a:r>
            <a:endParaRPr sz="1600" b="1">
              <a:solidFill>
                <a:srgbClr val="3D85C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Char char="●"/>
            </a:pPr>
            <a:r>
              <a:rPr lang="en-GB" sz="1600" b="1">
                <a:solidFill>
                  <a:srgbClr val="3D85C6"/>
                </a:solidFill>
              </a:rPr>
              <a:t>Compare Plant 1 vs Plant 2 and extract physical/operational insights.</a:t>
            </a:r>
            <a:endParaRPr sz="1600" b="1">
              <a:solidFill>
                <a:srgbClr val="3D85C6"/>
              </a:solidFill>
            </a:endParaRPr>
          </a:p>
        </p:txBody>
      </p:sp>
      <p:sp>
        <p:nvSpPr>
          <p:cNvPr id="718" name="Google Shape;718;p73"/>
          <p:cNvSpPr txBox="1">
            <a:spLocks noGrp="1"/>
          </p:cNvSpPr>
          <p:nvPr>
            <p:ph type="sldNum" idx="12"/>
          </p:nvPr>
        </p:nvSpPr>
        <p:spPr>
          <a:xfrm>
            <a:off x="5135330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cxnSp>
        <p:nvCxnSpPr>
          <p:cNvPr id="719" name="Google Shape;719;p73"/>
          <p:cNvCxnSpPr/>
          <p:nvPr/>
        </p:nvCxnSpPr>
        <p:spPr>
          <a:xfrm>
            <a:off x="327025" y="2012775"/>
            <a:ext cx="114351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20" name="Google Shape;720;p73"/>
          <p:cNvSpPr txBox="1">
            <a:spLocks noGrp="1"/>
          </p:cNvSpPr>
          <p:nvPr>
            <p:ph type="body" idx="1"/>
          </p:nvPr>
        </p:nvSpPr>
        <p:spPr>
          <a:xfrm>
            <a:off x="265525" y="2128150"/>
            <a:ext cx="3698700" cy="5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Workflow Overview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D85C6"/>
              </a:solidFill>
            </a:endParaRPr>
          </a:p>
        </p:txBody>
      </p:sp>
      <p:sp>
        <p:nvSpPr>
          <p:cNvPr id="721" name="Google Shape;721;p73"/>
          <p:cNvSpPr txBox="1">
            <a:spLocks noGrp="1"/>
          </p:cNvSpPr>
          <p:nvPr>
            <p:ph type="body" idx="1"/>
          </p:nvPr>
        </p:nvSpPr>
        <p:spPr>
          <a:xfrm>
            <a:off x="9332475" y="3757837"/>
            <a:ext cx="2439000" cy="5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1"/>
                </a:solidFill>
              </a:rPr>
              <a:t>Key Takeaway</a:t>
            </a:r>
            <a:endParaRPr sz="18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D85C6"/>
              </a:solidFill>
            </a:endParaRPr>
          </a:p>
        </p:txBody>
      </p:sp>
      <p:sp>
        <p:nvSpPr>
          <p:cNvPr id="722" name="Google Shape;722;p73"/>
          <p:cNvSpPr txBox="1"/>
          <p:nvPr/>
        </p:nvSpPr>
        <p:spPr>
          <a:xfrm>
            <a:off x="9254025" y="3983275"/>
            <a:ext cx="25959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Permutation Importance – used to catch few important features.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SHAP – feature‑level contribution to predictions.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PDP – global relationship between features and output.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2"/>
              </a:solidFill>
            </a:endParaRPr>
          </a:p>
        </p:txBody>
      </p:sp>
      <p:sp>
        <p:nvSpPr>
          <p:cNvPr id="723" name="Google Shape;723;p73"/>
          <p:cNvSpPr/>
          <p:nvPr/>
        </p:nvSpPr>
        <p:spPr>
          <a:xfrm>
            <a:off x="3749" y="1440"/>
            <a:ext cx="680" cy="937"/>
          </a:xfrm>
          <a:custGeom>
            <a:avLst/>
            <a:gdLst/>
            <a:ahLst/>
            <a:cxnLst/>
            <a:rect l="l" t="t" r="r" b="b"/>
            <a:pathLst>
              <a:path w="817" h="921" extrusionOk="0">
                <a:moveTo>
                  <a:pt x="0" y="0"/>
                </a:moveTo>
                <a:lnTo>
                  <a:pt x="697" y="0"/>
                </a:lnTo>
                <a:lnTo>
                  <a:pt x="816" y="555"/>
                </a:lnTo>
                <a:lnTo>
                  <a:pt x="745" y="817"/>
                </a:lnTo>
                <a:lnTo>
                  <a:pt x="626" y="817"/>
                </a:lnTo>
                <a:lnTo>
                  <a:pt x="562" y="920"/>
                </a:lnTo>
                <a:lnTo>
                  <a:pt x="491" y="817"/>
                </a:lnTo>
                <a:lnTo>
                  <a:pt x="71" y="817"/>
                </a:lnTo>
                <a:lnTo>
                  <a:pt x="111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73"/>
          <p:cNvSpPr/>
          <p:nvPr/>
        </p:nvSpPr>
        <p:spPr>
          <a:xfrm>
            <a:off x="1152" y="1440"/>
            <a:ext cx="687" cy="1130"/>
          </a:xfrm>
          <a:custGeom>
            <a:avLst/>
            <a:gdLst/>
            <a:ahLst/>
            <a:cxnLst/>
            <a:rect l="l" t="t" r="r" b="b"/>
            <a:pathLst>
              <a:path w="825" h="1113" extrusionOk="0">
                <a:moveTo>
                  <a:pt x="0" y="0"/>
                </a:moveTo>
                <a:lnTo>
                  <a:pt x="697" y="0"/>
                </a:lnTo>
                <a:lnTo>
                  <a:pt x="824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73"/>
          <p:cNvSpPr/>
          <p:nvPr/>
        </p:nvSpPr>
        <p:spPr>
          <a:xfrm>
            <a:off x="1804" y="1440"/>
            <a:ext cx="680" cy="1130"/>
          </a:xfrm>
          <a:custGeom>
            <a:avLst/>
            <a:gdLst/>
            <a:ahLst/>
            <a:cxnLst/>
            <a:rect l="l" t="t" r="r" b="b"/>
            <a:pathLst>
              <a:path w="817" h="1113" extrusionOk="0">
                <a:moveTo>
                  <a:pt x="0" y="0"/>
                </a:moveTo>
                <a:lnTo>
                  <a:pt x="697" y="0"/>
                </a:lnTo>
                <a:lnTo>
                  <a:pt x="816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73"/>
          <p:cNvSpPr/>
          <p:nvPr/>
        </p:nvSpPr>
        <p:spPr>
          <a:xfrm>
            <a:off x="2444" y="1440"/>
            <a:ext cx="693" cy="1130"/>
          </a:xfrm>
          <a:custGeom>
            <a:avLst/>
            <a:gdLst/>
            <a:ahLst/>
            <a:cxnLst/>
            <a:rect l="l" t="t" r="r" b="b"/>
            <a:pathLst>
              <a:path w="833" h="1113" extrusionOk="0">
                <a:moveTo>
                  <a:pt x="0" y="0"/>
                </a:moveTo>
                <a:lnTo>
                  <a:pt x="713" y="0"/>
                </a:lnTo>
                <a:lnTo>
                  <a:pt x="832" y="556"/>
                </a:lnTo>
                <a:lnTo>
                  <a:pt x="713" y="1112"/>
                </a:lnTo>
                <a:lnTo>
                  <a:pt x="0" y="1112"/>
                </a:lnTo>
                <a:lnTo>
                  <a:pt x="127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73"/>
          <p:cNvSpPr/>
          <p:nvPr/>
        </p:nvSpPr>
        <p:spPr>
          <a:xfrm>
            <a:off x="3095" y="1440"/>
            <a:ext cx="689" cy="829"/>
          </a:xfrm>
          <a:custGeom>
            <a:avLst/>
            <a:gdLst/>
            <a:ahLst/>
            <a:cxnLst/>
            <a:rect l="l" t="t" r="r" b="b"/>
            <a:pathLst>
              <a:path w="825" h="817" extrusionOk="0">
                <a:moveTo>
                  <a:pt x="0" y="0"/>
                </a:moveTo>
                <a:lnTo>
                  <a:pt x="705" y="0"/>
                </a:lnTo>
                <a:lnTo>
                  <a:pt x="824" y="555"/>
                </a:lnTo>
                <a:lnTo>
                  <a:pt x="761" y="816"/>
                </a:lnTo>
                <a:lnTo>
                  <a:pt x="341" y="816"/>
                </a:lnTo>
                <a:lnTo>
                  <a:pt x="269" y="713"/>
                </a:lnTo>
                <a:lnTo>
                  <a:pt x="198" y="816"/>
                </a:lnTo>
                <a:lnTo>
                  <a:pt x="63" y="816"/>
                </a:lnTo>
                <a:lnTo>
                  <a:pt x="119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73"/>
          <p:cNvSpPr/>
          <p:nvPr/>
        </p:nvSpPr>
        <p:spPr>
          <a:xfrm>
            <a:off x="156149" y="153840"/>
            <a:ext cx="680" cy="937"/>
          </a:xfrm>
          <a:custGeom>
            <a:avLst/>
            <a:gdLst/>
            <a:ahLst/>
            <a:cxnLst/>
            <a:rect l="l" t="t" r="r" b="b"/>
            <a:pathLst>
              <a:path w="817" h="921" extrusionOk="0">
                <a:moveTo>
                  <a:pt x="0" y="0"/>
                </a:moveTo>
                <a:lnTo>
                  <a:pt x="697" y="0"/>
                </a:lnTo>
                <a:lnTo>
                  <a:pt x="816" y="555"/>
                </a:lnTo>
                <a:lnTo>
                  <a:pt x="745" y="817"/>
                </a:lnTo>
                <a:lnTo>
                  <a:pt x="626" y="817"/>
                </a:lnTo>
                <a:lnTo>
                  <a:pt x="562" y="920"/>
                </a:lnTo>
                <a:lnTo>
                  <a:pt x="491" y="817"/>
                </a:lnTo>
                <a:lnTo>
                  <a:pt x="71" y="817"/>
                </a:lnTo>
                <a:lnTo>
                  <a:pt x="111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3"/>
          <p:cNvSpPr/>
          <p:nvPr/>
        </p:nvSpPr>
        <p:spPr>
          <a:xfrm>
            <a:off x="153552" y="153840"/>
            <a:ext cx="687" cy="1130"/>
          </a:xfrm>
          <a:custGeom>
            <a:avLst/>
            <a:gdLst/>
            <a:ahLst/>
            <a:cxnLst/>
            <a:rect l="l" t="t" r="r" b="b"/>
            <a:pathLst>
              <a:path w="825" h="1113" extrusionOk="0">
                <a:moveTo>
                  <a:pt x="0" y="0"/>
                </a:moveTo>
                <a:lnTo>
                  <a:pt x="697" y="0"/>
                </a:lnTo>
                <a:lnTo>
                  <a:pt x="824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73"/>
          <p:cNvSpPr/>
          <p:nvPr/>
        </p:nvSpPr>
        <p:spPr>
          <a:xfrm>
            <a:off x="154204" y="153840"/>
            <a:ext cx="680" cy="1130"/>
          </a:xfrm>
          <a:custGeom>
            <a:avLst/>
            <a:gdLst/>
            <a:ahLst/>
            <a:cxnLst/>
            <a:rect l="l" t="t" r="r" b="b"/>
            <a:pathLst>
              <a:path w="817" h="1113" extrusionOk="0">
                <a:moveTo>
                  <a:pt x="0" y="0"/>
                </a:moveTo>
                <a:lnTo>
                  <a:pt x="697" y="0"/>
                </a:lnTo>
                <a:lnTo>
                  <a:pt x="816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73"/>
          <p:cNvSpPr/>
          <p:nvPr/>
        </p:nvSpPr>
        <p:spPr>
          <a:xfrm>
            <a:off x="154844" y="153840"/>
            <a:ext cx="693" cy="1130"/>
          </a:xfrm>
          <a:custGeom>
            <a:avLst/>
            <a:gdLst/>
            <a:ahLst/>
            <a:cxnLst/>
            <a:rect l="l" t="t" r="r" b="b"/>
            <a:pathLst>
              <a:path w="833" h="1113" extrusionOk="0">
                <a:moveTo>
                  <a:pt x="0" y="0"/>
                </a:moveTo>
                <a:lnTo>
                  <a:pt x="713" y="0"/>
                </a:lnTo>
                <a:lnTo>
                  <a:pt x="832" y="556"/>
                </a:lnTo>
                <a:lnTo>
                  <a:pt x="713" y="1112"/>
                </a:lnTo>
                <a:lnTo>
                  <a:pt x="0" y="1112"/>
                </a:lnTo>
                <a:lnTo>
                  <a:pt x="127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73"/>
          <p:cNvSpPr/>
          <p:nvPr/>
        </p:nvSpPr>
        <p:spPr>
          <a:xfrm>
            <a:off x="155495" y="153840"/>
            <a:ext cx="689" cy="829"/>
          </a:xfrm>
          <a:custGeom>
            <a:avLst/>
            <a:gdLst/>
            <a:ahLst/>
            <a:cxnLst/>
            <a:rect l="l" t="t" r="r" b="b"/>
            <a:pathLst>
              <a:path w="825" h="817" extrusionOk="0">
                <a:moveTo>
                  <a:pt x="0" y="0"/>
                </a:moveTo>
                <a:lnTo>
                  <a:pt x="705" y="0"/>
                </a:lnTo>
                <a:lnTo>
                  <a:pt x="824" y="555"/>
                </a:lnTo>
                <a:lnTo>
                  <a:pt x="761" y="816"/>
                </a:lnTo>
                <a:lnTo>
                  <a:pt x="341" y="816"/>
                </a:lnTo>
                <a:lnTo>
                  <a:pt x="269" y="713"/>
                </a:lnTo>
                <a:lnTo>
                  <a:pt x="198" y="816"/>
                </a:lnTo>
                <a:lnTo>
                  <a:pt x="63" y="816"/>
                </a:lnTo>
                <a:lnTo>
                  <a:pt x="119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3" name="Google Shape;733;p73"/>
          <p:cNvGraphicFramePr/>
          <p:nvPr/>
        </p:nvGraphicFramePr>
        <p:xfrm>
          <a:off x="265525" y="26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{B2391DEF-1E9F-4344-B672-ACDE83FDC6BA}</a:tableStyleId>
              </a:tblPr>
              <a:tblGrid>
                <a:gridCol w="257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b="1">
                          <a:solidFill>
                            <a:schemeClr val="lt2"/>
                          </a:solidFill>
                        </a:rPr>
                        <a:t>Data Loading &amp; Cleaning</a:t>
                      </a:r>
                      <a:endParaRPr sz="1600">
                        <a:solidFill>
                          <a:schemeClr val="lt2"/>
                        </a:solidFill>
                      </a:endParaRPr>
                    </a:p>
                  </a:txBody>
                  <a:tcPr marL="91425" marR="91425" marT="91425" marB="91425"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</a:rPr>
                        <a:t>Combine inverter CSVs, filter dates, fill gaps.</a:t>
                      </a:r>
                      <a:endParaRPr sz="1600"/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4" name="Google Shape;734;p73"/>
          <p:cNvGraphicFramePr/>
          <p:nvPr/>
        </p:nvGraphicFramePr>
        <p:xfrm>
          <a:off x="265525" y="3460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{B2391DEF-1E9F-4344-B672-ACDE83FDC6BA}</a:tableStyleId>
              </a:tblPr>
              <a:tblGrid>
                <a:gridCol w="25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2"/>
                          </a:solidFill>
                        </a:rPr>
                        <a:t>Feature Engineering</a:t>
                      </a:r>
                      <a:endParaRPr sz="1600" b="1">
                        <a:solidFill>
                          <a:schemeClr val="lt2"/>
                        </a:solidFill>
                      </a:endParaRPr>
                    </a:p>
                  </a:txBody>
                  <a:tcPr marL="91425" marR="91425" marT="91425" marB="91425"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</a:rPr>
                        <a:t>Create irradiation, temperature, yield, and time‑of‑day features.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5" name="Google Shape;735;p73"/>
          <p:cNvGraphicFramePr/>
          <p:nvPr/>
        </p:nvGraphicFramePr>
        <p:xfrm>
          <a:off x="265525" y="398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{B2391DEF-1E9F-4344-B672-ACDE83FDC6BA}</a:tableStyleId>
              </a:tblPr>
              <a:tblGrid>
                <a:gridCol w="25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2"/>
                          </a:solidFill>
                        </a:rPr>
                        <a:t>Train Models</a:t>
                      </a:r>
                      <a:endParaRPr sz="1600" b="1">
                        <a:solidFill>
                          <a:schemeClr val="lt2"/>
                        </a:solidFill>
                      </a:endParaRPr>
                    </a:p>
                  </a:txBody>
                  <a:tcPr marL="91425" marR="91425" marT="91425" marB="91425"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</a:rPr>
                        <a:t>Random Forest regressors for DC and AC outputs.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6" name="Google Shape;736;p73"/>
          <p:cNvGraphicFramePr/>
          <p:nvPr/>
        </p:nvGraphicFramePr>
        <p:xfrm>
          <a:off x="265525" y="450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{B2391DEF-1E9F-4344-B672-ACDE83FDC6BA}</a:tableStyleId>
              </a:tblPr>
              <a:tblGrid>
                <a:gridCol w="25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2"/>
                          </a:solidFill>
                        </a:rPr>
                        <a:t>Interpret Models using</a:t>
                      </a:r>
                      <a:endParaRPr sz="1600" b="1">
                        <a:solidFill>
                          <a:schemeClr val="lt2"/>
                        </a:solidFill>
                      </a:endParaRPr>
                    </a:p>
                  </a:txBody>
                  <a:tcPr marL="91425" marR="91425" marT="91425" marB="91425" anchor="ctr"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Char char="●"/>
                      </a:pPr>
                      <a:r>
                        <a:rPr lang="en-GB" sz="1600">
                          <a:solidFill>
                            <a:schemeClr val="dk2"/>
                          </a:solidFill>
                        </a:rPr>
                        <a:t>Permutation Importance (global ranking)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Char char="●"/>
                      </a:pPr>
                      <a:r>
                        <a:rPr lang="en-GB" sz="1600">
                          <a:solidFill>
                            <a:schemeClr val="dk2"/>
                          </a:solidFill>
                        </a:rPr>
                        <a:t>SHAP Waterfall Plots (local effects)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Char char="●"/>
                      </a:pPr>
                      <a:r>
                        <a:rPr lang="en-GB" sz="1600">
                          <a:solidFill>
                            <a:schemeClr val="dk2"/>
                          </a:solidFill>
                        </a:rPr>
                        <a:t>Residualisation Coefficients (feature sensitivity)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Char char="●"/>
                      </a:pPr>
                      <a:r>
                        <a:rPr lang="en-GB" sz="1600">
                          <a:solidFill>
                            <a:schemeClr val="dk2"/>
                          </a:solidFill>
                        </a:rPr>
                        <a:t>PDP &amp; PDP Slopes (average feature influence)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7" name="Google Shape;737;p73"/>
          <p:cNvGraphicFramePr/>
          <p:nvPr/>
        </p:nvGraphicFramePr>
        <p:xfrm>
          <a:off x="265525" y="586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{B2391DEF-1E9F-4344-B672-ACDE83FDC6BA}</a:tableStyleId>
              </a:tblPr>
              <a:tblGrid>
                <a:gridCol w="25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lt2"/>
                          </a:solidFill>
                        </a:rPr>
                        <a:t>Output</a:t>
                      </a:r>
                      <a:endParaRPr sz="1600" b="1">
                        <a:solidFill>
                          <a:schemeClr val="lt2"/>
                        </a:solidFill>
                      </a:endParaRPr>
                    </a:p>
                  </a:txBody>
                  <a:tcPr marL="91425" marR="91425" marT="91425" marB="91425" anchor="ctr"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</a:rPr>
                        <a:t>Visualize &amp; Compare results for both</a:t>
                      </a:r>
                      <a:endParaRPr sz="16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38" name="Google Shape;738;p73"/>
          <p:cNvGrpSpPr/>
          <p:nvPr/>
        </p:nvGrpSpPr>
        <p:grpSpPr>
          <a:xfrm>
            <a:off x="11147784" y="3097306"/>
            <a:ext cx="623691" cy="936685"/>
            <a:chOff x="7312025" y="1441450"/>
            <a:chExt cx="863599" cy="1296989"/>
          </a:xfrm>
        </p:grpSpPr>
        <p:sp>
          <p:nvSpPr>
            <p:cNvPr id="739" name="Google Shape;739;p73"/>
            <p:cNvSpPr/>
            <p:nvPr/>
          </p:nvSpPr>
          <p:spPr>
            <a:xfrm>
              <a:off x="7312025" y="1441450"/>
              <a:ext cx="863599" cy="1296989"/>
            </a:xfrm>
            <a:custGeom>
              <a:avLst/>
              <a:gdLst/>
              <a:ahLst/>
              <a:cxnLst/>
              <a:rect l="l" t="t" r="r" b="b"/>
              <a:pathLst>
                <a:path w="517" h="776" extrusionOk="0">
                  <a:moveTo>
                    <a:pt x="509" y="217"/>
                  </a:moveTo>
                  <a:cubicBezTo>
                    <a:pt x="505" y="192"/>
                    <a:pt x="498" y="167"/>
                    <a:pt x="486" y="145"/>
                  </a:cubicBezTo>
                  <a:cubicBezTo>
                    <a:pt x="438" y="52"/>
                    <a:pt x="360" y="5"/>
                    <a:pt x="256" y="0"/>
                  </a:cubicBezTo>
                  <a:cubicBezTo>
                    <a:pt x="238" y="0"/>
                    <a:pt x="221" y="2"/>
                    <a:pt x="203" y="6"/>
                  </a:cubicBezTo>
                  <a:cubicBezTo>
                    <a:pt x="91" y="30"/>
                    <a:pt x="12" y="124"/>
                    <a:pt x="2" y="229"/>
                  </a:cubicBezTo>
                  <a:cubicBezTo>
                    <a:pt x="0" y="248"/>
                    <a:pt x="0" y="266"/>
                    <a:pt x="2" y="285"/>
                  </a:cubicBezTo>
                  <a:cubicBezTo>
                    <a:pt x="6" y="324"/>
                    <a:pt x="20" y="361"/>
                    <a:pt x="41" y="394"/>
                  </a:cubicBezTo>
                  <a:cubicBezTo>
                    <a:pt x="59" y="422"/>
                    <a:pt x="81" y="446"/>
                    <a:pt x="109" y="466"/>
                  </a:cubicBezTo>
                  <a:cubicBezTo>
                    <a:pt x="110" y="467"/>
                    <a:pt x="112" y="469"/>
                    <a:pt x="112" y="471"/>
                  </a:cubicBezTo>
                  <a:cubicBezTo>
                    <a:pt x="116" y="493"/>
                    <a:pt x="118" y="516"/>
                    <a:pt x="122" y="538"/>
                  </a:cubicBezTo>
                  <a:cubicBezTo>
                    <a:pt x="123" y="546"/>
                    <a:pt x="125" y="554"/>
                    <a:pt x="127" y="563"/>
                  </a:cubicBezTo>
                  <a:cubicBezTo>
                    <a:pt x="127" y="564"/>
                    <a:pt x="127" y="567"/>
                    <a:pt x="126" y="568"/>
                  </a:cubicBezTo>
                  <a:cubicBezTo>
                    <a:pt x="122" y="580"/>
                    <a:pt x="122" y="591"/>
                    <a:pt x="125" y="603"/>
                  </a:cubicBezTo>
                  <a:cubicBezTo>
                    <a:pt x="126" y="604"/>
                    <a:pt x="126" y="606"/>
                    <a:pt x="125" y="608"/>
                  </a:cubicBezTo>
                  <a:cubicBezTo>
                    <a:pt x="122" y="619"/>
                    <a:pt x="122" y="629"/>
                    <a:pt x="125" y="640"/>
                  </a:cubicBezTo>
                  <a:cubicBezTo>
                    <a:pt x="126" y="641"/>
                    <a:pt x="126" y="643"/>
                    <a:pt x="125" y="645"/>
                  </a:cubicBezTo>
                  <a:cubicBezTo>
                    <a:pt x="116" y="673"/>
                    <a:pt x="132" y="702"/>
                    <a:pt x="162" y="710"/>
                  </a:cubicBezTo>
                  <a:cubicBezTo>
                    <a:pt x="164" y="710"/>
                    <a:pt x="165" y="711"/>
                    <a:pt x="165" y="714"/>
                  </a:cubicBezTo>
                  <a:cubicBezTo>
                    <a:pt x="167" y="725"/>
                    <a:pt x="173" y="735"/>
                    <a:pt x="182" y="743"/>
                  </a:cubicBezTo>
                  <a:cubicBezTo>
                    <a:pt x="224" y="776"/>
                    <a:pt x="289" y="776"/>
                    <a:pt x="330" y="743"/>
                  </a:cubicBezTo>
                  <a:cubicBezTo>
                    <a:pt x="340" y="735"/>
                    <a:pt x="346" y="725"/>
                    <a:pt x="347" y="713"/>
                  </a:cubicBezTo>
                  <a:cubicBezTo>
                    <a:pt x="348" y="711"/>
                    <a:pt x="348" y="710"/>
                    <a:pt x="351" y="710"/>
                  </a:cubicBezTo>
                  <a:cubicBezTo>
                    <a:pt x="380" y="702"/>
                    <a:pt x="396" y="674"/>
                    <a:pt x="387" y="645"/>
                  </a:cubicBezTo>
                  <a:cubicBezTo>
                    <a:pt x="387" y="643"/>
                    <a:pt x="387" y="641"/>
                    <a:pt x="387" y="639"/>
                  </a:cubicBezTo>
                  <a:cubicBezTo>
                    <a:pt x="390" y="629"/>
                    <a:pt x="390" y="619"/>
                    <a:pt x="387" y="608"/>
                  </a:cubicBezTo>
                  <a:cubicBezTo>
                    <a:pt x="387" y="606"/>
                    <a:pt x="387" y="604"/>
                    <a:pt x="387" y="603"/>
                  </a:cubicBezTo>
                  <a:cubicBezTo>
                    <a:pt x="389" y="596"/>
                    <a:pt x="390" y="588"/>
                    <a:pt x="389" y="581"/>
                  </a:cubicBezTo>
                  <a:cubicBezTo>
                    <a:pt x="388" y="576"/>
                    <a:pt x="385" y="571"/>
                    <a:pt x="385" y="565"/>
                  </a:cubicBezTo>
                  <a:cubicBezTo>
                    <a:pt x="385" y="560"/>
                    <a:pt x="388" y="555"/>
                    <a:pt x="389" y="550"/>
                  </a:cubicBezTo>
                  <a:cubicBezTo>
                    <a:pt x="393" y="524"/>
                    <a:pt x="396" y="498"/>
                    <a:pt x="400" y="472"/>
                  </a:cubicBezTo>
                  <a:cubicBezTo>
                    <a:pt x="400" y="469"/>
                    <a:pt x="402" y="467"/>
                    <a:pt x="404" y="465"/>
                  </a:cubicBezTo>
                  <a:cubicBezTo>
                    <a:pt x="439" y="440"/>
                    <a:pt x="467" y="408"/>
                    <a:pt x="486" y="369"/>
                  </a:cubicBezTo>
                  <a:cubicBezTo>
                    <a:pt x="509" y="321"/>
                    <a:pt x="517" y="270"/>
                    <a:pt x="509" y="217"/>
                  </a:cubicBezTo>
                  <a:close/>
                  <a:moveTo>
                    <a:pt x="170" y="611"/>
                  </a:moveTo>
                  <a:cubicBezTo>
                    <a:pt x="184" y="607"/>
                    <a:pt x="198" y="604"/>
                    <a:pt x="212" y="601"/>
                  </a:cubicBezTo>
                  <a:cubicBezTo>
                    <a:pt x="253" y="592"/>
                    <a:pt x="294" y="583"/>
                    <a:pt x="334" y="574"/>
                  </a:cubicBezTo>
                  <a:cubicBezTo>
                    <a:pt x="341" y="573"/>
                    <a:pt x="346" y="573"/>
                    <a:pt x="350" y="579"/>
                  </a:cubicBezTo>
                  <a:cubicBezTo>
                    <a:pt x="353" y="584"/>
                    <a:pt x="354" y="589"/>
                    <a:pt x="351" y="594"/>
                  </a:cubicBezTo>
                  <a:cubicBezTo>
                    <a:pt x="349" y="598"/>
                    <a:pt x="345" y="600"/>
                    <a:pt x="341" y="601"/>
                  </a:cubicBezTo>
                  <a:cubicBezTo>
                    <a:pt x="288" y="612"/>
                    <a:pt x="236" y="624"/>
                    <a:pt x="183" y="636"/>
                  </a:cubicBezTo>
                  <a:cubicBezTo>
                    <a:pt x="180" y="636"/>
                    <a:pt x="177" y="637"/>
                    <a:pt x="175" y="637"/>
                  </a:cubicBezTo>
                  <a:cubicBezTo>
                    <a:pt x="166" y="637"/>
                    <a:pt x="161" y="633"/>
                    <a:pt x="160" y="625"/>
                  </a:cubicBezTo>
                  <a:cubicBezTo>
                    <a:pt x="159" y="619"/>
                    <a:pt x="163" y="612"/>
                    <a:pt x="170" y="611"/>
                  </a:cubicBezTo>
                  <a:close/>
                  <a:moveTo>
                    <a:pt x="171" y="573"/>
                  </a:moveTo>
                  <a:cubicBezTo>
                    <a:pt x="172" y="573"/>
                    <a:pt x="173" y="573"/>
                    <a:pt x="174" y="573"/>
                  </a:cubicBezTo>
                  <a:cubicBezTo>
                    <a:pt x="213" y="573"/>
                    <a:pt x="251" y="573"/>
                    <a:pt x="289" y="573"/>
                  </a:cubicBezTo>
                  <a:cubicBezTo>
                    <a:pt x="290" y="573"/>
                    <a:pt x="290" y="573"/>
                    <a:pt x="291" y="573"/>
                  </a:cubicBezTo>
                  <a:cubicBezTo>
                    <a:pt x="291" y="574"/>
                    <a:pt x="291" y="574"/>
                    <a:pt x="291" y="574"/>
                  </a:cubicBezTo>
                  <a:cubicBezTo>
                    <a:pt x="265" y="580"/>
                    <a:pt x="239" y="586"/>
                    <a:pt x="214" y="591"/>
                  </a:cubicBezTo>
                  <a:cubicBezTo>
                    <a:pt x="201" y="594"/>
                    <a:pt x="188" y="597"/>
                    <a:pt x="176" y="600"/>
                  </a:cubicBezTo>
                  <a:cubicBezTo>
                    <a:pt x="168" y="602"/>
                    <a:pt x="161" y="596"/>
                    <a:pt x="160" y="589"/>
                  </a:cubicBezTo>
                  <a:cubicBezTo>
                    <a:pt x="159" y="582"/>
                    <a:pt x="164" y="574"/>
                    <a:pt x="171" y="573"/>
                  </a:cubicBezTo>
                  <a:close/>
                  <a:moveTo>
                    <a:pt x="177" y="674"/>
                  </a:moveTo>
                  <a:cubicBezTo>
                    <a:pt x="176" y="674"/>
                    <a:pt x="175" y="674"/>
                    <a:pt x="174" y="674"/>
                  </a:cubicBezTo>
                  <a:cubicBezTo>
                    <a:pt x="166" y="674"/>
                    <a:pt x="160" y="669"/>
                    <a:pt x="160" y="662"/>
                  </a:cubicBezTo>
                  <a:cubicBezTo>
                    <a:pt x="159" y="655"/>
                    <a:pt x="164" y="649"/>
                    <a:pt x="171" y="647"/>
                  </a:cubicBezTo>
                  <a:cubicBezTo>
                    <a:pt x="181" y="645"/>
                    <a:pt x="192" y="642"/>
                    <a:pt x="202" y="640"/>
                  </a:cubicBezTo>
                  <a:cubicBezTo>
                    <a:pt x="247" y="630"/>
                    <a:pt x="291" y="620"/>
                    <a:pt x="336" y="610"/>
                  </a:cubicBezTo>
                  <a:cubicBezTo>
                    <a:pt x="344" y="609"/>
                    <a:pt x="351" y="613"/>
                    <a:pt x="352" y="621"/>
                  </a:cubicBezTo>
                  <a:cubicBezTo>
                    <a:pt x="354" y="628"/>
                    <a:pt x="350" y="635"/>
                    <a:pt x="342" y="637"/>
                  </a:cubicBezTo>
                  <a:cubicBezTo>
                    <a:pt x="329" y="640"/>
                    <a:pt x="316" y="643"/>
                    <a:pt x="303" y="646"/>
                  </a:cubicBezTo>
                  <a:cubicBezTo>
                    <a:pt x="261" y="655"/>
                    <a:pt x="219" y="664"/>
                    <a:pt x="177" y="674"/>
                  </a:cubicBezTo>
                  <a:close/>
                  <a:moveTo>
                    <a:pt x="307" y="714"/>
                  </a:moveTo>
                  <a:cubicBezTo>
                    <a:pt x="292" y="725"/>
                    <a:pt x="275" y="731"/>
                    <a:pt x="256" y="731"/>
                  </a:cubicBezTo>
                  <a:cubicBezTo>
                    <a:pt x="237" y="731"/>
                    <a:pt x="220" y="725"/>
                    <a:pt x="205" y="714"/>
                  </a:cubicBezTo>
                  <a:cubicBezTo>
                    <a:pt x="201" y="711"/>
                    <a:pt x="200" y="705"/>
                    <a:pt x="203" y="701"/>
                  </a:cubicBezTo>
                  <a:cubicBezTo>
                    <a:pt x="205" y="697"/>
                    <a:pt x="211" y="696"/>
                    <a:pt x="215" y="699"/>
                  </a:cubicBezTo>
                  <a:cubicBezTo>
                    <a:pt x="222" y="702"/>
                    <a:pt x="229" y="707"/>
                    <a:pt x="237" y="709"/>
                  </a:cubicBezTo>
                  <a:cubicBezTo>
                    <a:pt x="255" y="715"/>
                    <a:pt x="272" y="713"/>
                    <a:pt x="288" y="704"/>
                  </a:cubicBezTo>
                  <a:cubicBezTo>
                    <a:pt x="291" y="703"/>
                    <a:pt x="294" y="701"/>
                    <a:pt x="297" y="699"/>
                  </a:cubicBezTo>
                  <a:cubicBezTo>
                    <a:pt x="302" y="696"/>
                    <a:pt x="307" y="697"/>
                    <a:pt x="310" y="702"/>
                  </a:cubicBezTo>
                  <a:cubicBezTo>
                    <a:pt x="313" y="706"/>
                    <a:pt x="311" y="712"/>
                    <a:pt x="307" y="714"/>
                  </a:cubicBezTo>
                  <a:close/>
                  <a:moveTo>
                    <a:pt x="350" y="669"/>
                  </a:moveTo>
                  <a:cubicBezTo>
                    <a:pt x="347" y="671"/>
                    <a:pt x="343" y="674"/>
                    <a:pt x="340" y="674"/>
                  </a:cubicBezTo>
                  <a:cubicBezTo>
                    <a:pt x="300" y="674"/>
                    <a:pt x="260" y="674"/>
                    <a:pt x="221" y="674"/>
                  </a:cubicBezTo>
                  <a:cubicBezTo>
                    <a:pt x="221" y="674"/>
                    <a:pt x="221" y="674"/>
                    <a:pt x="221" y="674"/>
                  </a:cubicBezTo>
                  <a:cubicBezTo>
                    <a:pt x="230" y="672"/>
                    <a:pt x="239" y="670"/>
                    <a:pt x="248" y="668"/>
                  </a:cubicBezTo>
                  <a:cubicBezTo>
                    <a:pt x="278" y="661"/>
                    <a:pt x="307" y="654"/>
                    <a:pt x="337" y="648"/>
                  </a:cubicBezTo>
                  <a:cubicBezTo>
                    <a:pt x="343" y="646"/>
                    <a:pt x="348" y="648"/>
                    <a:pt x="351" y="653"/>
                  </a:cubicBezTo>
                  <a:cubicBezTo>
                    <a:pt x="354" y="658"/>
                    <a:pt x="354" y="665"/>
                    <a:pt x="350" y="669"/>
                  </a:cubicBezTo>
                  <a:close/>
                  <a:moveTo>
                    <a:pt x="461" y="273"/>
                  </a:moveTo>
                  <a:cubicBezTo>
                    <a:pt x="454" y="344"/>
                    <a:pt x="419" y="398"/>
                    <a:pt x="358" y="435"/>
                  </a:cubicBezTo>
                  <a:cubicBezTo>
                    <a:pt x="355" y="437"/>
                    <a:pt x="354" y="439"/>
                    <a:pt x="353" y="442"/>
                  </a:cubicBezTo>
                  <a:cubicBezTo>
                    <a:pt x="349" y="472"/>
                    <a:pt x="345" y="503"/>
                    <a:pt x="340" y="533"/>
                  </a:cubicBezTo>
                  <a:cubicBezTo>
                    <a:pt x="340" y="537"/>
                    <a:pt x="339" y="540"/>
                    <a:pt x="339" y="544"/>
                  </a:cubicBezTo>
                  <a:cubicBezTo>
                    <a:pt x="326" y="544"/>
                    <a:pt x="313" y="544"/>
                    <a:pt x="300" y="544"/>
                  </a:cubicBezTo>
                  <a:cubicBezTo>
                    <a:pt x="300" y="544"/>
                    <a:pt x="300" y="543"/>
                    <a:pt x="300" y="543"/>
                  </a:cubicBezTo>
                  <a:cubicBezTo>
                    <a:pt x="277" y="543"/>
                    <a:pt x="277" y="543"/>
                    <a:pt x="277" y="543"/>
                  </a:cubicBezTo>
                  <a:cubicBezTo>
                    <a:pt x="277" y="543"/>
                    <a:pt x="277" y="543"/>
                    <a:pt x="277" y="543"/>
                  </a:cubicBezTo>
                  <a:cubicBezTo>
                    <a:pt x="263" y="543"/>
                    <a:pt x="250" y="543"/>
                    <a:pt x="235" y="543"/>
                  </a:cubicBezTo>
                  <a:cubicBezTo>
                    <a:pt x="235" y="543"/>
                    <a:pt x="235" y="543"/>
                    <a:pt x="235" y="543"/>
                  </a:cubicBezTo>
                  <a:cubicBezTo>
                    <a:pt x="213" y="543"/>
                    <a:pt x="213" y="543"/>
                    <a:pt x="213" y="543"/>
                  </a:cubicBezTo>
                  <a:cubicBezTo>
                    <a:pt x="206" y="543"/>
                    <a:pt x="200" y="543"/>
                    <a:pt x="194" y="543"/>
                  </a:cubicBezTo>
                  <a:cubicBezTo>
                    <a:pt x="187" y="543"/>
                    <a:pt x="180" y="543"/>
                    <a:pt x="173" y="543"/>
                  </a:cubicBezTo>
                  <a:cubicBezTo>
                    <a:pt x="172" y="531"/>
                    <a:pt x="170" y="519"/>
                    <a:pt x="168" y="507"/>
                  </a:cubicBezTo>
                  <a:cubicBezTo>
                    <a:pt x="165" y="485"/>
                    <a:pt x="162" y="463"/>
                    <a:pt x="159" y="440"/>
                  </a:cubicBezTo>
                  <a:cubicBezTo>
                    <a:pt x="159" y="438"/>
                    <a:pt x="158" y="437"/>
                    <a:pt x="156" y="435"/>
                  </a:cubicBezTo>
                  <a:cubicBezTo>
                    <a:pt x="102" y="404"/>
                    <a:pt x="67" y="358"/>
                    <a:pt x="55" y="297"/>
                  </a:cubicBezTo>
                  <a:cubicBezTo>
                    <a:pt x="42" y="230"/>
                    <a:pt x="59" y="170"/>
                    <a:pt x="104" y="119"/>
                  </a:cubicBezTo>
                  <a:cubicBezTo>
                    <a:pt x="126" y="94"/>
                    <a:pt x="153" y="76"/>
                    <a:pt x="184" y="64"/>
                  </a:cubicBezTo>
                  <a:cubicBezTo>
                    <a:pt x="203" y="57"/>
                    <a:pt x="223" y="53"/>
                    <a:pt x="243" y="51"/>
                  </a:cubicBezTo>
                  <a:cubicBezTo>
                    <a:pt x="266" y="50"/>
                    <a:pt x="289" y="52"/>
                    <a:pt x="311" y="58"/>
                  </a:cubicBezTo>
                  <a:cubicBezTo>
                    <a:pt x="369" y="75"/>
                    <a:pt x="413" y="111"/>
                    <a:pt x="440" y="165"/>
                  </a:cubicBezTo>
                  <a:cubicBezTo>
                    <a:pt x="457" y="199"/>
                    <a:pt x="465" y="235"/>
                    <a:pt x="461" y="273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3"/>
            <p:cNvSpPr/>
            <p:nvPr/>
          </p:nvSpPr>
          <p:spPr>
            <a:xfrm>
              <a:off x="7570788" y="1887538"/>
              <a:ext cx="338138" cy="461963"/>
            </a:xfrm>
            <a:custGeom>
              <a:avLst/>
              <a:gdLst/>
              <a:ahLst/>
              <a:cxnLst/>
              <a:rect l="l" t="t" r="r" b="b"/>
              <a:pathLst>
                <a:path w="202" h="276" extrusionOk="0">
                  <a:moveTo>
                    <a:pt x="150" y="156"/>
                  </a:moveTo>
                  <a:cubicBezTo>
                    <a:pt x="150" y="152"/>
                    <a:pt x="151" y="147"/>
                    <a:pt x="153" y="142"/>
                  </a:cubicBezTo>
                  <a:cubicBezTo>
                    <a:pt x="168" y="100"/>
                    <a:pt x="184" y="59"/>
                    <a:pt x="199" y="17"/>
                  </a:cubicBezTo>
                  <a:cubicBezTo>
                    <a:pt x="202" y="11"/>
                    <a:pt x="199" y="4"/>
                    <a:pt x="193" y="2"/>
                  </a:cubicBezTo>
                  <a:cubicBezTo>
                    <a:pt x="187" y="0"/>
                    <a:pt x="180" y="2"/>
                    <a:pt x="178" y="9"/>
                  </a:cubicBezTo>
                  <a:cubicBezTo>
                    <a:pt x="175" y="16"/>
                    <a:pt x="172" y="24"/>
                    <a:pt x="169" y="31"/>
                  </a:cubicBezTo>
                  <a:cubicBezTo>
                    <a:pt x="166" y="31"/>
                    <a:pt x="164" y="29"/>
                    <a:pt x="163" y="25"/>
                  </a:cubicBezTo>
                  <a:cubicBezTo>
                    <a:pt x="163" y="20"/>
                    <a:pt x="160" y="18"/>
                    <a:pt x="156" y="18"/>
                  </a:cubicBezTo>
                  <a:cubicBezTo>
                    <a:pt x="153" y="18"/>
                    <a:pt x="150" y="20"/>
                    <a:pt x="150" y="25"/>
                  </a:cubicBezTo>
                  <a:cubicBezTo>
                    <a:pt x="149" y="29"/>
                    <a:pt x="146" y="31"/>
                    <a:pt x="143" y="32"/>
                  </a:cubicBezTo>
                  <a:cubicBezTo>
                    <a:pt x="139" y="32"/>
                    <a:pt x="137" y="29"/>
                    <a:pt x="136" y="25"/>
                  </a:cubicBezTo>
                  <a:cubicBezTo>
                    <a:pt x="135" y="20"/>
                    <a:pt x="132" y="18"/>
                    <a:pt x="129" y="18"/>
                  </a:cubicBezTo>
                  <a:cubicBezTo>
                    <a:pt x="125" y="18"/>
                    <a:pt x="123" y="20"/>
                    <a:pt x="122" y="24"/>
                  </a:cubicBezTo>
                  <a:cubicBezTo>
                    <a:pt x="121" y="29"/>
                    <a:pt x="119" y="31"/>
                    <a:pt x="115" y="32"/>
                  </a:cubicBezTo>
                  <a:cubicBezTo>
                    <a:pt x="111" y="32"/>
                    <a:pt x="109" y="29"/>
                    <a:pt x="108" y="25"/>
                  </a:cubicBezTo>
                  <a:cubicBezTo>
                    <a:pt x="107" y="20"/>
                    <a:pt x="105" y="18"/>
                    <a:pt x="101" y="18"/>
                  </a:cubicBezTo>
                  <a:cubicBezTo>
                    <a:pt x="98" y="18"/>
                    <a:pt x="95" y="20"/>
                    <a:pt x="94" y="25"/>
                  </a:cubicBezTo>
                  <a:cubicBezTo>
                    <a:pt x="93" y="29"/>
                    <a:pt x="91" y="32"/>
                    <a:pt x="87" y="32"/>
                  </a:cubicBezTo>
                  <a:cubicBezTo>
                    <a:pt x="84" y="31"/>
                    <a:pt x="81" y="29"/>
                    <a:pt x="80" y="25"/>
                  </a:cubicBezTo>
                  <a:cubicBezTo>
                    <a:pt x="80" y="20"/>
                    <a:pt x="77" y="18"/>
                    <a:pt x="74" y="18"/>
                  </a:cubicBezTo>
                  <a:cubicBezTo>
                    <a:pt x="70" y="18"/>
                    <a:pt x="67" y="20"/>
                    <a:pt x="67" y="25"/>
                  </a:cubicBezTo>
                  <a:cubicBezTo>
                    <a:pt x="66" y="29"/>
                    <a:pt x="64" y="31"/>
                    <a:pt x="60" y="32"/>
                  </a:cubicBezTo>
                  <a:cubicBezTo>
                    <a:pt x="56" y="32"/>
                    <a:pt x="54" y="29"/>
                    <a:pt x="53" y="25"/>
                  </a:cubicBezTo>
                  <a:cubicBezTo>
                    <a:pt x="52" y="20"/>
                    <a:pt x="50" y="18"/>
                    <a:pt x="46" y="18"/>
                  </a:cubicBezTo>
                  <a:cubicBezTo>
                    <a:pt x="42" y="18"/>
                    <a:pt x="40" y="20"/>
                    <a:pt x="39" y="25"/>
                  </a:cubicBezTo>
                  <a:cubicBezTo>
                    <a:pt x="39" y="28"/>
                    <a:pt x="37" y="30"/>
                    <a:pt x="33" y="31"/>
                  </a:cubicBezTo>
                  <a:cubicBezTo>
                    <a:pt x="31" y="24"/>
                    <a:pt x="28" y="17"/>
                    <a:pt x="25" y="10"/>
                  </a:cubicBezTo>
                  <a:cubicBezTo>
                    <a:pt x="24" y="6"/>
                    <a:pt x="21" y="2"/>
                    <a:pt x="16" y="1"/>
                  </a:cubicBezTo>
                  <a:cubicBezTo>
                    <a:pt x="7" y="0"/>
                    <a:pt x="0" y="8"/>
                    <a:pt x="3" y="17"/>
                  </a:cubicBezTo>
                  <a:cubicBezTo>
                    <a:pt x="15" y="47"/>
                    <a:pt x="26" y="78"/>
                    <a:pt x="38" y="109"/>
                  </a:cubicBezTo>
                  <a:cubicBezTo>
                    <a:pt x="43" y="122"/>
                    <a:pt x="48" y="134"/>
                    <a:pt x="52" y="147"/>
                  </a:cubicBezTo>
                  <a:cubicBezTo>
                    <a:pt x="54" y="153"/>
                    <a:pt x="53" y="160"/>
                    <a:pt x="53" y="166"/>
                  </a:cubicBezTo>
                  <a:cubicBezTo>
                    <a:pt x="54" y="201"/>
                    <a:pt x="56" y="235"/>
                    <a:pt x="57" y="270"/>
                  </a:cubicBezTo>
                  <a:cubicBezTo>
                    <a:pt x="57" y="272"/>
                    <a:pt x="57" y="274"/>
                    <a:pt x="58" y="276"/>
                  </a:cubicBezTo>
                  <a:cubicBezTo>
                    <a:pt x="80" y="276"/>
                    <a:pt x="80" y="276"/>
                    <a:pt x="80" y="276"/>
                  </a:cubicBezTo>
                  <a:cubicBezTo>
                    <a:pt x="80" y="263"/>
                    <a:pt x="79" y="250"/>
                    <a:pt x="79" y="237"/>
                  </a:cubicBezTo>
                  <a:cubicBezTo>
                    <a:pt x="78" y="207"/>
                    <a:pt x="77" y="177"/>
                    <a:pt x="75" y="147"/>
                  </a:cubicBezTo>
                  <a:cubicBezTo>
                    <a:pt x="75" y="140"/>
                    <a:pt x="71" y="133"/>
                    <a:pt x="69" y="127"/>
                  </a:cubicBezTo>
                  <a:cubicBezTo>
                    <a:pt x="61" y="105"/>
                    <a:pt x="53" y="84"/>
                    <a:pt x="45" y="62"/>
                  </a:cubicBezTo>
                  <a:cubicBezTo>
                    <a:pt x="43" y="57"/>
                    <a:pt x="40" y="51"/>
                    <a:pt x="38" y="45"/>
                  </a:cubicBezTo>
                  <a:cubicBezTo>
                    <a:pt x="41" y="43"/>
                    <a:pt x="43" y="42"/>
                    <a:pt x="46" y="40"/>
                  </a:cubicBezTo>
                  <a:cubicBezTo>
                    <a:pt x="55" y="47"/>
                    <a:pt x="64" y="47"/>
                    <a:pt x="74" y="40"/>
                  </a:cubicBezTo>
                  <a:cubicBezTo>
                    <a:pt x="84" y="47"/>
                    <a:pt x="90" y="47"/>
                    <a:pt x="101" y="40"/>
                  </a:cubicBezTo>
                  <a:cubicBezTo>
                    <a:pt x="110" y="47"/>
                    <a:pt x="120" y="47"/>
                    <a:pt x="129" y="40"/>
                  </a:cubicBezTo>
                  <a:cubicBezTo>
                    <a:pt x="138" y="47"/>
                    <a:pt x="147" y="47"/>
                    <a:pt x="156" y="40"/>
                  </a:cubicBezTo>
                  <a:cubicBezTo>
                    <a:pt x="159" y="42"/>
                    <a:pt x="161" y="43"/>
                    <a:pt x="164" y="45"/>
                  </a:cubicBezTo>
                  <a:cubicBezTo>
                    <a:pt x="161" y="52"/>
                    <a:pt x="159" y="60"/>
                    <a:pt x="156" y="68"/>
                  </a:cubicBezTo>
                  <a:cubicBezTo>
                    <a:pt x="147" y="92"/>
                    <a:pt x="137" y="115"/>
                    <a:pt x="129" y="140"/>
                  </a:cubicBezTo>
                  <a:cubicBezTo>
                    <a:pt x="127" y="147"/>
                    <a:pt x="127" y="155"/>
                    <a:pt x="126" y="163"/>
                  </a:cubicBezTo>
                  <a:cubicBezTo>
                    <a:pt x="125" y="200"/>
                    <a:pt x="124" y="237"/>
                    <a:pt x="122" y="274"/>
                  </a:cubicBezTo>
                  <a:cubicBezTo>
                    <a:pt x="122" y="275"/>
                    <a:pt x="122" y="276"/>
                    <a:pt x="122" y="276"/>
                  </a:cubicBezTo>
                  <a:cubicBezTo>
                    <a:pt x="145" y="276"/>
                    <a:pt x="145" y="276"/>
                    <a:pt x="145" y="276"/>
                  </a:cubicBezTo>
                  <a:cubicBezTo>
                    <a:pt x="146" y="262"/>
                    <a:pt x="146" y="248"/>
                    <a:pt x="147" y="234"/>
                  </a:cubicBezTo>
                  <a:cubicBezTo>
                    <a:pt x="148" y="208"/>
                    <a:pt x="149" y="182"/>
                    <a:pt x="150" y="156"/>
                  </a:cubicBez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4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 Results</a:t>
            </a:r>
            <a:endParaRPr/>
          </a:p>
        </p:txBody>
      </p:sp>
      <p:sp>
        <p:nvSpPr>
          <p:cNvPr id="747" name="Google Shape;747;p74"/>
          <p:cNvSpPr txBox="1">
            <a:spLocks noGrp="1"/>
          </p:cNvSpPr>
          <p:nvPr>
            <p:ph type="body" idx="1"/>
          </p:nvPr>
        </p:nvSpPr>
        <p:spPr>
          <a:xfrm>
            <a:off x="5856525" y="1066575"/>
            <a:ext cx="5229300" cy="6501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00" tIns="77700" rIns="77700" bIns="77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4" b="1">
                <a:solidFill>
                  <a:schemeClr val="accent1"/>
                </a:solidFill>
              </a:rPr>
              <a:t> Permutation Importance</a:t>
            </a:r>
            <a:endParaRPr sz="1759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9" b="1">
                <a:solidFill>
                  <a:srgbClr val="3D85C6"/>
                </a:solidFill>
              </a:rPr>
              <a:t>the feature of model strongly depends on.</a:t>
            </a:r>
            <a:endParaRPr sz="1359" b="1">
              <a:solidFill>
                <a:srgbClr val="3D85C6"/>
              </a:solidFill>
            </a:endParaRPr>
          </a:p>
          <a:p>
            <a:pPr marL="388501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9" b="1">
              <a:solidFill>
                <a:srgbClr val="3D85C6"/>
              </a:solidFill>
            </a:endParaRPr>
          </a:p>
        </p:txBody>
      </p:sp>
      <p:sp>
        <p:nvSpPr>
          <p:cNvPr id="748" name="Google Shape;748;p74"/>
          <p:cNvSpPr txBox="1">
            <a:spLocks noGrp="1"/>
          </p:cNvSpPr>
          <p:nvPr>
            <p:ph type="sldNum" idx="12"/>
          </p:nvPr>
        </p:nvSpPr>
        <p:spPr>
          <a:xfrm>
            <a:off x="4872855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pic>
        <p:nvPicPr>
          <p:cNvPr id="749" name="Google Shape;74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030" y="782500"/>
            <a:ext cx="4732814" cy="48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74"/>
          <p:cNvSpPr/>
          <p:nvPr/>
        </p:nvSpPr>
        <p:spPr>
          <a:xfrm>
            <a:off x="325800" y="1066575"/>
            <a:ext cx="4594800" cy="7248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1" name="Google Shape;751;p74"/>
          <p:cNvCxnSpPr>
            <a:stCxn id="747" idx="1"/>
            <a:endCxn id="750" idx="6"/>
          </p:cNvCxnSpPr>
          <p:nvPr/>
        </p:nvCxnSpPr>
        <p:spPr>
          <a:xfrm flipH="1">
            <a:off x="4920525" y="1391625"/>
            <a:ext cx="936000" cy="37500"/>
          </a:xfrm>
          <a:prstGeom prst="straightConnector1">
            <a:avLst/>
          </a:prstGeom>
          <a:noFill/>
          <a:ln w="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52" name="Google Shape;75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7983" y="2209437"/>
            <a:ext cx="4198867" cy="19543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3" name="Google Shape;753;p74"/>
          <p:cNvCxnSpPr>
            <a:stCxn id="754" idx="0"/>
            <a:endCxn id="755" idx="4"/>
          </p:cNvCxnSpPr>
          <p:nvPr/>
        </p:nvCxnSpPr>
        <p:spPr>
          <a:xfrm rot="10800000" flipH="1">
            <a:off x="6804325" y="2670162"/>
            <a:ext cx="497100" cy="1563000"/>
          </a:xfrm>
          <a:prstGeom prst="straightConnector1">
            <a:avLst/>
          </a:prstGeom>
          <a:noFill/>
          <a:ln w="58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4" name="Google Shape;754;p74"/>
          <p:cNvSpPr txBox="1">
            <a:spLocks noGrp="1"/>
          </p:cNvSpPr>
          <p:nvPr>
            <p:ph type="body" idx="1"/>
          </p:nvPr>
        </p:nvSpPr>
        <p:spPr>
          <a:xfrm>
            <a:off x="5268475" y="4233162"/>
            <a:ext cx="3071700" cy="4884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6225" tIns="56225" rIns="56225" bIns="562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4" b="1">
                <a:solidFill>
                  <a:schemeClr val="accent1"/>
                </a:solidFill>
              </a:rPr>
              <a:t>SHAP Waterfall Plot </a:t>
            </a:r>
            <a:endParaRPr sz="984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4" b="1">
                <a:solidFill>
                  <a:srgbClr val="3D85C6"/>
                </a:solidFill>
              </a:rPr>
              <a:t> higher sunlight drastically raises AC power.</a:t>
            </a:r>
            <a:endParaRPr sz="984" b="1">
              <a:solidFill>
                <a:srgbClr val="3D85C6"/>
              </a:solidFill>
            </a:endParaRPr>
          </a:p>
        </p:txBody>
      </p:sp>
      <p:pic>
        <p:nvPicPr>
          <p:cNvPr id="756" name="Google Shape;756;p74"/>
          <p:cNvPicPr preferRelativeResize="0"/>
          <p:nvPr/>
        </p:nvPicPr>
        <p:blipFill rotWithShape="1">
          <a:blip r:embed="rId5">
            <a:alphaModFix/>
          </a:blip>
          <a:srcRect l="5210" t="4323" r="3223" b="3288"/>
          <a:stretch/>
        </p:blipFill>
        <p:spPr>
          <a:xfrm>
            <a:off x="9041450" y="4331200"/>
            <a:ext cx="3005650" cy="25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74"/>
          <p:cNvSpPr txBox="1">
            <a:spLocks noGrp="1"/>
          </p:cNvSpPr>
          <p:nvPr>
            <p:ph type="body" idx="1"/>
          </p:nvPr>
        </p:nvSpPr>
        <p:spPr>
          <a:xfrm>
            <a:off x="4675125" y="5743250"/>
            <a:ext cx="3959400" cy="50790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700" tIns="77700" rIns="77700" bIns="77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9" b="1">
                <a:solidFill>
                  <a:schemeClr val="accent1"/>
                </a:solidFill>
              </a:rPr>
              <a:t>PDP-Based Importance </a:t>
            </a:r>
            <a:endParaRPr sz="1259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9" b="1">
                <a:solidFill>
                  <a:srgbClr val="3D85C6"/>
                </a:solidFill>
              </a:rPr>
              <a:t>strongest effect on output. ( uses as coefficient)</a:t>
            </a:r>
            <a:endParaRPr sz="1259" b="1">
              <a:solidFill>
                <a:srgbClr val="3D85C6"/>
              </a:solidFill>
            </a:endParaRPr>
          </a:p>
          <a:p>
            <a:pPr marL="388501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9" b="1">
              <a:solidFill>
                <a:srgbClr val="3D85C6"/>
              </a:solidFill>
            </a:endParaRPr>
          </a:p>
        </p:txBody>
      </p:sp>
      <p:cxnSp>
        <p:nvCxnSpPr>
          <p:cNvPr id="758" name="Google Shape;758;p74"/>
          <p:cNvCxnSpPr/>
          <p:nvPr/>
        </p:nvCxnSpPr>
        <p:spPr>
          <a:xfrm rot="10800000" flipH="1">
            <a:off x="8634525" y="4793675"/>
            <a:ext cx="1171200" cy="109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5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Task 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75"/>
          <p:cNvSpPr txBox="1">
            <a:spLocks noGrp="1"/>
          </p:cNvSpPr>
          <p:nvPr>
            <p:ph type="body" idx="1"/>
          </p:nvPr>
        </p:nvSpPr>
        <p:spPr>
          <a:xfrm>
            <a:off x="325800" y="620200"/>
            <a:ext cx="11828100" cy="12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Objective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3D85C6"/>
                </a:solidFill>
              </a:rPr>
              <a:t>Analyze and model two PV plants to:</a:t>
            </a:r>
            <a:endParaRPr sz="1600" b="1">
              <a:solidFill>
                <a:srgbClr val="3D85C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Char char="●"/>
            </a:pPr>
            <a:r>
              <a:rPr lang="en-GB" sz="1600" b="1">
                <a:solidFill>
                  <a:srgbClr val="3D85C6"/>
                </a:solidFill>
              </a:rPr>
              <a:t>Classify operation as Optimal/Suboptimal (Linear SVC).</a:t>
            </a:r>
            <a:endParaRPr sz="1600" b="1">
              <a:solidFill>
                <a:srgbClr val="3D85C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Char char="●"/>
            </a:pPr>
            <a:r>
              <a:rPr lang="en-GB" sz="1600" b="1">
                <a:solidFill>
                  <a:srgbClr val="3D85C6"/>
                </a:solidFill>
              </a:rPr>
              <a:t>Forecast AC/DC power 1 hour ahead (PyTorch LSTM).</a:t>
            </a:r>
            <a:endParaRPr sz="1600" b="1">
              <a:solidFill>
                <a:srgbClr val="3D85C6"/>
              </a:solidFill>
            </a:endParaRPr>
          </a:p>
        </p:txBody>
      </p:sp>
      <p:cxnSp>
        <p:nvCxnSpPr>
          <p:cNvPr id="766" name="Google Shape;766;p75"/>
          <p:cNvCxnSpPr/>
          <p:nvPr/>
        </p:nvCxnSpPr>
        <p:spPr>
          <a:xfrm>
            <a:off x="327025" y="2009125"/>
            <a:ext cx="114351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67" name="Google Shape;767;p75"/>
          <p:cNvSpPr txBox="1">
            <a:spLocks noGrp="1"/>
          </p:cNvSpPr>
          <p:nvPr>
            <p:ph type="body" idx="1"/>
          </p:nvPr>
        </p:nvSpPr>
        <p:spPr>
          <a:xfrm>
            <a:off x="265525" y="2113563"/>
            <a:ext cx="11602200" cy="5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Workflow Overview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D85C6"/>
              </a:solidFill>
            </a:endParaRPr>
          </a:p>
        </p:txBody>
      </p:sp>
      <p:sp>
        <p:nvSpPr>
          <p:cNvPr id="768" name="Google Shape;768;p75"/>
          <p:cNvSpPr/>
          <p:nvPr/>
        </p:nvSpPr>
        <p:spPr>
          <a:xfrm rot="10800000" flipH="1">
            <a:off x="-725304" y="-35461003"/>
            <a:ext cx="725200" cy="995686"/>
          </a:xfrm>
          <a:custGeom>
            <a:avLst/>
            <a:gdLst/>
            <a:ahLst/>
            <a:cxnLst/>
            <a:rect l="l" t="t" r="r" b="b"/>
            <a:pathLst>
              <a:path w="817" h="921" extrusionOk="0">
                <a:moveTo>
                  <a:pt x="0" y="0"/>
                </a:moveTo>
                <a:lnTo>
                  <a:pt x="697" y="0"/>
                </a:lnTo>
                <a:lnTo>
                  <a:pt x="816" y="555"/>
                </a:lnTo>
                <a:lnTo>
                  <a:pt x="745" y="817"/>
                </a:lnTo>
                <a:lnTo>
                  <a:pt x="626" y="817"/>
                </a:lnTo>
                <a:lnTo>
                  <a:pt x="562" y="920"/>
                </a:lnTo>
                <a:lnTo>
                  <a:pt x="491" y="817"/>
                </a:lnTo>
                <a:lnTo>
                  <a:pt x="71" y="817"/>
                </a:lnTo>
                <a:lnTo>
                  <a:pt x="111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75"/>
          <p:cNvSpPr/>
          <p:nvPr/>
        </p:nvSpPr>
        <p:spPr>
          <a:xfrm rot="10800000" flipH="1">
            <a:off x="-3494310" y="-35665618"/>
            <a:ext cx="732301" cy="1200301"/>
          </a:xfrm>
          <a:custGeom>
            <a:avLst/>
            <a:gdLst/>
            <a:ahLst/>
            <a:cxnLst/>
            <a:rect l="l" t="t" r="r" b="b"/>
            <a:pathLst>
              <a:path w="825" h="1113" extrusionOk="0">
                <a:moveTo>
                  <a:pt x="0" y="0"/>
                </a:moveTo>
                <a:lnTo>
                  <a:pt x="697" y="0"/>
                </a:lnTo>
                <a:lnTo>
                  <a:pt x="824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75"/>
          <p:cNvSpPr/>
          <p:nvPr/>
        </p:nvSpPr>
        <p:spPr>
          <a:xfrm rot="10800000" flipH="1">
            <a:off x="-2799126" y="-35665618"/>
            <a:ext cx="725200" cy="1200301"/>
          </a:xfrm>
          <a:custGeom>
            <a:avLst/>
            <a:gdLst/>
            <a:ahLst/>
            <a:cxnLst/>
            <a:rect l="l" t="t" r="r" b="b"/>
            <a:pathLst>
              <a:path w="817" h="1113" extrusionOk="0">
                <a:moveTo>
                  <a:pt x="0" y="0"/>
                </a:moveTo>
                <a:lnTo>
                  <a:pt x="697" y="0"/>
                </a:lnTo>
                <a:lnTo>
                  <a:pt x="816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75"/>
          <p:cNvSpPr/>
          <p:nvPr/>
        </p:nvSpPr>
        <p:spPr>
          <a:xfrm rot="10800000" flipH="1">
            <a:off x="-2116737" y="-35665618"/>
            <a:ext cx="739402" cy="1200301"/>
          </a:xfrm>
          <a:custGeom>
            <a:avLst/>
            <a:gdLst/>
            <a:ahLst/>
            <a:cxnLst/>
            <a:rect l="l" t="t" r="r" b="b"/>
            <a:pathLst>
              <a:path w="833" h="1113" extrusionOk="0">
                <a:moveTo>
                  <a:pt x="0" y="0"/>
                </a:moveTo>
                <a:lnTo>
                  <a:pt x="713" y="0"/>
                </a:lnTo>
                <a:lnTo>
                  <a:pt x="832" y="556"/>
                </a:lnTo>
                <a:lnTo>
                  <a:pt x="713" y="1112"/>
                </a:lnTo>
                <a:lnTo>
                  <a:pt x="0" y="1112"/>
                </a:lnTo>
                <a:lnTo>
                  <a:pt x="127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75"/>
          <p:cNvSpPr/>
          <p:nvPr/>
        </p:nvSpPr>
        <p:spPr>
          <a:xfrm rot="10800000" flipH="1">
            <a:off x="-1422620" y="-35346401"/>
            <a:ext cx="734502" cy="881083"/>
          </a:xfrm>
          <a:custGeom>
            <a:avLst/>
            <a:gdLst/>
            <a:ahLst/>
            <a:cxnLst/>
            <a:rect l="l" t="t" r="r" b="b"/>
            <a:pathLst>
              <a:path w="825" h="817" extrusionOk="0">
                <a:moveTo>
                  <a:pt x="0" y="0"/>
                </a:moveTo>
                <a:lnTo>
                  <a:pt x="705" y="0"/>
                </a:lnTo>
                <a:lnTo>
                  <a:pt x="824" y="555"/>
                </a:lnTo>
                <a:lnTo>
                  <a:pt x="761" y="816"/>
                </a:lnTo>
                <a:lnTo>
                  <a:pt x="341" y="816"/>
                </a:lnTo>
                <a:lnTo>
                  <a:pt x="269" y="713"/>
                </a:lnTo>
                <a:lnTo>
                  <a:pt x="198" y="816"/>
                </a:lnTo>
                <a:lnTo>
                  <a:pt x="63" y="816"/>
                </a:lnTo>
                <a:lnTo>
                  <a:pt x="119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10144000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7366525" tIns="48669950" rIns="97366525" bIns="486699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75"/>
          <p:cNvSpPr/>
          <p:nvPr/>
        </p:nvSpPr>
        <p:spPr>
          <a:xfrm>
            <a:off x="156149" y="153840"/>
            <a:ext cx="680" cy="937"/>
          </a:xfrm>
          <a:custGeom>
            <a:avLst/>
            <a:gdLst/>
            <a:ahLst/>
            <a:cxnLst/>
            <a:rect l="l" t="t" r="r" b="b"/>
            <a:pathLst>
              <a:path w="817" h="921" extrusionOk="0">
                <a:moveTo>
                  <a:pt x="0" y="0"/>
                </a:moveTo>
                <a:lnTo>
                  <a:pt x="697" y="0"/>
                </a:lnTo>
                <a:lnTo>
                  <a:pt x="816" y="555"/>
                </a:lnTo>
                <a:lnTo>
                  <a:pt x="745" y="817"/>
                </a:lnTo>
                <a:lnTo>
                  <a:pt x="626" y="817"/>
                </a:lnTo>
                <a:lnTo>
                  <a:pt x="562" y="920"/>
                </a:lnTo>
                <a:lnTo>
                  <a:pt x="491" y="817"/>
                </a:lnTo>
                <a:lnTo>
                  <a:pt x="71" y="817"/>
                </a:lnTo>
                <a:lnTo>
                  <a:pt x="111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75"/>
          <p:cNvSpPr/>
          <p:nvPr/>
        </p:nvSpPr>
        <p:spPr>
          <a:xfrm>
            <a:off x="153552" y="153840"/>
            <a:ext cx="687" cy="1130"/>
          </a:xfrm>
          <a:custGeom>
            <a:avLst/>
            <a:gdLst/>
            <a:ahLst/>
            <a:cxnLst/>
            <a:rect l="l" t="t" r="r" b="b"/>
            <a:pathLst>
              <a:path w="825" h="1113" extrusionOk="0">
                <a:moveTo>
                  <a:pt x="0" y="0"/>
                </a:moveTo>
                <a:lnTo>
                  <a:pt x="697" y="0"/>
                </a:lnTo>
                <a:lnTo>
                  <a:pt x="824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75"/>
          <p:cNvSpPr/>
          <p:nvPr/>
        </p:nvSpPr>
        <p:spPr>
          <a:xfrm>
            <a:off x="154204" y="153840"/>
            <a:ext cx="680" cy="1130"/>
          </a:xfrm>
          <a:custGeom>
            <a:avLst/>
            <a:gdLst/>
            <a:ahLst/>
            <a:cxnLst/>
            <a:rect l="l" t="t" r="r" b="b"/>
            <a:pathLst>
              <a:path w="817" h="1113" extrusionOk="0">
                <a:moveTo>
                  <a:pt x="0" y="0"/>
                </a:moveTo>
                <a:lnTo>
                  <a:pt x="697" y="0"/>
                </a:lnTo>
                <a:lnTo>
                  <a:pt x="816" y="556"/>
                </a:lnTo>
                <a:lnTo>
                  <a:pt x="697" y="1112"/>
                </a:lnTo>
                <a:lnTo>
                  <a:pt x="0" y="1112"/>
                </a:lnTo>
                <a:lnTo>
                  <a:pt x="111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75"/>
          <p:cNvSpPr/>
          <p:nvPr/>
        </p:nvSpPr>
        <p:spPr>
          <a:xfrm>
            <a:off x="154844" y="153840"/>
            <a:ext cx="693" cy="1130"/>
          </a:xfrm>
          <a:custGeom>
            <a:avLst/>
            <a:gdLst/>
            <a:ahLst/>
            <a:cxnLst/>
            <a:rect l="l" t="t" r="r" b="b"/>
            <a:pathLst>
              <a:path w="833" h="1113" extrusionOk="0">
                <a:moveTo>
                  <a:pt x="0" y="0"/>
                </a:moveTo>
                <a:lnTo>
                  <a:pt x="713" y="0"/>
                </a:lnTo>
                <a:lnTo>
                  <a:pt x="832" y="556"/>
                </a:lnTo>
                <a:lnTo>
                  <a:pt x="713" y="1112"/>
                </a:lnTo>
                <a:lnTo>
                  <a:pt x="0" y="1112"/>
                </a:lnTo>
                <a:lnTo>
                  <a:pt x="127" y="556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75"/>
          <p:cNvSpPr/>
          <p:nvPr/>
        </p:nvSpPr>
        <p:spPr>
          <a:xfrm>
            <a:off x="155495" y="153840"/>
            <a:ext cx="689" cy="829"/>
          </a:xfrm>
          <a:custGeom>
            <a:avLst/>
            <a:gdLst/>
            <a:ahLst/>
            <a:cxnLst/>
            <a:rect l="l" t="t" r="r" b="b"/>
            <a:pathLst>
              <a:path w="825" h="817" extrusionOk="0">
                <a:moveTo>
                  <a:pt x="0" y="0"/>
                </a:moveTo>
                <a:lnTo>
                  <a:pt x="705" y="0"/>
                </a:lnTo>
                <a:lnTo>
                  <a:pt x="824" y="555"/>
                </a:lnTo>
                <a:lnTo>
                  <a:pt x="761" y="816"/>
                </a:lnTo>
                <a:lnTo>
                  <a:pt x="341" y="816"/>
                </a:lnTo>
                <a:lnTo>
                  <a:pt x="269" y="713"/>
                </a:lnTo>
                <a:lnTo>
                  <a:pt x="198" y="816"/>
                </a:lnTo>
                <a:lnTo>
                  <a:pt x="63" y="816"/>
                </a:lnTo>
                <a:lnTo>
                  <a:pt x="119" y="555"/>
                </a:lnTo>
                <a:lnTo>
                  <a:pt x="0" y="0"/>
                </a:lnTo>
              </a:path>
            </a:pathLst>
          </a:custGeom>
          <a:solidFill>
            <a:srgbClr val="808080"/>
          </a:solidFill>
          <a:ln w="9525" cap="rnd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75"/>
          <p:cNvSpPr/>
          <p:nvPr/>
        </p:nvSpPr>
        <p:spPr>
          <a:xfrm>
            <a:off x="327028" y="2742712"/>
            <a:ext cx="1785900" cy="570600"/>
          </a:xfrm>
          <a:prstGeom prst="homePlate">
            <a:avLst>
              <a:gd name="adj" fmla="val 23935"/>
            </a:avLst>
          </a:prstGeom>
          <a:solidFill>
            <a:schemeClr val="accent1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FFFFFF"/>
                </a:solidFill>
              </a:rPr>
              <a:t>Loading  Data:</a:t>
            </a:r>
            <a:endParaRPr/>
          </a:p>
        </p:txBody>
      </p:sp>
      <p:sp>
        <p:nvSpPr>
          <p:cNvPr id="779" name="Google Shape;779;p75"/>
          <p:cNvSpPr/>
          <p:nvPr/>
        </p:nvSpPr>
        <p:spPr>
          <a:xfrm>
            <a:off x="114900" y="3459450"/>
            <a:ext cx="2165700" cy="17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29845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</a:pPr>
            <a:r>
              <a:rPr lang="en-GB" sz="1100">
                <a:solidFill>
                  <a:schemeClr val="accent1"/>
                </a:solidFill>
              </a:rPr>
              <a:t>Load CSV files for each plant 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</a:pPr>
            <a:r>
              <a:rPr lang="en-GB" sz="1100">
                <a:solidFill>
                  <a:schemeClr val="accent1"/>
                </a:solidFill>
              </a:rPr>
              <a:t>Merge data on timestamp and source key (inverter ID)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</a:pPr>
            <a:r>
              <a:rPr lang="en-GB" sz="1100">
                <a:solidFill>
                  <a:schemeClr val="accent1"/>
                </a:solidFill>
              </a:rPr>
              <a:t>Convert timestamps to a uniform timezone (15‑min interval assumed)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100">
              <a:solidFill>
                <a:schemeClr val="accent1"/>
              </a:solidFill>
            </a:endParaRPr>
          </a:p>
        </p:txBody>
      </p:sp>
      <p:sp>
        <p:nvSpPr>
          <p:cNvPr id="780" name="Google Shape;780;p75"/>
          <p:cNvSpPr/>
          <p:nvPr/>
        </p:nvSpPr>
        <p:spPr>
          <a:xfrm>
            <a:off x="2565874" y="2742700"/>
            <a:ext cx="2250000" cy="572400"/>
          </a:xfrm>
          <a:prstGeom prst="homePlate">
            <a:avLst>
              <a:gd name="adj" fmla="val 23862"/>
            </a:avLst>
          </a:prstGeom>
          <a:solidFill>
            <a:schemeClr val="accent1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FFFFFF"/>
                </a:solidFill>
              </a:rPr>
              <a:t> Data Cleaning &amp; Validation</a:t>
            </a:r>
            <a:endParaRPr/>
          </a:p>
        </p:txBody>
      </p:sp>
      <p:sp>
        <p:nvSpPr>
          <p:cNvPr id="781" name="Google Shape;781;p75"/>
          <p:cNvSpPr/>
          <p:nvPr/>
        </p:nvSpPr>
        <p:spPr>
          <a:xfrm>
            <a:off x="2449815" y="3456825"/>
            <a:ext cx="2250000" cy="17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 b="1">
                <a:solidFill>
                  <a:schemeClr val="accent1"/>
                </a:solidFill>
              </a:rPr>
              <a:t>Timestamp cleaning</a:t>
            </a:r>
            <a:r>
              <a:rPr lang="en-GB" sz="1100">
                <a:solidFill>
                  <a:schemeClr val="accent1"/>
                </a:solidFill>
              </a:rPr>
              <a:t> </a:t>
            </a:r>
            <a:endParaRPr sz="1100"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 b="1">
                <a:solidFill>
                  <a:schemeClr val="accent1"/>
                </a:solidFill>
              </a:rPr>
              <a:t>Irradiance correction</a:t>
            </a:r>
            <a:r>
              <a:rPr lang="en-GB" sz="1100">
                <a:solidFill>
                  <a:schemeClr val="accent1"/>
                </a:solidFill>
              </a:rPr>
              <a:t> </a:t>
            </a:r>
            <a:endParaRPr sz="1100"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 b="1">
                <a:solidFill>
                  <a:schemeClr val="accent1"/>
                </a:solidFill>
              </a:rPr>
              <a:t>Remove negatives/outliers</a:t>
            </a:r>
            <a:r>
              <a:rPr lang="en-GB" sz="1100">
                <a:solidFill>
                  <a:schemeClr val="accent1"/>
                </a:solidFill>
              </a:rPr>
              <a:t> </a:t>
            </a:r>
            <a:endParaRPr sz="1100"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 b="1">
                <a:solidFill>
                  <a:schemeClr val="accent1"/>
                </a:solidFill>
              </a:rPr>
              <a:t>Replace missing data</a:t>
            </a:r>
            <a:r>
              <a:rPr lang="en-GB" sz="1100">
                <a:solidFill>
                  <a:schemeClr val="accent1"/>
                </a:solidFill>
              </a:rPr>
              <a:t> with interpolation (time‑based).</a:t>
            </a:r>
            <a:endParaRPr sz="1100"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 b="1">
                <a:solidFill>
                  <a:schemeClr val="accent1"/>
                </a:solidFill>
              </a:rPr>
              <a:t>Fix cumulative yields</a:t>
            </a:r>
            <a:r>
              <a:rPr lang="en-GB" sz="1100">
                <a:solidFill>
                  <a:schemeClr val="accent1"/>
                </a:solidFill>
              </a:rPr>
              <a:t> </a:t>
            </a:r>
            <a:endParaRPr sz="1100">
              <a:solidFill>
                <a:schemeClr val="accent1"/>
              </a:solidFill>
            </a:endParaRPr>
          </a:p>
          <a:p>
            <a:pPr marL="457200" lvl="0" indent="-3048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For each inverter, generate clean sub‑DataFrames.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</a:endParaRPr>
          </a:p>
        </p:txBody>
      </p:sp>
      <p:sp>
        <p:nvSpPr>
          <p:cNvPr id="782" name="Google Shape;782;p75"/>
          <p:cNvSpPr/>
          <p:nvPr/>
        </p:nvSpPr>
        <p:spPr>
          <a:xfrm>
            <a:off x="5292135" y="2742712"/>
            <a:ext cx="1784100" cy="570600"/>
          </a:xfrm>
          <a:prstGeom prst="homePlate">
            <a:avLst>
              <a:gd name="adj" fmla="val 23910"/>
            </a:avLst>
          </a:prstGeom>
          <a:solidFill>
            <a:schemeClr val="accent1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FFFFFF"/>
                </a:solidFill>
              </a:rPr>
              <a:t>Feature Engineering</a:t>
            </a:r>
            <a:endParaRPr/>
          </a:p>
        </p:txBody>
      </p:sp>
      <p:sp>
        <p:nvSpPr>
          <p:cNvPr id="783" name="Google Shape;783;p75"/>
          <p:cNvSpPr/>
          <p:nvPr/>
        </p:nvSpPr>
        <p:spPr>
          <a:xfrm>
            <a:off x="5203960" y="3456831"/>
            <a:ext cx="1784100" cy="17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Compute power‑to‑irradiance ratios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Compute temperature difference 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Extract time features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</a:pPr>
            <a:r>
              <a:rPr lang="en-GB" sz="1100">
                <a:solidFill>
                  <a:schemeClr val="accent1"/>
                </a:solidFill>
              </a:rPr>
              <a:t>Normalize column naming with suffix</a:t>
            </a:r>
            <a:endParaRPr sz="1100">
              <a:solidFill>
                <a:schemeClr val="accent1"/>
              </a:solidFill>
            </a:endParaRPr>
          </a:p>
        </p:txBody>
      </p:sp>
      <p:grpSp>
        <p:nvGrpSpPr>
          <p:cNvPr id="784" name="Google Shape;784;p75"/>
          <p:cNvGrpSpPr/>
          <p:nvPr/>
        </p:nvGrpSpPr>
        <p:grpSpPr>
          <a:xfrm>
            <a:off x="2373425" y="2662325"/>
            <a:ext cx="2956125" cy="3446325"/>
            <a:chOff x="2070" y="1434"/>
            <a:chExt cx="1763" cy="1969"/>
          </a:xfrm>
        </p:grpSpPr>
        <p:cxnSp>
          <p:nvCxnSpPr>
            <p:cNvPr id="785" name="Google Shape;785;p75"/>
            <p:cNvCxnSpPr/>
            <p:nvPr/>
          </p:nvCxnSpPr>
          <p:spPr>
            <a:xfrm>
              <a:off x="2070" y="1434"/>
              <a:ext cx="0" cy="1800"/>
            </a:xfrm>
            <a:prstGeom prst="straightConnector1">
              <a:avLst/>
            </a:prstGeom>
            <a:noFill/>
            <a:ln w="28575" cap="flat" cmpd="sng">
              <a:solidFill>
                <a:srgbClr val="CCCCCC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786" name="Google Shape;786;p75"/>
            <p:cNvSpPr/>
            <p:nvPr/>
          </p:nvSpPr>
          <p:spPr>
            <a:xfrm>
              <a:off x="3533" y="3103"/>
              <a:ext cx="300" cy="3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28575" cap="flat" cmpd="sng">
              <a:solidFill>
                <a:srgbClr val="CCCCCC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7" name="Google Shape;787;p75"/>
          <p:cNvSpPr/>
          <p:nvPr/>
        </p:nvSpPr>
        <p:spPr>
          <a:xfrm>
            <a:off x="7552473" y="2742700"/>
            <a:ext cx="2250000" cy="570600"/>
          </a:xfrm>
          <a:prstGeom prst="homePlate">
            <a:avLst>
              <a:gd name="adj" fmla="val 23910"/>
            </a:avLst>
          </a:prstGeom>
          <a:solidFill>
            <a:schemeClr val="accent1"/>
          </a:solidFill>
          <a:ln w="9525" cap="flat" cmpd="sng">
            <a:solidFill>
              <a:srgbClr val="CCCC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FFFFFF"/>
                </a:solidFill>
              </a:rPr>
              <a:t>Forecasting (LSTM)</a:t>
            </a:r>
            <a:endParaRPr/>
          </a:p>
        </p:txBody>
      </p:sp>
      <p:sp>
        <p:nvSpPr>
          <p:cNvPr id="788" name="Google Shape;788;p75"/>
          <p:cNvSpPr/>
          <p:nvPr/>
        </p:nvSpPr>
        <p:spPr>
          <a:xfrm>
            <a:off x="7552473" y="3459450"/>
            <a:ext cx="2165700" cy="1752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Create sequences: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Train/validation/test split 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</a:rPr>
              <a:t>chronologically.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Normalize features: 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Model design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Training</a:t>
            </a:r>
            <a:endParaRPr sz="1100">
              <a:solidFill>
                <a:schemeClr val="accent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en-GB" sz="1100">
                <a:solidFill>
                  <a:schemeClr val="accent1"/>
                </a:solidFill>
              </a:rPr>
              <a:t>Evaluate</a:t>
            </a:r>
            <a:endParaRPr sz="1100">
              <a:solidFill>
                <a:schemeClr val="accent1"/>
              </a:solidFill>
            </a:endParaRPr>
          </a:p>
        </p:txBody>
      </p:sp>
      <p:grpSp>
        <p:nvGrpSpPr>
          <p:cNvPr id="789" name="Google Shape;789;p75"/>
          <p:cNvGrpSpPr/>
          <p:nvPr/>
        </p:nvGrpSpPr>
        <p:grpSpPr>
          <a:xfrm>
            <a:off x="2112925" y="2662325"/>
            <a:ext cx="2956125" cy="3446325"/>
            <a:chOff x="1915" y="1434"/>
            <a:chExt cx="1708" cy="1969"/>
          </a:xfrm>
        </p:grpSpPr>
        <p:cxnSp>
          <p:nvCxnSpPr>
            <p:cNvPr id="790" name="Google Shape;790;p75"/>
            <p:cNvCxnSpPr/>
            <p:nvPr/>
          </p:nvCxnSpPr>
          <p:spPr>
            <a:xfrm>
              <a:off x="3623" y="1434"/>
              <a:ext cx="0" cy="1800"/>
            </a:xfrm>
            <a:prstGeom prst="straightConnector1">
              <a:avLst/>
            </a:prstGeom>
            <a:noFill/>
            <a:ln w="28575" cap="flat" cmpd="sng">
              <a:solidFill>
                <a:srgbClr val="CCCCCC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791" name="Google Shape;791;p75"/>
            <p:cNvSpPr/>
            <p:nvPr/>
          </p:nvSpPr>
          <p:spPr>
            <a:xfrm>
              <a:off x="1915" y="3103"/>
              <a:ext cx="300" cy="3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28575" cap="flat" cmpd="sng">
              <a:solidFill>
                <a:srgbClr val="CCCCCC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92" name="Google Shape;792;p75"/>
          <p:cNvCxnSpPr/>
          <p:nvPr/>
        </p:nvCxnSpPr>
        <p:spPr>
          <a:xfrm>
            <a:off x="7383450" y="2659275"/>
            <a:ext cx="0" cy="31506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793" name="Google Shape;793;p75"/>
          <p:cNvSpPr/>
          <p:nvPr/>
        </p:nvSpPr>
        <p:spPr>
          <a:xfrm>
            <a:off x="7122950" y="5580512"/>
            <a:ext cx="519300" cy="5250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28575" cap="flat" cmpd="sng">
            <a:solidFill>
              <a:srgbClr val="CCCCC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75"/>
          <p:cNvSpPr/>
          <p:nvPr/>
        </p:nvSpPr>
        <p:spPr>
          <a:xfrm>
            <a:off x="9887200" y="3053025"/>
            <a:ext cx="2137500" cy="287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75"/>
          <p:cNvSpPr txBox="1">
            <a:spLocks noGrp="1"/>
          </p:cNvSpPr>
          <p:nvPr>
            <p:ph type="body" idx="1"/>
          </p:nvPr>
        </p:nvSpPr>
        <p:spPr>
          <a:xfrm>
            <a:off x="9971500" y="3575275"/>
            <a:ext cx="2439000" cy="5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1"/>
                </a:solidFill>
              </a:rPr>
              <a:t>Key Takeaway</a:t>
            </a:r>
            <a:endParaRPr sz="18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D85C6"/>
              </a:solidFill>
            </a:endParaRPr>
          </a:p>
        </p:txBody>
      </p:sp>
      <p:sp>
        <p:nvSpPr>
          <p:cNvPr id="796" name="Google Shape;796;p75"/>
          <p:cNvSpPr txBox="1"/>
          <p:nvPr/>
        </p:nvSpPr>
        <p:spPr>
          <a:xfrm>
            <a:off x="9759700" y="3888950"/>
            <a:ext cx="23925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-GB" sz="1100">
                <a:solidFill>
                  <a:schemeClr val="accent1"/>
                </a:solidFill>
              </a:rPr>
              <a:t>Built an </a:t>
            </a:r>
            <a:r>
              <a:rPr lang="en-GB" sz="1100" b="1">
                <a:solidFill>
                  <a:schemeClr val="accent1"/>
                </a:solidFill>
              </a:rPr>
              <a:t>end‑to‑end ML pipeline</a:t>
            </a:r>
            <a:r>
              <a:rPr lang="en-GB" sz="1100">
                <a:solidFill>
                  <a:schemeClr val="accent1"/>
                </a:solidFill>
              </a:rPr>
              <a:t> for PV plants.</a:t>
            </a:r>
            <a:endParaRPr sz="1100">
              <a:solidFill>
                <a:schemeClr val="accen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-GB" sz="1100" b="1">
                <a:solidFill>
                  <a:schemeClr val="accent1"/>
                </a:solidFill>
              </a:rPr>
              <a:t>Linear SVC</a:t>
            </a:r>
            <a:r>
              <a:rPr lang="en-GB" sz="1100">
                <a:solidFill>
                  <a:schemeClr val="accent1"/>
                </a:solidFill>
              </a:rPr>
              <a:t> → classifies </a:t>
            </a:r>
            <a:r>
              <a:rPr lang="en-GB" sz="1100" i="1">
                <a:solidFill>
                  <a:schemeClr val="accent1"/>
                </a:solidFill>
              </a:rPr>
              <a:t>Optimal vs Suboptimal</a:t>
            </a:r>
            <a:r>
              <a:rPr lang="en-GB" sz="1100">
                <a:solidFill>
                  <a:schemeClr val="accent1"/>
                </a:solidFill>
              </a:rPr>
              <a:t> operation.</a:t>
            </a:r>
            <a:endParaRPr sz="1100">
              <a:solidFill>
                <a:schemeClr val="accen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n-GB" sz="1100" b="1">
                <a:solidFill>
                  <a:schemeClr val="accent1"/>
                </a:solidFill>
              </a:rPr>
              <a:t>LSTM</a:t>
            </a:r>
            <a:r>
              <a:rPr lang="en-GB" sz="1100">
                <a:solidFill>
                  <a:schemeClr val="accent1"/>
                </a:solidFill>
              </a:rPr>
              <a:t> → forecasts </a:t>
            </a:r>
            <a:r>
              <a:rPr lang="en-GB" sz="1100" i="1">
                <a:solidFill>
                  <a:schemeClr val="accent1"/>
                </a:solidFill>
              </a:rPr>
              <a:t>AC/DC power</a:t>
            </a:r>
            <a:r>
              <a:rPr lang="en-GB" sz="1100">
                <a:solidFill>
                  <a:schemeClr val="accent1"/>
                </a:solidFill>
              </a:rPr>
              <a:t> 1 hour ahead.</a:t>
            </a:r>
            <a:endParaRPr sz="1100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2"/>
              </a:solidFill>
            </a:endParaRPr>
          </a:p>
        </p:txBody>
      </p:sp>
      <p:grpSp>
        <p:nvGrpSpPr>
          <p:cNvPr id="797" name="Google Shape;797;p75"/>
          <p:cNvGrpSpPr/>
          <p:nvPr/>
        </p:nvGrpSpPr>
        <p:grpSpPr>
          <a:xfrm>
            <a:off x="11450364" y="3108293"/>
            <a:ext cx="483011" cy="725406"/>
            <a:chOff x="7312025" y="1441450"/>
            <a:chExt cx="863599" cy="1296989"/>
          </a:xfrm>
        </p:grpSpPr>
        <p:sp>
          <p:nvSpPr>
            <p:cNvPr id="798" name="Google Shape;798;p75"/>
            <p:cNvSpPr/>
            <p:nvPr/>
          </p:nvSpPr>
          <p:spPr>
            <a:xfrm>
              <a:off x="7312025" y="1441450"/>
              <a:ext cx="863599" cy="1296989"/>
            </a:xfrm>
            <a:custGeom>
              <a:avLst/>
              <a:gdLst/>
              <a:ahLst/>
              <a:cxnLst/>
              <a:rect l="l" t="t" r="r" b="b"/>
              <a:pathLst>
                <a:path w="517" h="776" extrusionOk="0">
                  <a:moveTo>
                    <a:pt x="509" y="217"/>
                  </a:moveTo>
                  <a:cubicBezTo>
                    <a:pt x="505" y="192"/>
                    <a:pt x="498" y="167"/>
                    <a:pt x="486" y="145"/>
                  </a:cubicBezTo>
                  <a:cubicBezTo>
                    <a:pt x="438" y="52"/>
                    <a:pt x="360" y="5"/>
                    <a:pt x="256" y="0"/>
                  </a:cubicBezTo>
                  <a:cubicBezTo>
                    <a:pt x="238" y="0"/>
                    <a:pt x="221" y="2"/>
                    <a:pt x="203" y="6"/>
                  </a:cubicBezTo>
                  <a:cubicBezTo>
                    <a:pt x="91" y="30"/>
                    <a:pt x="12" y="124"/>
                    <a:pt x="2" y="229"/>
                  </a:cubicBezTo>
                  <a:cubicBezTo>
                    <a:pt x="0" y="248"/>
                    <a:pt x="0" y="266"/>
                    <a:pt x="2" y="285"/>
                  </a:cubicBezTo>
                  <a:cubicBezTo>
                    <a:pt x="6" y="324"/>
                    <a:pt x="20" y="361"/>
                    <a:pt x="41" y="394"/>
                  </a:cubicBezTo>
                  <a:cubicBezTo>
                    <a:pt x="59" y="422"/>
                    <a:pt x="81" y="446"/>
                    <a:pt x="109" y="466"/>
                  </a:cubicBezTo>
                  <a:cubicBezTo>
                    <a:pt x="110" y="467"/>
                    <a:pt x="112" y="469"/>
                    <a:pt x="112" y="471"/>
                  </a:cubicBezTo>
                  <a:cubicBezTo>
                    <a:pt x="116" y="493"/>
                    <a:pt x="118" y="516"/>
                    <a:pt x="122" y="538"/>
                  </a:cubicBezTo>
                  <a:cubicBezTo>
                    <a:pt x="123" y="546"/>
                    <a:pt x="125" y="554"/>
                    <a:pt x="127" y="563"/>
                  </a:cubicBezTo>
                  <a:cubicBezTo>
                    <a:pt x="127" y="564"/>
                    <a:pt x="127" y="567"/>
                    <a:pt x="126" y="568"/>
                  </a:cubicBezTo>
                  <a:cubicBezTo>
                    <a:pt x="122" y="580"/>
                    <a:pt x="122" y="591"/>
                    <a:pt x="125" y="603"/>
                  </a:cubicBezTo>
                  <a:cubicBezTo>
                    <a:pt x="126" y="604"/>
                    <a:pt x="126" y="606"/>
                    <a:pt x="125" y="608"/>
                  </a:cubicBezTo>
                  <a:cubicBezTo>
                    <a:pt x="122" y="619"/>
                    <a:pt x="122" y="629"/>
                    <a:pt x="125" y="640"/>
                  </a:cubicBezTo>
                  <a:cubicBezTo>
                    <a:pt x="126" y="641"/>
                    <a:pt x="126" y="643"/>
                    <a:pt x="125" y="645"/>
                  </a:cubicBezTo>
                  <a:cubicBezTo>
                    <a:pt x="116" y="673"/>
                    <a:pt x="132" y="702"/>
                    <a:pt x="162" y="710"/>
                  </a:cubicBezTo>
                  <a:cubicBezTo>
                    <a:pt x="164" y="710"/>
                    <a:pt x="165" y="711"/>
                    <a:pt x="165" y="714"/>
                  </a:cubicBezTo>
                  <a:cubicBezTo>
                    <a:pt x="167" y="725"/>
                    <a:pt x="173" y="735"/>
                    <a:pt x="182" y="743"/>
                  </a:cubicBezTo>
                  <a:cubicBezTo>
                    <a:pt x="224" y="776"/>
                    <a:pt x="289" y="776"/>
                    <a:pt x="330" y="743"/>
                  </a:cubicBezTo>
                  <a:cubicBezTo>
                    <a:pt x="340" y="735"/>
                    <a:pt x="346" y="725"/>
                    <a:pt x="347" y="713"/>
                  </a:cubicBezTo>
                  <a:cubicBezTo>
                    <a:pt x="348" y="711"/>
                    <a:pt x="348" y="710"/>
                    <a:pt x="351" y="710"/>
                  </a:cubicBezTo>
                  <a:cubicBezTo>
                    <a:pt x="380" y="702"/>
                    <a:pt x="396" y="674"/>
                    <a:pt x="387" y="645"/>
                  </a:cubicBezTo>
                  <a:cubicBezTo>
                    <a:pt x="387" y="643"/>
                    <a:pt x="387" y="641"/>
                    <a:pt x="387" y="639"/>
                  </a:cubicBezTo>
                  <a:cubicBezTo>
                    <a:pt x="390" y="629"/>
                    <a:pt x="390" y="619"/>
                    <a:pt x="387" y="608"/>
                  </a:cubicBezTo>
                  <a:cubicBezTo>
                    <a:pt x="387" y="606"/>
                    <a:pt x="387" y="604"/>
                    <a:pt x="387" y="603"/>
                  </a:cubicBezTo>
                  <a:cubicBezTo>
                    <a:pt x="389" y="596"/>
                    <a:pt x="390" y="588"/>
                    <a:pt x="389" y="581"/>
                  </a:cubicBezTo>
                  <a:cubicBezTo>
                    <a:pt x="388" y="576"/>
                    <a:pt x="385" y="571"/>
                    <a:pt x="385" y="565"/>
                  </a:cubicBezTo>
                  <a:cubicBezTo>
                    <a:pt x="385" y="560"/>
                    <a:pt x="388" y="555"/>
                    <a:pt x="389" y="550"/>
                  </a:cubicBezTo>
                  <a:cubicBezTo>
                    <a:pt x="393" y="524"/>
                    <a:pt x="396" y="498"/>
                    <a:pt x="400" y="472"/>
                  </a:cubicBezTo>
                  <a:cubicBezTo>
                    <a:pt x="400" y="469"/>
                    <a:pt x="402" y="467"/>
                    <a:pt x="404" y="465"/>
                  </a:cubicBezTo>
                  <a:cubicBezTo>
                    <a:pt x="439" y="440"/>
                    <a:pt x="467" y="408"/>
                    <a:pt x="486" y="369"/>
                  </a:cubicBezTo>
                  <a:cubicBezTo>
                    <a:pt x="509" y="321"/>
                    <a:pt x="517" y="270"/>
                    <a:pt x="509" y="217"/>
                  </a:cubicBezTo>
                  <a:close/>
                  <a:moveTo>
                    <a:pt x="170" y="611"/>
                  </a:moveTo>
                  <a:cubicBezTo>
                    <a:pt x="184" y="607"/>
                    <a:pt x="198" y="604"/>
                    <a:pt x="212" y="601"/>
                  </a:cubicBezTo>
                  <a:cubicBezTo>
                    <a:pt x="253" y="592"/>
                    <a:pt x="294" y="583"/>
                    <a:pt x="334" y="574"/>
                  </a:cubicBezTo>
                  <a:cubicBezTo>
                    <a:pt x="341" y="573"/>
                    <a:pt x="346" y="573"/>
                    <a:pt x="350" y="579"/>
                  </a:cubicBezTo>
                  <a:cubicBezTo>
                    <a:pt x="353" y="584"/>
                    <a:pt x="354" y="589"/>
                    <a:pt x="351" y="594"/>
                  </a:cubicBezTo>
                  <a:cubicBezTo>
                    <a:pt x="349" y="598"/>
                    <a:pt x="345" y="600"/>
                    <a:pt x="341" y="601"/>
                  </a:cubicBezTo>
                  <a:cubicBezTo>
                    <a:pt x="288" y="612"/>
                    <a:pt x="236" y="624"/>
                    <a:pt x="183" y="636"/>
                  </a:cubicBezTo>
                  <a:cubicBezTo>
                    <a:pt x="180" y="636"/>
                    <a:pt x="177" y="637"/>
                    <a:pt x="175" y="637"/>
                  </a:cubicBezTo>
                  <a:cubicBezTo>
                    <a:pt x="166" y="637"/>
                    <a:pt x="161" y="633"/>
                    <a:pt x="160" y="625"/>
                  </a:cubicBezTo>
                  <a:cubicBezTo>
                    <a:pt x="159" y="619"/>
                    <a:pt x="163" y="612"/>
                    <a:pt x="170" y="611"/>
                  </a:cubicBezTo>
                  <a:close/>
                  <a:moveTo>
                    <a:pt x="171" y="573"/>
                  </a:moveTo>
                  <a:cubicBezTo>
                    <a:pt x="172" y="573"/>
                    <a:pt x="173" y="573"/>
                    <a:pt x="174" y="573"/>
                  </a:cubicBezTo>
                  <a:cubicBezTo>
                    <a:pt x="213" y="573"/>
                    <a:pt x="251" y="573"/>
                    <a:pt x="289" y="573"/>
                  </a:cubicBezTo>
                  <a:cubicBezTo>
                    <a:pt x="290" y="573"/>
                    <a:pt x="290" y="573"/>
                    <a:pt x="291" y="573"/>
                  </a:cubicBezTo>
                  <a:cubicBezTo>
                    <a:pt x="291" y="574"/>
                    <a:pt x="291" y="574"/>
                    <a:pt x="291" y="574"/>
                  </a:cubicBezTo>
                  <a:cubicBezTo>
                    <a:pt x="265" y="580"/>
                    <a:pt x="239" y="586"/>
                    <a:pt x="214" y="591"/>
                  </a:cubicBezTo>
                  <a:cubicBezTo>
                    <a:pt x="201" y="594"/>
                    <a:pt x="188" y="597"/>
                    <a:pt x="176" y="600"/>
                  </a:cubicBezTo>
                  <a:cubicBezTo>
                    <a:pt x="168" y="602"/>
                    <a:pt x="161" y="596"/>
                    <a:pt x="160" y="589"/>
                  </a:cubicBezTo>
                  <a:cubicBezTo>
                    <a:pt x="159" y="582"/>
                    <a:pt x="164" y="574"/>
                    <a:pt x="171" y="573"/>
                  </a:cubicBezTo>
                  <a:close/>
                  <a:moveTo>
                    <a:pt x="177" y="674"/>
                  </a:moveTo>
                  <a:cubicBezTo>
                    <a:pt x="176" y="674"/>
                    <a:pt x="175" y="674"/>
                    <a:pt x="174" y="674"/>
                  </a:cubicBezTo>
                  <a:cubicBezTo>
                    <a:pt x="166" y="674"/>
                    <a:pt x="160" y="669"/>
                    <a:pt x="160" y="662"/>
                  </a:cubicBezTo>
                  <a:cubicBezTo>
                    <a:pt x="159" y="655"/>
                    <a:pt x="164" y="649"/>
                    <a:pt x="171" y="647"/>
                  </a:cubicBezTo>
                  <a:cubicBezTo>
                    <a:pt x="181" y="645"/>
                    <a:pt x="192" y="642"/>
                    <a:pt x="202" y="640"/>
                  </a:cubicBezTo>
                  <a:cubicBezTo>
                    <a:pt x="247" y="630"/>
                    <a:pt x="291" y="620"/>
                    <a:pt x="336" y="610"/>
                  </a:cubicBezTo>
                  <a:cubicBezTo>
                    <a:pt x="344" y="609"/>
                    <a:pt x="351" y="613"/>
                    <a:pt x="352" y="621"/>
                  </a:cubicBezTo>
                  <a:cubicBezTo>
                    <a:pt x="354" y="628"/>
                    <a:pt x="350" y="635"/>
                    <a:pt x="342" y="637"/>
                  </a:cubicBezTo>
                  <a:cubicBezTo>
                    <a:pt x="329" y="640"/>
                    <a:pt x="316" y="643"/>
                    <a:pt x="303" y="646"/>
                  </a:cubicBezTo>
                  <a:cubicBezTo>
                    <a:pt x="261" y="655"/>
                    <a:pt x="219" y="664"/>
                    <a:pt x="177" y="674"/>
                  </a:cubicBezTo>
                  <a:close/>
                  <a:moveTo>
                    <a:pt x="307" y="714"/>
                  </a:moveTo>
                  <a:cubicBezTo>
                    <a:pt x="292" y="725"/>
                    <a:pt x="275" y="731"/>
                    <a:pt x="256" y="731"/>
                  </a:cubicBezTo>
                  <a:cubicBezTo>
                    <a:pt x="237" y="731"/>
                    <a:pt x="220" y="725"/>
                    <a:pt x="205" y="714"/>
                  </a:cubicBezTo>
                  <a:cubicBezTo>
                    <a:pt x="201" y="711"/>
                    <a:pt x="200" y="705"/>
                    <a:pt x="203" y="701"/>
                  </a:cubicBezTo>
                  <a:cubicBezTo>
                    <a:pt x="205" y="697"/>
                    <a:pt x="211" y="696"/>
                    <a:pt x="215" y="699"/>
                  </a:cubicBezTo>
                  <a:cubicBezTo>
                    <a:pt x="222" y="702"/>
                    <a:pt x="229" y="707"/>
                    <a:pt x="237" y="709"/>
                  </a:cubicBezTo>
                  <a:cubicBezTo>
                    <a:pt x="255" y="715"/>
                    <a:pt x="272" y="713"/>
                    <a:pt x="288" y="704"/>
                  </a:cubicBezTo>
                  <a:cubicBezTo>
                    <a:pt x="291" y="703"/>
                    <a:pt x="294" y="701"/>
                    <a:pt x="297" y="699"/>
                  </a:cubicBezTo>
                  <a:cubicBezTo>
                    <a:pt x="302" y="696"/>
                    <a:pt x="307" y="697"/>
                    <a:pt x="310" y="702"/>
                  </a:cubicBezTo>
                  <a:cubicBezTo>
                    <a:pt x="313" y="706"/>
                    <a:pt x="311" y="712"/>
                    <a:pt x="307" y="714"/>
                  </a:cubicBezTo>
                  <a:close/>
                  <a:moveTo>
                    <a:pt x="350" y="669"/>
                  </a:moveTo>
                  <a:cubicBezTo>
                    <a:pt x="347" y="671"/>
                    <a:pt x="343" y="674"/>
                    <a:pt x="340" y="674"/>
                  </a:cubicBezTo>
                  <a:cubicBezTo>
                    <a:pt x="300" y="674"/>
                    <a:pt x="260" y="674"/>
                    <a:pt x="221" y="674"/>
                  </a:cubicBezTo>
                  <a:cubicBezTo>
                    <a:pt x="221" y="674"/>
                    <a:pt x="221" y="674"/>
                    <a:pt x="221" y="674"/>
                  </a:cubicBezTo>
                  <a:cubicBezTo>
                    <a:pt x="230" y="672"/>
                    <a:pt x="239" y="670"/>
                    <a:pt x="248" y="668"/>
                  </a:cubicBezTo>
                  <a:cubicBezTo>
                    <a:pt x="278" y="661"/>
                    <a:pt x="307" y="654"/>
                    <a:pt x="337" y="648"/>
                  </a:cubicBezTo>
                  <a:cubicBezTo>
                    <a:pt x="343" y="646"/>
                    <a:pt x="348" y="648"/>
                    <a:pt x="351" y="653"/>
                  </a:cubicBezTo>
                  <a:cubicBezTo>
                    <a:pt x="354" y="658"/>
                    <a:pt x="354" y="665"/>
                    <a:pt x="350" y="669"/>
                  </a:cubicBezTo>
                  <a:close/>
                  <a:moveTo>
                    <a:pt x="461" y="273"/>
                  </a:moveTo>
                  <a:cubicBezTo>
                    <a:pt x="454" y="344"/>
                    <a:pt x="419" y="398"/>
                    <a:pt x="358" y="435"/>
                  </a:cubicBezTo>
                  <a:cubicBezTo>
                    <a:pt x="355" y="437"/>
                    <a:pt x="354" y="439"/>
                    <a:pt x="353" y="442"/>
                  </a:cubicBezTo>
                  <a:cubicBezTo>
                    <a:pt x="349" y="472"/>
                    <a:pt x="345" y="503"/>
                    <a:pt x="340" y="533"/>
                  </a:cubicBezTo>
                  <a:cubicBezTo>
                    <a:pt x="340" y="537"/>
                    <a:pt x="339" y="540"/>
                    <a:pt x="339" y="544"/>
                  </a:cubicBezTo>
                  <a:cubicBezTo>
                    <a:pt x="326" y="544"/>
                    <a:pt x="313" y="544"/>
                    <a:pt x="300" y="544"/>
                  </a:cubicBezTo>
                  <a:cubicBezTo>
                    <a:pt x="300" y="544"/>
                    <a:pt x="300" y="543"/>
                    <a:pt x="300" y="543"/>
                  </a:cubicBezTo>
                  <a:cubicBezTo>
                    <a:pt x="277" y="543"/>
                    <a:pt x="277" y="543"/>
                    <a:pt x="277" y="543"/>
                  </a:cubicBezTo>
                  <a:cubicBezTo>
                    <a:pt x="277" y="543"/>
                    <a:pt x="277" y="543"/>
                    <a:pt x="277" y="543"/>
                  </a:cubicBezTo>
                  <a:cubicBezTo>
                    <a:pt x="263" y="543"/>
                    <a:pt x="250" y="543"/>
                    <a:pt x="235" y="543"/>
                  </a:cubicBezTo>
                  <a:cubicBezTo>
                    <a:pt x="235" y="543"/>
                    <a:pt x="235" y="543"/>
                    <a:pt x="235" y="543"/>
                  </a:cubicBezTo>
                  <a:cubicBezTo>
                    <a:pt x="213" y="543"/>
                    <a:pt x="213" y="543"/>
                    <a:pt x="213" y="543"/>
                  </a:cubicBezTo>
                  <a:cubicBezTo>
                    <a:pt x="206" y="543"/>
                    <a:pt x="200" y="543"/>
                    <a:pt x="194" y="543"/>
                  </a:cubicBezTo>
                  <a:cubicBezTo>
                    <a:pt x="187" y="543"/>
                    <a:pt x="180" y="543"/>
                    <a:pt x="173" y="543"/>
                  </a:cubicBezTo>
                  <a:cubicBezTo>
                    <a:pt x="172" y="531"/>
                    <a:pt x="170" y="519"/>
                    <a:pt x="168" y="507"/>
                  </a:cubicBezTo>
                  <a:cubicBezTo>
                    <a:pt x="165" y="485"/>
                    <a:pt x="162" y="463"/>
                    <a:pt x="159" y="440"/>
                  </a:cubicBezTo>
                  <a:cubicBezTo>
                    <a:pt x="159" y="438"/>
                    <a:pt x="158" y="437"/>
                    <a:pt x="156" y="435"/>
                  </a:cubicBezTo>
                  <a:cubicBezTo>
                    <a:pt x="102" y="404"/>
                    <a:pt x="67" y="358"/>
                    <a:pt x="55" y="297"/>
                  </a:cubicBezTo>
                  <a:cubicBezTo>
                    <a:pt x="42" y="230"/>
                    <a:pt x="59" y="170"/>
                    <a:pt x="104" y="119"/>
                  </a:cubicBezTo>
                  <a:cubicBezTo>
                    <a:pt x="126" y="94"/>
                    <a:pt x="153" y="76"/>
                    <a:pt x="184" y="64"/>
                  </a:cubicBezTo>
                  <a:cubicBezTo>
                    <a:pt x="203" y="57"/>
                    <a:pt x="223" y="53"/>
                    <a:pt x="243" y="51"/>
                  </a:cubicBezTo>
                  <a:cubicBezTo>
                    <a:pt x="266" y="50"/>
                    <a:pt x="289" y="52"/>
                    <a:pt x="311" y="58"/>
                  </a:cubicBezTo>
                  <a:cubicBezTo>
                    <a:pt x="369" y="75"/>
                    <a:pt x="413" y="111"/>
                    <a:pt x="440" y="165"/>
                  </a:cubicBezTo>
                  <a:cubicBezTo>
                    <a:pt x="457" y="199"/>
                    <a:pt x="465" y="235"/>
                    <a:pt x="461" y="273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70800" tIns="35400" rIns="70800" bIns="3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2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75"/>
            <p:cNvSpPr/>
            <p:nvPr/>
          </p:nvSpPr>
          <p:spPr>
            <a:xfrm>
              <a:off x="7570788" y="1887538"/>
              <a:ext cx="338138" cy="461963"/>
            </a:xfrm>
            <a:custGeom>
              <a:avLst/>
              <a:gdLst/>
              <a:ahLst/>
              <a:cxnLst/>
              <a:rect l="l" t="t" r="r" b="b"/>
              <a:pathLst>
                <a:path w="202" h="276" extrusionOk="0">
                  <a:moveTo>
                    <a:pt x="150" y="156"/>
                  </a:moveTo>
                  <a:cubicBezTo>
                    <a:pt x="150" y="152"/>
                    <a:pt x="151" y="147"/>
                    <a:pt x="153" y="142"/>
                  </a:cubicBezTo>
                  <a:cubicBezTo>
                    <a:pt x="168" y="100"/>
                    <a:pt x="184" y="59"/>
                    <a:pt x="199" y="17"/>
                  </a:cubicBezTo>
                  <a:cubicBezTo>
                    <a:pt x="202" y="11"/>
                    <a:pt x="199" y="4"/>
                    <a:pt x="193" y="2"/>
                  </a:cubicBezTo>
                  <a:cubicBezTo>
                    <a:pt x="187" y="0"/>
                    <a:pt x="180" y="2"/>
                    <a:pt x="178" y="9"/>
                  </a:cubicBezTo>
                  <a:cubicBezTo>
                    <a:pt x="175" y="16"/>
                    <a:pt x="172" y="24"/>
                    <a:pt x="169" y="31"/>
                  </a:cubicBezTo>
                  <a:cubicBezTo>
                    <a:pt x="166" y="31"/>
                    <a:pt x="164" y="29"/>
                    <a:pt x="163" y="25"/>
                  </a:cubicBezTo>
                  <a:cubicBezTo>
                    <a:pt x="163" y="20"/>
                    <a:pt x="160" y="18"/>
                    <a:pt x="156" y="18"/>
                  </a:cubicBezTo>
                  <a:cubicBezTo>
                    <a:pt x="153" y="18"/>
                    <a:pt x="150" y="20"/>
                    <a:pt x="150" y="25"/>
                  </a:cubicBezTo>
                  <a:cubicBezTo>
                    <a:pt x="149" y="29"/>
                    <a:pt x="146" y="31"/>
                    <a:pt x="143" y="32"/>
                  </a:cubicBezTo>
                  <a:cubicBezTo>
                    <a:pt x="139" y="32"/>
                    <a:pt x="137" y="29"/>
                    <a:pt x="136" y="25"/>
                  </a:cubicBezTo>
                  <a:cubicBezTo>
                    <a:pt x="135" y="20"/>
                    <a:pt x="132" y="18"/>
                    <a:pt x="129" y="18"/>
                  </a:cubicBezTo>
                  <a:cubicBezTo>
                    <a:pt x="125" y="18"/>
                    <a:pt x="123" y="20"/>
                    <a:pt x="122" y="24"/>
                  </a:cubicBezTo>
                  <a:cubicBezTo>
                    <a:pt x="121" y="29"/>
                    <a:pt x="119" y="31"/>
                    <a:pt x="115" y="32"/>
                  </a:cubicBezTo>
                  <a:cubicBezTo>
                    <a:pt x="111" y="32"/>
                    <a:pt x="109" y="29"/>
                    <a:pt x="108" y="25"/>
                  </a:cubicBezTo>
                  <a:cubicBezTo>
                    <a:pt x="107" y="20"/>
                    <a:pt x="105" y="18"/>
                    <a:pt x="101" y="18"/>
                  </a:cubicBezTo>
                  <a:cubicBezTo>
                    <a:pt x="98" y="18"/>
                    <a:pt x="95" y="20"/>
                    <a:pt x="94" y="25"/>
                  </a:cubicBezTo>
                  <a:cubicBezTo>
                    <a:pt x="93" y="29"/>
                    <a:pt x="91" y="32"/>
                    <a:pt x="87" y="32"/>
                  </a:cubicBezTo>
                  <a:cubicBezTo>
                    <a:pt x="84" y="31"/>
                    <a:pt x="81" y="29"/>
                    <a:pt x="80" y="25"/>
                  </a:cubicBezTo>
                  <a:cubicBezTo>
                    <a:pt x="80" y="20"/>
                    <a:pt x="77" y="18"/>
                    <a:pt x="74" y="18"/>
                  </a:cubicBezTo>
                  <a:cubicBezTo>
                    <a:pt x="70" y="18"/>
                    <a:pt x="67" y="20"/>
                    <a:pt x="67" y="25"/>
                  </a:cubicBezTo>
                  <a:cubicBezTo>
                    <a:pt x="66" y="29"/>
                    <a:pt x="64" y="31"/>
                    <a:pt x="60" y="32"/>
                  </a:cubicBezTo>
                  <a:cubicBezTo>
                    <a:pt x="56" y="32"/>
                    <a:pt x="54" y="29"/>
                    <a:pt x="53" y="25"/>
                  </a:cubicBezTo>
                  <a:cubicBezTo>
                    <a:pt x="52" y="20"/>
                    <a:pt x="50" y="18"/>
                    <a:pt x="46" y="18"/>
                  </a:cubicBezTo>
                  <a:cubicBezTo>
                    <a:pt x="42" y="18"/>
                    <a:pt x="40" y="20"/>
                    <a:pt x="39" y="25"/>
                  </a:cubicBezTo>
                  <a:cubicBezTo>
                    <a:pt x="39" y="28"/>
                    <a:pt x="37" y="30"/>
                    <a:pt x="33" y="31"/>
                  </a:cubicBezTo>
                  <a:cubicBezTo>
                    <a:pt x="31" y="24"/>
                    <a:pt x="28" y="17"/>
                    <a:pt x="25" y="10"/>
                  </a:cubicBezTo>
                  <a:cubicBezTo>
                    <a:pt x="24" y="6"/>
                    <a:pt x="21" y="2"/>
                    <a:pt x="16" y="1"/>
                  </a:cubicBezTo>
                  <a:cubicBezTo>
                    <a:pt x="7" y="0"/>
                    <a:pt x="0" y="8"/>
                    <a:pt x="3" y="17"/>
                  </a:cubicBezTo>
                  <a:cubicBezTo>
                    <a:pt x="15" y="47"/>
                    <a:pt x="26" y="78"/>
                    <a:pt x="38" y="109"/>
                  </a:cubicBezTo>
                  <a:cubicBezTo>
                    <a:pt x="43" y="122"/>
                    <a:pt x="48" y="134"/>
                    <a:pt x="52" y="147"/>
                  </a:cubicBezTo>
                  <a:cubicBezTo>
                    <a:pt x="54" y="153"/>
                    <a:pt x="53" y="160"/>
                    <a:pt x="53" y="166"/>
                  </a:cubicBezTo>
                  <a:cubicBezTo>
                    <a:pt x="54" y="201"/>
                    <a:pt x="56" y="235"/>
                    <a:pt x="57" y="270"/>
                  </a:cubicBezTo>
                  <a:cubicBezTo>
                    <a:pt x="57" y="272"/>
                    <a:pt x="57" y="274"/>
                    <a:pt x="58" y="276"/>
                  </a:cubicBezTo>
                  <a:cubicBezTo>
                    <a:pt x="80" y="276"/>
                    <a:pt x="80" y="276"/>
                    <a:pt x="80" y="276"/>
                  </a:cubicBezTo>
                  <a:cubicBezTo>
                    <a:pt x="80" y="263"/>
                    <a:pt x="79" y="250"/>
                    <a:pt x="79" y="237"/>
                  </a:cubicBezTo>
                  <a:cubicBezTo>
                    <a:pt x="78" y="207"/>
                    <a:pt x="77" y="177"/>
                    <a:pt x="75" y="147"/>
                  </a:cubicBezTo>
                  <a:cubicBezTo>
                    <a:pt x="75" y="140"/>
                    <a:pt x="71" y="133"/>
                    <a:pt x="69" y="127"/>
                  </a:cubicBezTo>
                  <a:cubicBezTo>
                    <a:pt x="61" y="105"/>
                    <a:pt x="53" y="84"/>
                    <a:pt x="45" y="62"/>
                  </a:cubicBezTo>
                  <a:cubicBezTo>
                    <a:pt x="43" y="57"/>
                    <a:pt x="40" y="51"/>
                    <a:pt x="38" y="45"/>
                  </a:cubicBezTo>
                  <a:cubicBezTo>
                    <a:pt x="41" y="43"/>
                    <a:pt x="43" y="42"/>
                    <a:pt x="46" y="40"/>
                  </a:cubicBezTo>
                  <a:cubicBezTo>
                    <a:pt x="55" y="47"/>
                    <a:pt x="64" y="47"/>
                    <a:pt x="74" y="40"/>
                  </a:cubicBezTo>
                  <a:cubicBezTo>
                    <a:pt x="84" y="47"/>
                    <a:pt x="90" y="47"/>
                    <a:pt x="101" y="40"/>
                  </a:cubicBezTo>
                  <a:cubicBezTo>
                    <a:pt x="110" y="47"/>
                    <a:pt x="120" y="47"/>
                    <a:pt x="129" y="40"/>
                  </a:cubicBezTo>
                  <a:cubicBezTo>
                    <a:pt x="138" y="47"/>
                    <a:pt x="147" y="47"/>
                    <a:pt x="156" y="40"/>
                  </a:cubicBezTo>
                  <a:cubicBezTo>
                    <a:pt x="159" y="42"/>
                    <a:pt x="161" y="43"/>
                    <a:pt x="164" y="45"/>
                  </a:cubicBezTo>
                  <a:cubicBezTo>
                    <a:pt x="161" y="52"/>
                    <a:pt x="159" y="60"/>
                    <a:pt x="156" y="68"/>
                  </a:cubicBezTo>
                  <a:cubicBezTo>
                    <a:pt x="147" y="92"/>
                    <a:pt x="137" y="115"/>
                    <a:pt x="129" y="140"/>
                  </a:cubicBezTo>
                  <a:cubicBezTo>
                    <a:pt x="127" y="147"/>
                    <a:pt x="127" y="155"/>
                    <a:pt x="126" y="163"/>
                  </a:cubicBezTo>
                  <a:cubicBezTo>
                    <a:pt x="125" y="200"/>
                    <a:pt x="124" y="237"/>
                    <a:pt x="122" y="274"/>
                  </a:cubicBezTo>
                  <a:cubicBezTo>
                    <a:pt x="122" y="275"/>
                    <a:pt x="122" y="276"/>
                    <a:pt x="122" y="276"/>
                  </a:cubicBezTo>
                  <a:cubicBezTo>
                    <a:pt x="145" y="276"/>
                    <a:pt x="145" y="276"/>
                    <a:pt x="145" y="276"/>
                  </a:cubicBezTo>
                  <a:cubicBezTo>
                    <a:pt x="146" y="262"/>
                    <a:pt x="146" y="248"/>
                    <a:pt x="147" y="234"/>
                  </a:cubicBezTo>
                  <a:cubicBezTo>
                    <a:pt x="148" y="208"/>
                    <a:pt x="149" y="182"/>
                    <a:pt x="150" y="156"/>
                  </a:cubicBez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  <p:txBody>
            <a:bodyPr spcFirstLastPara="1" wrap="square" lIns="70800" tIns="35400" rIns="70800" bIns="354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2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6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6 Results</a:t>
            </a:r>
            <a:endParaRPr/>
          </a:p>
        </p:txBody>
      </p:sp>
      <p:sp>
        <p:nvSpPr>
          <p:cNvPr id="806" name="Google Shape;806;p76"/>
          <p:cNvSpPr txBox="1">
            <a:spLocks noGrp="1"/>
          </p:cNvSpPr>
          <p:nvPr>
            <p:ph type="body" idx="1"/>
          </p:nvPr>
        </p:nvSpPr>
        <p:spPr>
          <a:xfrm>
            <a:off x="405150" y="778475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AutoNum type="arabicPeriod"/>
            </a:pPr>
            <a:r>
              <a:rPr lang="en-GB" sz="3000" b="1">
                <a:solidFill>
                  <a:schemeClr val="accent1"/>
                </a:solidFill>
              </a:rPr>
              <a:t>Classification (Linear SVC)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76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graphicFrame>
        <p:nvGraphicFramePr>
          <p:cNvPr id="808" name="Google Shape;808;p76"/>
          <p:cNvGraphicFramePr/>
          <p:nvPr/>
        </p:nvGraphicFramePr>
        <p:xfrm>
          <a:off x="327025" y="122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{D77B59BE-8660-47C7-AB46-ABBF453CBB0B}</a:tableStyleId>
              </a:tblPr>
              <a:tblGrid>
                <a:gridCol w="68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9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Plant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Optimal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Suboptimal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Threshold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PR‑AUC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Accuracy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F1 (Suboptimal)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Remarks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accent1"/>
                          </a:solidFill>
                        </a:rPr>
                        <a:t>Plant 1</a:t>
                      </a:r>
                      <a:endParaRPr sz="1100" b="1"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7 656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38 024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0.0065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1.0000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99.0 %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0.994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Excellent separation; almost perfect recall (1.0)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accent1"/>
                          </a:solidFill>
                        </a:rPr>
                        <a:t>Plant 2</a:t>
                      </a:r>
                      <a:endParaRPr sz="1100" b="1"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7 414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60 284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0.7671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0.9987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96.0 %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0.978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Very high precision/recall; mild false positives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9" name="Google Shape;809;p76"/>
          <p:cNvSpPr/>
          <p:nvPr/>
        </p:nvSpPr>
        <p:spPr>
          <a:xfrm>
            <a:off x="327025" y="2517850"/>
            <a:ext cx="9716400" cy="81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76"/>
          <p:cNvSpPr txBox="1">
            <a:spLocks noGrp="1"/>
          </p:cNvSpPr>
          <p:nvPr>
            <p:ph type="body" idx="1"/>
          </p:nvPr>
        </p:nvSpPr>
        <p:spPr>
          <a:xfrm>
            <a:off x="405155" y="2585762"/>
            <a:ext cx="4567200" cy="5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1"/>
                </a:solidFill>
              </a:rPr>
              <a:t>Key Takeaway</a:t>
            </a:r>
            <a:endParaRPr sz="18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D85C6"/>
              </a:solidFill>
            </a:endParaRPr>
          </a:p>
        </p:txBody>
      </p:sp>
      <p:sp>
        <p:nvSpPr>
          <p:cNvPr id="811" name="Google Shape;811;p76"/>
          <p:cNvSpPr txBox="1"/>
          <p:nvPr/>
        </p:nvSpPr>
        <p:spPr>
          <a:xfrm>
            <a:off x="405153" y="2912538"/>
            <a:ext cx="10686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-GB" sz="1100">
                <a:solidFill>
                  <a:schemeClr val="dk2"/>
                </a:solidFill>
              </a:rPr>
              <a:t>Both plants show exceptional classifier performance, reliably identifying suboptimal operation with nearly perfect PR‑AUC and F1 scores.</a:t>
            </a:r>
            <a:endParaRPr sz="1100">
              <a:solidFill>
                <a:schemeClr val="dk2"/>
              </a:solidFill>
            </a:endParaRPr>
          </a:p>
        </p:txBody>
      </p:sp>
      <p:grpSp>
        <p:nvGrpSpPr>
          <p:cNvPr id="812" name="Google Shape;812;p76"/>
          <p:cNvGrpSpPr/>
          <p:nvPr/>
        </p:nvGrpSpPr>
        <p:grpSpPr>
          <a:xfrm>
            <a:off x="9492636" y="2608374"/>
            <a:ext cx="445272" cy="668857"/>
            <a:chOff x="7312025" y="1779583"/>
            <a:chExt cx="863599" cy="1296989"/>
          </a:xfrm>
        </p:grpSpPr>
        <p:sp>
          <p:nvSpPr>
            <p:cNvPr id="813" name="Google Shape;813;p76"/>
            <p:cNvSpPr/>
            <p:nvPr/>
          </p:nvSpPr>
          <p:spPr>
            <a:xfrm>
              <a:off x="7312025" y="1779583"/>
              <a:ext cx="863599" cy="1296989"/>
            </a:xfrm>
            <a:custGeom>
              <a:avLst/>
              <a:gdLst/>
              <a:ahLst/>
              <a:cxnLst/>
              <a:rect l="l" t="t" r="r" b="b"/>
              <a:pathLst>
                <a:path w="517" h="776" extrusionOk="0">
                  <a:moveTo>
                    <a:pt x="509" y="217"/>
                  </a:moveTo>
                  <a:cubicBezTo>
                    <a:pt x="505" y="192"/>
                    <a:pt x="498" y="167"/>
                    <a:pt x="486" y="145"/>
                  </a:cubicBezTo>
                  <a:cubicBezTo>
                    <a:pt x="438" y="52"/>
                    <a:pt x="360" y="5"/>
                    <a:pt x="256" y="0"/>
                  </a:cubicBezTo>
                  <a:cubicBezTo>
                    <a:pt x="238" y="0"/>
                    <a:pt x="221" y="2"/>
                    <a:pt x="203" y="6"/>
                  </a:cubicBezTo>
                  <a:cubicBezTo>
                    <a:pt x="91" y="30"/>
                    <a:pt x="12" y="124"/>
                    <a:pt x="2" y="229"/>
                  </a:cubicBezTo>
                  <a:cubicBezTo>
                    <a:pt x="0" y="248"/>
                    <a:pt x="0" y="266"/>
                    <a:pt x="2" y="285"/>
                  </a:cubicBezTo>
                  <a:cubicBezTo>
                    <a:pt x="6" y="324"/>
                    <a:pt x="20" y="361"/>
                    <a:pt x="41" y="394"/>
                  </a:cubicBezTo>
                  <a:cubicBezTo>
                    <a:pt x="59" y="422"/>
                    <a:pt x="81" y="446"/>
                    <a:pt x="109" y="466"/>
                  </a:cubicBezTo>
                  <a:cubicBezTo>
                    <a:pt x="110" y="467"/>
                    <a:pt x="112" y="469"/>
                    <a:pt x="112" y="471"/>
                  </a:cubicBezTo>
                  <a:cubicBezTo>
                    <a:pt x="116" y="493"/>
                    <a:pt x="118" y="516"/>
                    <a:pt x="122" y="538"/>
                  </a:cubicBezTo>
                  <a:cubicBezTo>
                    <a:pt x="123" y="546"/>
                    <a:pt x="125" y="554"/>
                    <a:pt x="127" y="563"/>
                  </a:cubicBezTo>
                  <a:cubicBezTo>
                    <a:pt x="127" y="564"/>
                    <a:pt x="127" y="567"/>
                    <a:pt x="126" y="568"/>
                  </a:cubicBezTo>
                  <a:cubicBezTo>
                    <a:pt x="122" y="580"/>
                    <a:pt x="122" y="591"/>
                    <a:pt x="125" y="603"/>
                  </a:cubicBezTo>
                  <a:cubicBezTo>
                    <a:pt x="126" y="604"/>
                    <a:pt x="126" y="606"/>
                    <a:pt x="125" y="608"/>
                  </a:cubicBezTo>
                  <a:cubicBezTo>
                    <a:pt x="122" y="619"/>
                    <a:pt x="122" y="629"/>
                    <a:pt x="125" y="640"/>
                  </a:cubicBezTo>
                  <a:cubicBezTo>
                    <a:pt x="126" y="641"/>
                    <a:pt x="126" y="643"/>
                    <a:pt x="125" y="645"/>
                  </a:cubicBezTo>
                  <a:cubicBezTo>
                    <a:pt x="116" y="673"/>
                    <a:pt x="132" y="702"/>
                    <a:pt x="162" y="710"/>
                  </a:cubicBezTo>
                  <a:cubicBezTo>
                    <a:pt x="164" y="710"/>
                    <a:pt x="165" y="711"/>
                    <a:pt x="165" y="714"/>
                  </a:cubicBezTo>
                  <a:cubicBezTo>
                    <a:pt x="167" y="725"/>
                    <a:pt x="173" y="735"/>
                    <a:pt x="182" y="743"/>
                  </a:cubicBezTo>
                  <a:cubicBezTo>
                    <a:pt x="224" y="776"/>
                    <a:pt x="289" y="776"/>
                    <a:pt x="330" y="743"/>
                  </a:cubicBezTo>
                  <a:cubicBezTo>
                    <a:pt x="340" y="735"/>
                    <a:pt x="346" y="725"/>
                    <a:pt x="347" y="713"/>
                  </a:cubicBezTo>
                  <a:cubicBezTo>
                    <a:pt x="348" y="711"/>
                    <a:pt x="348" y="710"/>
                    <a:pt x="351" y="710"/>
                  </a:cubicBezTo>
                  <a:cubicBezTo>
                    <a:pt x="380" y="702"/>
                    <a:pt x="396" y="674"/>
                    <a:pt x="387" y="645"/>
                  </a:cubicBezTo>
                  <a:cubicBezTo>
                    <a:pt x="387" y="643"/>
                    <a:pt x="387" y="641"/>
                    <a:pt x="387" y="639"/>
                  </a:cubicBezTo>
                  <a:cubicBezTo>
                    <a:pt x="390" y="629"/>
                    <a:pt x="390" y="619"/>
                    <a:pt x="387" y="608"/>
                  </a:cubicBezTo>
                  <a:cubicBezTo>
                    <a:pt x="387" y="606"/>
                    <a:pt x="387" y="604"/>
                    <a:pt x="387" y="603"/>
                  </a:cubicBezTo>
                  <a:cubicBezTo>
                    <a:pt x="389" y="596"/>
                    <a:pt x="390" y="588"/>
                    <a:pt x="389" y="581"/>
                  </a:cubicBezTo>
                  <a:cubicBezTo>
                    <a:pt x="388" y="576"/>
                    <a:pt x="385" y="571"/>
                    <a:pt x="385" y="565"/>
                  </a:cubicBezTo>
                  <a:cubicBezTo>
                    <a:pt x="385" y="560"/>
                    <a:pt x="388" y="555"/>
                    <a:pt x="389" y="550"/>
                  </a:cubicBezTo>
                  <a:cubicBezTo>
                    <a:pt x="393" y="524"/>
                    <a:pt x="396" y="498"/>
                    <a:pt x="400" y="472"/>
                  </a:cubicBezTo>
                  <a:cubicBezTo>
                    <a:pt x="400" y="469"/>
                    <a:pt x="402" y="467"/>
                    <a:pt x="404" y="465"/>
                  </a:cubicBezTo>
                  <a:cubicBezTo>
                    <a:pt x="439" y="440"/>
                    <a:pt x="467" y="408"/>
                    <a:pt x="486" y="369"/>
                  </a:cubicBezTo>
                  <a:cubicBezTo>
                    <a:pt x="509" y="321"/>
                    <a:pt x="517" y="270"/>
                    <a:pt x="509" y="217"/>
                  </a:cubicBezTo>
                  <a:close/>
                  <a:moveTo>
                    <a:pt x="170" y="611"/>
                  </a:moveTo>
                  <a:cubicBezTo>
                    <a:pt x="184" y="607"/>
                    <a:pt x="198" y="604"/>
                    <a:pt x="212" y="601"/>
                  </a:cubicBezTo>
                  <a:cubicBezTo>
                    <a:pt x="253" y="592"/>
                    <a:pt x="294" y="583"/>
                    <a:pt x="334" y="574"/>
                  </a:cubicBezTo>
                  <a:cubicBezTo>
                    <a:pt x="341" y="573"/>
                    <a:pt x="346" y="573"/>
                    <a:pt x="350" y="579"/>
                  </a:cubicBezTo>
                  <a:cubicBezTo>
                    <a:pt x="353" y="584"/>
                    <a:pt x="354" y="589"/>
                    <a:pt x="351" y="594"/>
                  </a:cubicBezTo>
                  <a:cubicBezTo>
                    <a:pt x="349" y="598"/>
                    <a:pt x="345" y="600"/>
                    <a:pt x="341" y="601"/>
                  </a:cubicBezTo>
                  <a:cubicBezTo>
                    <a:pt x="288" y="612"/>
                    <a:pt x="236" y="624"/>
                    <a:pt x="183" y="636"/>
                  </a:cubicBezTo>
                  <a:cubicBezTo>
                    <a:pt x="180" y="636"/>
                    <a:pt x="177" y="637"/>
                    <a:pt x="175" y="637"/>
                  </a:cubicBezTo>
                  <a:cubicBezTo>
                    <a:pt x="166" y="637"/>
                    <a:pt x="161" y="633"/>
                    <a:pt x="160" y="625"/>
                  </a:cubicBezTo>
                  <a:cubicBezTo>
                    <a:pt x="159" y="619"/>
                    <a:pt x="163" y="612"/>
                    <a:pt x="170" y="611"/>
                  </a:cubicBezTo>
                  <a:close/>
                  <a:moveTo>
                    <a:pt x="171" y="573"/>
                  </a:moveTo>
                  <a:cubicBezTo>
                    <a:pt x="172" y="573"/>
                    <a:pt x="173" y="573"/>
                    <a:pt x="174" y="573"/>
                  </a:cubicBezTo>
                  <a:cubicBezTo>
                    <a:pt x="213" y="573"/>
                    <a:pt x="251" y="573"/>
                    <a:pt x="289" y="573"/>
                  </a:cubicBezTo>
                  <a:cubicBezTo>
                    <a:pt x="290" y="573"/>
                    <a:pt x="290" y="573"/>
                    <a:pt x="291" y="573"/>
                  </a:cubicBezTo>
                  <a:cubicBezTo>
                    <a:pt x="291" y="574"/>
                    <a:pt x="291" y="574"/>
                    <a:pt x="291" y="574"/>
                  </a:cubicBezTo>
                  <a:cubicBezTo>
                    <a:pt x="265" y="580"/>
                    <a:pt x="239" y="586"/>
                    <a:pt x="214" y="591"/>
                  </a:cubicBezTo>
                  <a:cubicBezTo>
                    <a:pt x="201" y="594"/>
                    <a:pt x="188" y="597"/>
                    <a:pt x="176" y="600"/>
                  </a:cubicBezTo>
                  <a:cubicBezTo>
                    <a:pt x="168" y="602"/>
                    <a:pt x="161" y="596"/>
                    <a:pt x="160" y="589"/>
                  </a:cubicBezTo>
                  <a:cubicBezTo>
                    <a:pt x="159" y="582"/>
                    <a:pt x="164" y="574"/>
                    <a:pt x="171" y="573"/>
                  </a:cubicBezTo>
                  <a:close/>
                  <a:moveTo>
                    <a:pt x="177" y="674"/>
                  </a:moveTo>
                  <a:cubicBezTo>
                    <a:pt x="176" y="674"/>
                    <a:pt x="175" y="674"/>
                    <a:pt x="174" y="674"/>
                  </a:cubicBezTo>
                  <a:cubicBezTo>
                    <a:pt x="166" y="674"/>
                    <a:pt x="160" y="669"/>
                    <a:pt x="160" y="662"/>
                  </a:cubicBezTo>
                  <a:cubicBezTo>
                    <a:pt x="159" y="655"/>
                    <a:pt x="164" y="649"/>
                    <a:pt x="171" y="647"/>
                  </a:cubicBezTo>
                  <a:cubicBezTo>
                    <a:pt x="181" y="645"/>
                    <a:pt x="192" y="642"/>
                    <a:pt x="202" y="640"/>
                  </a:cubicBezTo>
                  <a:cubicBezTo>
                    <a:pt x="247" y="630"/>
                    <a:pt x="291" y="620"/>
                    <a:pt x="336" y="610"/>
                  </a:cubicBezTo>
                  <a:cubicBezTo>
                    <a:pt x="344" y="609"/>
                    <a:pt x="351" y="613"/>
                    <a:pt x="352" y="621"/>
                  </a:cubicBezTo>
                  <a:cubicBezTo>
                    <a:pt x="354" y="628"/>
                    <a:pt x="350" y="635"/>
                    <a:pt x="342" y="637"/>
                  </a:cubicBezTo>
                  <a:cubicBezTo>
                    <a:pt x="329" y="640"/>
                    <a:pt x="316" y="643"/>
                    <a:pt x="303" y="646"/>
                  </a:cubicBezTo>
                  <a:cubicBezTo>
                    <a:pt x="261" y="655"/>
                    <a:pt x="219" y="664"/>
                    <a:pt x="177" y="674"/>
                  </a:cubicBezTo>
                  <a:close/>
                  <a:moveTo>
                    <a:pt x="307" y="714"/>
                  </a:moveTo>
                  <a:cubicBezTo>
                    <a:pt x="292" y="725"/>
                    <a:pt x="275" y="731"/>
                    <a:pt x="256" y="731"/>
                  </a:cubicBezTo>
                  <a:cubicBezTo>
                    <a:pt x="237" y="731"/>
                    <a:pt x="220" y="725"/>
                    <a:pt x="205" y="714"/>
                  </a:cubicBezTo>
                  <a:cubicBezTo>
                    <a:pt x="201" y="711"/>
                    <a:pt x="200" y="705"/>
                    <a:pt x="203" y="701"/>
                  </a:cubicBezTo>
                  <a:cubicBezTo>
                    <a:pt x="205" y="697"/>
                    <a:pt x="211" y="696"/>
                    <a:pt x="215" y="699"/>
                  </a:cubicBezTo>
                  <a:cubicBezTo>
                    <a:pt x="222" y="702"/>
                    <a:pt x="229" y="707"/>
                    <a:pt x="237" y="709"/>
                  </a:cubicBezTo>
                  <a:cubicBezTo>
                    <a:pt x="255" y="715"/>
                    <a:pt x="272" y="713"/>
                    <a:pt x="288" y="704"/>
                  </a:cubicBezTo>
                  <a:cubicBezTo>
                    <a:pt x="291" y="703"/>
                    <a:pt x="294" y="701"/>
                    <a:pt x="297" y="699"/>
                  </a:cubicBezTo>
                  <a:cubicBezTo>
                    <a:pt x="302" y="696"/>
                    <a:pt x="307" y="697"/>
                    <a:pt x="310" y="702"/>
                  </a:cubicBezTo>
                  <a:cubicBezTo>
                    <a:pt x="313" y="706"/>
                    <a:pt x="311" y="712"/>
                    <a:pt x="307" y="714"/>
                  </a:cubicBezTo>
                  <a:close/>
                  <a:moveTo>
                    <a:pt x="350" y="669"/>
                  </a:moveTo>
                  <a:cubicBezTo>
                    <a:pt x="347" y="671"/>
                    <a:pt x="343" y="674"/>
                    <a:pt x="340" y="674"/>
                  </a:cubicBezTo>
                  <a:cubicBezTo>
                    <a:pt x="300" y="674"/>
                    <a:pt x="260" y="674"/>
                    <a:pt x="221" y="674"/>
                  </a:cubicBezTo>
                  <a:cubicBezTo>
                    <a:pt x="221" y="674"/>
                    <a:pt x="221" y="674"/>
                    <a:pt x="221" y="674"/>
                  </a:cubicBezTo>
                  <a:cubicBezTo>
                    <a:pt x="230" y="672"/>
                    <a:pt x="239" y="670"/>
                    <a:pt x="248" y="668"/>
                  </a:cubicBezTo>
                  <a:cubicBezTo>
                    <a:pt x="278" y="661"/>
                    <a:pt x="307" y="654"/>
                    <a:pt x="337" y="648"/>
                  </a:cubicBezTo>
                  <a:cubicBezTo>
                    <a:pt x="343" y="646"/>
                    <a:pt x="348" y="648"/>
                    <a:pt x="351" y="653"/>
                  </a:cubicBezTo>
                  <a:cubicBezTo>
                    <a:pt x="354" y="658"/>
                    <a:pt x="354" y="665"/>
                    <a:pt x="350" y="669"/>
                  </a:cubicBezTo>
                  <a:close/>
                  <a:moveTo>
                    <a:pt x="461" y="273"/>
                  </a:moveTo>
                  <a:cubicBezTo>
                    <a:pt x="454" y="344"/>
                    <a:pt x="419" y="398"/>
                    <a:pt x="358" y="435"/>
                  </a:cubicBezTo>
                  <a:cubicBezTo>
                    <a:pt x="355" y="437"/>
                    <a:pt x="354" y="439"/>
                    <a:pt x="353" y="442"/>
                  </a:cubicBezTo>
                  <a:cubicBezTo>
                    <a:pt x="349" y="472"/>
                    <a:pt x="345" y="503"/>
                    <a:pt x="340" y="533"/>
                  </a:cubicBezTo>
                  <a:cubicBezTo>
                    <a:pt x="340" y="537"/>
                    <a:pt x="339" y="540"/>
                    <a:pt x="339" y="544"/>
                  </a:cubicBezTo>
                  <a:cubicBezTo>
                    <a:pt x="326" y="544"/>
                    <a:pt x="313" y="544"/>
                    <a:pt x="300" y="544"/>
                  </a:cubicBezTo>
                  <a:cubicBezTo>
                    <a:pt x="300" y="544"/>
                    <a:pt x="300" y="543"/>
                    <a:pt x="300" y="543"/>
                  </a:cubicBezTo>
                  <a:cubicBezTo>
                    <a:pt x="277" y="543"/>
                    <a:pt x="277" y="543"/>
                    <a:pt x="277" y="543"/>
                  </a:cubicBezTo>
                  <a:cubicBezTo>
                    <a:pt x="277" y="543"/>
                    <a:pt x="277" y="543"/>
                    <a:pt x="277" y="543"/>
                  </a:cubicBezTo>
                  <a:cubicBezTo>
                    <a:pt x="263" y="543"/>
                    <a:pt x="250" y="543"/>
                    <a:pt x="235" y="543"/>
                  </a:cubicBezTo>
                  <a:cubicBezTo>
                    <a:pt x="235" y="543"/>
                    <a:pt x="235" y="543"/>
                    <a:pt x="235" y="543"/>
                  </a:cubicBezTo>
                  <a:cubicBezTo>
                    <a:pt x="213" y="543"/>
                    <a:pt x="213" y="543"/>
                    <a:pt x="213" y="543"/>
                  </a:cubicBezTo>
                  <a:cubicBezTo>
                    <a:pt x="206" y="543"/>
                    <a:pt x="200" y="543"/>
                    <a:pt x="194" y="543"/>
                  </a:cubicBezTo>
                  <a:cubicBezTo>
                    <a:pt x="187" y="543"/>
                    <a:pt x="180" y="543"/>
                    <a:pt x="173" y="543"/>
                  </a:cubicBezTo>
                  <a:cubicBezTo>
                    <a:pt x="172" y="531"/>
                    <a:pt x="170" y="519"/>
                    <a:pt x="168" y="507"/>
                  </a:cubicBezTo>
                  <a:cubicBezTo>
                    <a:pt x="165" y="485"/>
                    <a:pt x="162" y="463"/>
                    <a:pt x="159" y="440"/>
                  </a:cubicBezTo>
                  <a:cubicBezTo>
                    <a:pt x="159" y="438"/>
                    <a:pt x="158" y="437"/>
                    <a:pt x="156" y="435"/>
                  </a:cubicBezTo>
                  <a:cubicBezTo>
                    <a:pt x="102" y="404"/>
                    <a:pt x="67" y="358"/>
                    <a:pt x="55" y="297"/>
                  </a:cubicBezTo>
                  <a:cubicBezTo>
                    <a:pt x="42" y="230"/>
                    <a:pt x="59" y="170"/>
                    <a:pt x="104" y="119"/>
                  </a:cubicBezTo>
                  <a:cubicBezTo>
                    <a:pt x="126" y="94"/>
                    <a:pt x="153" y="76"/>
                    <a:pt x="184" y="64"/>
                  </a:cubicBezTo>
                  <a:cubicBezTo>
                    <a:pt x="203" y="57"/>
                    <a:pt x="223" y="53"/>
                    <a:pt x="243" y="51"/>
                  </a:cubicBezTo>
                  <a:cubicBezTo>
                    <a:pt x="266" y="50"/>
                    <a:pt x="289" y="52"/>
                    <a:pt x="311" y="58"/>
                  </a:cubicBezTo>
                  <a:cubicBezTo>
                    <a:pt x="369" y="75"/>
                    <a:pt x="413" y="111"/>
                    <a:pt x="440" y="165"/>
                  </a:cubicBezTo>
                  <a:cubicBezTo>
                    <a:pt x="457" y="199"/>
                    <a:pt x="465" y="235"/>
                    <a:pt x="461" y="273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65275" tIns="32625" rIns="65275" bIns="326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76"/>
            <p:cNvSpPr/>
            <p:nvPr/>
          </p:nvSpPr>
          <p:spPr>
            <a:xfrm>
              <a:off x="7570788" y="2228773"/>
              <a:ext cx="338138" cy="461963"/>
            </a:xfrm>
            <a:custGeom>
              <a:avLst/>
              <a:gdLst/>
              <a:ahLst/>
              <a:cxnLst/>
              <a:rect l="l" t="t" r="r" b="b"/>
              <a:pathLst>
                <a:path w="202" h="276" extrusionOk="0">
                  <a:moveTo>
                    <a:pt x="150" y="156"/>
                  </a:moveTo>
                  <a:cubicBezTo>
                    <a:pt x="150" y="152"/>
                    <a:pt x="151" y="147"/>
                    <a:pt x="153" y="142"/>
                  </a:cubicBezTo>
                  <a:cubicBezTo>
                    <a:pt x="168" y="100"/>
                    <a:pt x="184" y="59"/>
                    <a:pt x="199" y="17"/>
                  </a:cubicBezTo>
                  <a:cubicBezTo>
                    <a:pt x="202" y="11"/>
                    <a:pt x="199" y="4"/>
                    <a:pt x="193" y="2"/>
                  </a:cubicBezTo>
                  <a:cubicBezTo>
                    <a:pt x="187" y="0"/>
                    <a:pt x="180" y="2"/>
                    <a:pt x="178" y="9"/>
                  </a:cubicBezTo>
                  <a:cubicBezTo>
                    <a:pt x="175" y="16"/>
                    <a:pt x="172" y="24"/>
                    <a:pt x="169" y="31"/>
                  </a:cubicBezTo>
                  <a:cubicBezTo>
                    <a:pt x="166" y="31"/>
                    <a:pt x="164" y="29"/>
                    <a:pt x="163" y="25"/>
                  </a:cubicBezTo>
                  <a:cubicBezTo>
                    <a:pt x="163" y="20"/>
                    <a:pt x="160" y="18"/>
                    <a:pt x="156" y="18"/>
                  </a:cubicBezTo>
                  <a:cubicBezTo>
                    <a:pt x="153" y="18"/>
                    <a:pt x="150" y="20"/>
                    <a:pt x="150" y="25"/>
                  </a:cubicBezTo>
                  <a:cubicBezTo>
                    <a:pt x="149" y="29"/>
                    <a:pt x="146" y="31"/>
                    <a:pt x="143" y="32"/>
                  </a:cubicBezTo>
                  <a:cubicBezTo>
                    <a:pt x="139" y="32"/>
                    <a:pt x="137" y="29"/>
                    <a:pt x="136" y="25"/>
                  </a:cubicBezTo>
                  <a:cubicBezTo>
                    <a:pt x="135" y="20"/>
                    <a:pt x="132" y="18"/>
                    <a:pt x="129" y="18"/>
                  </a:cubicBezTo>
                  <a:cubicBezTo>
                    <a:pt x="125" y="18"/>
                    <a:pt x="123" y="20"/>
                    <a:pt x="122" y="24"/>
                  </a:cubicBezTo>
                  <a:cubicBezTo>
                    <a:pt x="121" y="29"/>
                    <a:pt x="119" y="31"/>
                    <a:pt x="115" y="32"/>
                  </a:cubicBezTo>
                  <a:cubicBezTo>
                    <a:pt x="111" y="32"/>
                    <a:pt x="109" y="29"/>
                    <a:pt x="108" y="25"/>
                  </a:cubicBezTo>
                  <a:cubicBezTo>
                    <a:pt x="107" y="20"/>
                    <a:pt x="105" y="18"/>
                    <a:pt x="101" y="18"/>
                  </a:cubicBezTo>
                  <a:cubicBezTo>
                    <a:pt x="98" y="18"/>
                    <a:pt x="95" y="20"/>
                    <a:pt x="94" y="25"/>
                  </a:cubicBezTo>
                  <a:cubicBezTo>
                    <a:pt x="93" y="29"/>
                    <a:pt x="91" y="32"/>
                    <a:pt x="87" y="32"/>
                  </a:cubicBezTo>
                  <a:cubicBezTo>
                    <a:pt x="84" y="31"/>
                    <a:pt x="81" y="29"/>
                    <a:pt x="80" y="25"/>
                  </a:cubicBezTo>
                  <a:cubicBezTo>
                    <a:pt x="80" y="20"/>
                    <a:pt x="77" y="18"/>
                    <a:pt x="74" y="18"/>
                  </a:cubicBezTo>
                  <a:cubicBezTo>
                    <a:pt x="70" y="18"/>
                    <a:pt x="67" y="20"/>
                    <a:pt x="67" y="25"/>
                  </a:cubicBezTo>
                  <a:cubicBezTo>
                    <a:pt x="66" y="29"/>
                    <a:pt x="64" y="31"/>
                    <a:pt x="60" y="32"/>
                  </a:cubicBezTo>
                  <a:cubicBezTo>
                    <a:pt x="56" y="32"/>
                    <a:pt x="54" y="29"/>
                    <a:pt x="53" y="25"/>
                  </a:cubicBezTo>
                  <a:cubicBezTo>
                    <a:pt x="52" y="20"/>
                    <a:pt x="50" y="18"/>
                    <a:pt x="46" y="18"/>
                  </a:cubicBezTo>
                  <a:cubicBezTo>
                    <a:pt x="42" y="18"/>
                    <a:pt x="40" y="20"/>
                    <a:pt x="39" y="25"/>
                  </a:cubicBezTo>
                  <a:cubicBezTo>
                    <a:pt x="39" y="28"/>
                    <a:pt x="37" y="30"/>
                    <a:pt x="33" y="31"/>
                  </a:cubicBezTo>
                  <a:cubicBezTo>
                    <a:pt x="31" y="24"/>
                    <a:pt x="28" y="17"/>
                    <a:pt x="25" y="10"/>
                  </a:cubicBezTo>
                  <a:cubicBezTo>
                    <a:pt x="24" y="6"/>
                    <a:pt x="21" y="2"/>
                    <a:pt x="16" y="1"/>
                  </a:cubicBezTo>
                  <a:cubicBezTo>
                    <a:pt x="7" y="0"/>
                    <a:pt x="0" y="8"/>
                    <a:pt x="3" y="17"/>
                  </a:cubicBezTo>
                  <a:cubicBezTo>
                    <a:pt x="15" y="47"/>
                    <a:pt x="26" y="78"/>
                    <a:pt x="38" y="109"/>
                  </a:cubicBezTo>
                  <a:cubicBezTo>
                    <a:pt x="43" y="122"/>
                    <a:pt x="48" y="134"/>
                    <a:pt x="52" y="147"/>
                  </a:cubicBezTo>
                  <a:cubicBezTo>
                    <a:pt x="54" y="153"/>
                    <a:pt x="53" y="160"/>
                    <a:pt x="53" y="166"/>
                  </a:cubicBezTo>
                  <a:cubicBezTo>
                    <a:pt x="54" y="201"/>
                    <a:pt x="56" y="235"/>
                    <a:pt x="57" y="270"/>
                  </a:cubicBezTo>
                  <a:cubicBezTo>
                    <a:pt x="57" y="272"/>
                    <a:pt x="57" y="274"/>
                    <a:pt x="58" y="276"/>
                  </a:cubicBezTo>
                  <a:cubicBezTo>
                    <a:pt x="80" y="276"/>
                    <a:pt x="80" y="276"/>
                    <a:pt x="80" y="276"/>
                  </a:cubicBezTo>
                  <a:cubicBezTo>
                    <a:pt x="80" y="263"/>
                    <a:pt x="79" y="250"/>
                    <a:pt x="79" y="237"/>
                  </a:cubicBezTo>
                  <a:cubicBezTo>
                    <a:pt x="78" y="207"/>
                    <a:pt x="77" y="177"/>
                    <a:pt x="75" y="147"/>
                  </a:cubicBezTo>
                  <a:cubicBezTo>
                    <a:pt x="75" y="140"/>
                    <a:pt x="71" y="133"/>
                    <a:pt x="69" y="127"/>
                  </a:cubicBezTo>
                  <a:cubicBezTo>
                    <a:pt x="61" y="105"/>
                    <a:pt x="53" y="84"/>
                    <a:pt x="45" y="62"/>
                  </a:cubicBezTo>
                  <a:cubicBezTo>
                    <a:pt x="43" y="57"/>
                    <a:pt x="40" y="51"/>
                    <a:pt x="38" y="45"/>
                  </a:cubicBezTo>
                  <a:cubicBezTo>
                    <a:pt x="41" y="43"/>
                    <a:pt x="43" y="42"/>
                    <a:pt x="46" y="40"/>
                  </a:cubicBezTo>
                  <a:cubicBezTo>
                    <a:pt x="55" y="47"/>
                    <a:pt x="64" y="47"/>
                    <a:pt x="74" y="40"/>
                  </a:cubicBezTo>
                  <a:cubicBezTo>
                    <a:pt x="84" y="47"/>
                    <a:pt x="90" y="47"/>
                    <a:pt x="101" y="40"/>
                  </a:cubicBezTo>
                  <a:cubicBezTo>
                    <a:pt x="110" y="47"/>
                    <a:pt x="120" y="47"/>
                    <a:pt x="129" y="40"/>
                  </a:cubicBezTo>
                  <a:cubicBezTo>
                    <a:pt x="138" y="47"/>
                    <a:pt x="147" y="47"/>
                    <a:pt x="156" y="40"/>
                  </a:cubicBezTo>
                  <a:cubicBezTo>
                    <a:pt x="159" y="42"/>
                    <a:pt x="161" y="43"/>
                    <a:pt x="164" y="45"/>
                  </a:cubicBezTo>
                  <a:cubicBezTo>
                    <a:pt x="161" y="52"/>
                    <a:pt x="159" y="60"/>
                    <a:pt x="156" y="68"/>
                  </a:cubicBezTo>
                  <a:cubicBezTo>
                    <a:pt x="147" y="92"/>
                    <a:pt x="137" y="115"/>
                    <a:pt x="129" y="140"/>
                  </a:cubicBezTo>
                  <a:cubicBezTo>
                    <a:pt x="127" y="147"/>
                    <a:pt x="127" y="155"/>
                    <a:pt x="126" y="163"/>
                  </a:cubicBezTo>
                  <a:cubicBezTo>
                    <a:pt x="125" y="200"/>
                    <a:pt x="124" y="237"/>
                    <a:pt x="122" y="274"/>
                  </a:cubicBezTo>
                  <a:cubicBezTo>
                    <a:pt x="122" y="275"/>
                    <a:pt x="122" y="276"/>
                    <a:pt x="122" y="276"/>
                  </a:cubicBezTo>
                  <a:cubicBezTo>
                    <a:pt x="145" y="276"/>
                    <a:pt x="145" y="276"/>
                    <a:pt x="145" y="276"/>
                  </a:cubicBezTo>
                  <a:cubicBezTo>
                    <a:pt x="146" y="262"/>
                    <a:pt x="146" y="248"/>
                    <a:pt x="147" y="234"/>
                  </a:cubicBezTo>
                  <a:cubicBezTo>
                    <a:pt x="148" y="208"/>
                    <a:pt x="149" y="182"/>
                    <a:pt x="150" y="156"/>
                  </a:cubicBez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  <p:txBody>
            <a:bodyPr spcFirstLastPara="1" wrap="square" lIns="65275" tIns="32625" rIns="65275" bIns="326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15" name="Google Shape;815;p76"/>
          <p:cNvCxnSpPr/>
          <p:nvPr/>
        </p:nvCxnSpPr>
        <p:spPr>
          <a:xfrm>
            <a:off x="327025" y="3451850"/>
            <a:ext cx="97935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816" name="Google Shape;816;p76"/>
          <p:cNvSpPr txBox="1"/>
          <p:nvPr/>
        </p:nvSpPr>
        <p:spPr>
          <a:xfrm>
            <a:off x="325650" y="3451838"/>
            <a:ext cx="7923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chemeClr val="accent1"/>
                </a:solidFill>
              </a:rPr>
              <a:t>2. Forecasting (LSTM vs Baselines)</a:t>
            </a:r>
            <a:endParaRPr/>
          </a:p>
        </p:txBody>
      </p:sp>
      <p:graphicFrame>
        <p:nvGraphicFramePr>
          <p:cNvPr id="817" name="Google Shape;817;p76"/>
          <p:cNvGraphicFramePr/>
          <p:nvPr/>
        </p:nvGraphicFramePr>
        <p:xfrm>
          <a:off x="325650" y="400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{D77B59BE-8660-47C7-AB46-ABBF453CBB0B}</a:tableStyleId>
              </a:tblPr>
              <a:tblGrid>
                <a:gridCol w="11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0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0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3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Plant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LSTM_MAE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LSTM_RMSE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Persistence_MAE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Persistence_RMSE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MA_MAE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MA_RMSE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lt1"/>
                          </a:solidFill>
                        </a:rPr>
                        <a:t>Winner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accent1"/>
                          </a:solidFill>
                        </a:rPr>
                        <a:t>Plant 1 (AC)</a:t>
                      </a:r>
                      <a:endParaRPr sz="1100" b="1"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86.9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135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96.6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171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117.9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189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LSTM (by ~10 MAE ↓)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accent1"/>
                          </a:solidFill>
                        </a:rPr>
                        <a:t>Plant 2 (AC)</a:t>
                      </a:r>
                      <a:endParaRPr sz="1100" b="1"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888.7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1 390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988.4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1 755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1 207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1 935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LSTM (by ~10 % better)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accent1"/>
                          </a:solidFill>
                        </a:rPr>
                        <a:t>Plant 1 (DC)</a:t>
                      </a:r>
                      <a:endParaRPr sz="1100" b="1"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97.0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146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98.2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169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106.3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171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LSTM slightly better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accent1"/>
                          </a:solidFill>
                        </a:rPr>
                        <a:t>Plant 2 (DC)</a:t>
                      </a:r>
                      <a:endParaRPr sz="1100" b="1"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94.6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147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100.4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172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108.7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175 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</a:rPr>
                        <a:t> LSTM superior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18" name="Google Shape;818;p76"/>
          <p:cNvSpPr/>
          <p:nvPr/>
        </p:nvSpPr>
        <p:spPr>
          <a:xfrm>
            <a:off x="4607525" y="1156475"/>
            <a:ext cx="2597700" cy="1341300"/>
          </a:xfrm>
          <a:prstGeom prst="ellipse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76"/>
          <p:cNvSpPr txBox="1"/>
          <p:nvPr/>
        </p:nvSpPr>
        <p:spPr>
          <a:xfrm>
            <a:off x="-3627200" y="2434150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</a:t>
            </a:r>
            <a:r>
              <a:rPr lang="en-GB" sz="1100" b="1">
                <a:solidFill>
                  <a:schemeClr val="dk1"/>
                </a:solidFill>
              </a:rPr>
              <a:t>LSTM consistently beats baseline models</a:t>
            </a:r>
            <a:r>
              <a:rPr lang="en-GB" sz="1100">
                <a:solidFill>
                  <a:schemeClr val="dk1"/>
                </a:solidFill>
              </a:rPr>
              <a:t>, yielding lower MAE &amp; RMSE, meaning </a:t>
            </a:r>
            <a:r>
              <a:rPr lang="en-GB" sz="1100" b="1">
                <a:solidFill>
                  <a:schemeClr val="dk1"/>
                </a:solidFill>
              </a:rPr>
              <a:t>more accurate 1‑hour ahead power forecasts.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820" name="Google Shape;820;p76"/>
          <p:cNvSpPr/>
          <p:nvPr/>
        </p:nvSpPr>
        <p:spPr>
          <a:xfrm rot="9708906">
            <a:off x="10631869" y="2578823"/>
            <a:ext cx="1521703" cy="1399796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76"/>
          <p:cNvSpPr txBox="1"/>
          <p:nvPr/>
        </p:nvSpPr>
        <p:spPr>
          <a:xfrm>
            <a:off x="10754018" y="2864450"/>
            <a:ext cx="1277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 b="1">
                <a:solidFill>
                  <a:schemeClr val="accent1"/>
                </a:solidFill>
              </a:rPr>
              <a:t>LSTM has higher accuracy than other baseline models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7"/>
          <p:cNvSpPr txBox="1">
            <a:spLocks noGrp="1"/>
          </p:cNvSpPr>
          <p:nvPr>
            <p:ph type="title"/>
          </p:nvPr>
        </p:nvSpPr>
        <p:spPr>
          <a:xfrm>
            <a:off x="325800" y="252000"/>
            <a:ext cx="11540700" cy="3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DashBoard</a:t>
            </a:r>
            <a:endParaRPr/>
          </a:p>
        </p:txBody>
      </p:sp>
      <p:sp>
        <p:nvSpPr>
          <p:cNvPr id="828" name="Google Shape;828;p77"/>
          <p:cNvSpPr txBox="1">
            <a:spLocks noGrp="1"/>
          </p:cNvSpPr>
          <p:nvPr>
            <p:ph type="body" idx="1"/>
          </p:nvPr>
        </p:nvSpPr>
        <p:spPr>
          <a:xfrm>
            <a:off x="1451825" y="2807825"/>
            <a:ext cx="9904800" cy="79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olidFill>
                  <a:schemeClr val="accent1"/>
                </a:solidFill>
              </a:rPr>
              <a:t>Showcasing now </a:t>
            </a:r>
            <a:endParaRPr sz="9600">
              <a:solidFill>
                <a:schemeClr val="accent1"/>
              </a:solidFill>
            </a:endParaRPr>
          </a:p>
        </p:txBody>
      </p:sp>
      <p:sp>
        <p:nvSpPr>
          <p:cNvPr id="829" name="Google Shape;829;p77"/>
          <p:cNvSpPr txBox="1">
            <a:spLocks noGrp="1"/>
          </p:cNvSpPr>
          <p:nvPr>
            <p:ph type="sldNum" idx="12"/>
          </p:nvPr>
        </p:nvSpPr>
        <p:spPr>
          <a:xfrm>
            <a:off x="5936755" y="6393702"/>
            <a:ext cx="318600" cy="13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8"/>
          <p:cNvSpPr txBox="1"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rial"/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835" name="Google Shape;835;p78"/>
          <p:cNvSpPr txBox="1">
            <a:spLocks noGrp="1"/>
          </p:cNvSpPr>
          <p:nvPr>
            <p:ph type="body" idx="1"/>
          </p:nvPr>
        </p:nvSpPr>
        <p:spPr>
          <a:xfrm>
            <a:off x="330200" y="5878513"/>
            <a:ext cx="5606257" cy="65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GB"/>
              <a:t>CIVE70111 - Machine Learning</a:t>
            </a:r>
            <a:endParaRPr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GB"/>
              <a:t>Group 11</a:t>
            </a:r>
            <a:endParaRPr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GB"/>
              <a:t>12/12/2025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rgbClr val="000000"/>
      </a:dk1>
      <a:lt1>
        <a:srgbClr val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ICL PPT Theme</vt:lpstr>
      <vt:lpstr>Data-Driven Optimization and Fault Detection in Solar Power Plants</vt:lpstr>
      <vt:lpstr>Scope and Objectives</vt:lpstr>
      <vt:lpstr>Scope and Objectives</vt:lpstr>
      <vt:lpstr>Task 3</vt:lpstr>
      <vt:lpstr>Task 2 Results </vt:lpstr>
      <vt:lpstr>Introduction to Task 3</vt:lpstr>
      <vt:lpstr>Task 3 Results </vt:lpstr>
      <vt:lpstr>Introduction to Task 4</vt:lpstr>
      <vt:lpstr>Task 4 Results</vt:lpstr>
      <vt:lpstr>Introduction to Task 5</vt:lpstr>
      <vt:lpstr>Task 5 Results</vt:lpstr>
      <vt:lpstr>Introduction to Task 6 </vt:lpstr>
      <vt:lpstr>Task 6 Results</vt:lpstr>
      <vt:lpstr>DashBoard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2025-12-11T21:11:54Z</dcterms:modified>
</cp:coreProperties>
</file>